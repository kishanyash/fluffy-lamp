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61" r:id="rId5"/>
    <p:sldId id="266" r:id="rId6"/>
    <p:sldId id="269" r:id="rId7"/>
    <p:sldId id="265" r:id="rId8"/>
    <p:sldId id="270" r:id="rId9"/>
    <p:sldId id="271" r:id="rId10"/>
    <p:sldId id="272" r:id="rId11"/>
    <p:sldId id="262" r:id="rId12"/>
    <p:sldId id="263" r:id="rId13"/>
    <p:sldId id="264" r:id="rId1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ikona Capital"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1D767D-80EB-4814-8269-C058A5CDB7B2}">
  <a:tblStyle styleId="{181D767D-80EB-4814-8269-C058A5CDB7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0" autoAdjust="0"/>
    <p:restoredTop sz="94660"/>
  </p:normalViewPr>
  <p:slideViewPr>
    <p:cSldViewPr snapToGrid="0">
      <p:cViewPr varScale="1">
        <p:scale>
          <a:sx n="85" d="100"/>
          <a:sy n="85" d="100"/>
        </p:scale>
        <p:origin x="9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6-01-22T04:20:50.161" idx="1">
    <p:pos x="0" y="364"/>
    <p:text>sign add</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bb05c92415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bb05c92415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bb05c92415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bb05c92415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bb05c92415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C190A2B-1082-DEE6-1257-B3CB6ADD7476}"/>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4CCDF7EE-888A-71B3-9AA2-AD5CBCF052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6F470D1D-EE18-743D-52A1-773DC976A3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937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BF8A51A-FEAA-A88F-7BD4-AE012C578B55}"/>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CB880836-B27D-452E-E2C0-69274B898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7EDEEDDA-DCB4-61C8-4FC4-445103AA1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520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80BC53A-D270-ABD8-A9D5-705561783049}"/>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B41FDA0-207C-CE01-27A3-C473DF5E3F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8B6B8BC-89CF-1276-0DA5-5A04A38D81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418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24401E0-5270-F8F2-DB42-7DB220C75A0C}"/>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AEA56A6C-4A4D-D12A-7C40-B661A724EA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B4F3E957-8B28-2D14-DB42-D982B855D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59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327DA9C-A76C-EE42-59B8-0B1C971D7DFD}"/>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0BC57488-6BDA-118F-B43E-3E570CDCB6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2FA75738-BDBD-A857-157C-13E1066003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272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89D2BA-5EC3-B160-2C65-121A615E6214}"/>
            </a:ext>
          </a:extLst>
        </p:cNvPr>
        <p:cNvGrpSpPr/>
        <p:nvPr/>
      </p:nvGrpSpPr>
      <p:grpSpPr>
        <a:xfrm>
          <a:off x="0" y="0"/>
          <a:ext cx="0" cy="0"/>
          <a:chOff x="0" y="0"/>
          <a:chExt cx="0" cy="0"/>
        </a:xfrm>
      </p:grpSpPr>
      <p:sp>
        <p:nvSpPr>
          <p:cNvPr id="99" name="Google Shape;99;g3bb05c92415_0_98:notes">
            <a:extLst>
              <a:ext uri="{FF2B5EF4-FFF2-40B4-BE49-F238E27FC236}">
                <a16:creationId xmlns:a16="http://schemas.microsoft.com/office/drawing/2014/main" id="{5C41AF30-A169-D40D-A47B-CA3487D69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bb05c92415_0_98:notes">
            <a:extLst>
              <a:ext uri="{FF2B5EF4-FFF2-40B4-BE49-F238E27FC236}">
                <a16:creationId xmlns:a16="http://schemas.microsoft.com/office/drawing/2014/main" id="{8F66EA67-3F0D-1501-6414-FEF6DE6B5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1379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05c9241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bb05c9241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bcf1f9ec5d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bcf1f9ec5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bb05c9241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bb05c9241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 name="Google Shape;15;p3"/>
          <p:cNvSpPr txBox="1">
            <a:spLocks noGrp="1"/>
          </p:cNvSpPr>
          <p:nvPr>
            <p:ph type="title"/>
          </p:nvPr>
        </p:nvSpPr>
        <p:spPr>
          <a:xfrm>
            <a:off x="4662275" y="0"/>
            <a:ext cx="44817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sp>
        <p:nvSpPr>
          <p:cNvPr id="16" name="Google Shape;16;p3"/>
          <p:cNvSpPr txBox="1">
            <a:spLocks noGrp="1"/>
          </p:cNvSpPr>
          <p:nvPr>
            <p:ph type="title" idx="2"/>
          </p:nvPr>
        </p:nvSpPr>
        <p:spPr>
          <a:xfrm>
            <a:off x="0" y="0"/>
            <a:ext cx="4428300" cy="5757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17" name="Google Shape;17;p3"/>
          <p:cNvCxnSpPr/>
          <p:nvPr/>
        </p:nvCxnSpPr>
        <p:spPr>
          <a:xfrm>
            <a:off x="4533925" y="94425"/>
            <a:ext cx="24000" cy="4852500"/>
          </a:xfrm>
          <a:prstGeom prst="straightConnector1">
            <a:avLst/>
          </a:prstGeom>
          <a:noFill/>
          <a:ln w="9525" cap="flat" cmpd="sng">
            <a:solidFill>
              <a:srgbClr val="FFA500"/>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0" name="Google Shape;5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7"/>
          <p:cNvSpPr txBox="1">
            <a:spLocks noGrp="1"/>
          </p:cNvSpPr>
          <p:nvPr>
            <p:ph type="title"/>
          </p:nvPr>
        </p:nvSpPr>
        <p:spPr>
          <a:xfrm>
            <a:off x="0" y="0"/>
            <a:ext cx="9144000" cy="543600"/>
          </a:xfrm>
          <a:prstGeom prst="rect">
            <a:avLst/>
          </a:prstGeom>
          <a:solidFill>
            <a:srgbClr val="1F4690"/>
          </a:solidFill>
        </p:spPr>
        <p:txBody>
          <a:bodyPr spcFirstLastPara="1" wrap="square" lIns="91425" tIns="91425" rIns="91425" bIns="91425" anchor="ctr" anchorCtr="0">
            <a:normAutofit/>
          </a:bodyPr>
          <a:lstStyle>
            <a:lvl1pPr lvl="0"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1pPr>
            <a:lvl2pPr lvl="1"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2pPr>
            <a:lvl3pPr lvl="2"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3pPr>
            <a:lvl4pPr lvl="3"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4pPr>
            <a:lvl5pPr lvl="4"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5pPr>
            <a:lvl6pPr lvl="5"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6pPr>
            <a:lvl7pPr lvl="6"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7pPr>
            <a:lvl8pPr lvl="7"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8pPr>
            <a:lvl9pPr lvl="8" algn="ctr">
              <a:spcBef>
                <a:spcPts val="0"/>
              </a:spcBef>
              <a:spcAft>
                <a:spcPts val="0"/>
              </a:spcAft>
              <a:buClr>
                <a:schemeClr val="lt1"/>
              </a:buClr>
              <a:buSzPts val="2200"/>
              <a:buFont typeface="Calibri"/>
              <a:buNone/>
              <a:defRPr sz="2200" b="1">
                <a:solidFill>
                  <a:schemeClr val="lt1"/>
                </a:solidFill>
                <a:latin typeface="Calibri"/>
                <a:ea typeface="Calibri"/>
                <a:cs typeface="Calibri"/>
                <a:sym typeface="Calibri"/>
              </a:defRPr>
            </a:lvl9pPr>
          </a:lstStyle>
          <a:p>
            <a:endParaRPr/>
          </a:p>
        </p:txBody>
      </p:sp>
      <p:cxnSp>
        <p:nvCxnSpPr>
          <p:cNvPr id="40" name="Google Shape;40;p7"/>
          <p:cNvCxnSpPr/>
          <p:nvPr/>
        </p:nvCxnSpPr>
        <p:spPr>
          <a:xfrm>
            <a:off x="4563000" y="591725"/>
            <a:ext cx="27000" cy="4179000"/>
          </a:xfrm>
          <a:prstGeom prst="straightConnector1">
            <a:avLst/>
          </a:prstGeom>
          <a:noFill/>
          <a:ln w="9525" cap="flat" cmpd="sng">
            <a:solidFill>
              <a:srgbClr val="FFA500"/>
            </a:solidFill>
            <a:prstDash val="solid"/>
            <a:round/>
            <a:headEnd type="none" w="med" len="med"/>
            <a:tailEnd type="none" w="med" len="med"/>
          </a:ln>
        </p:spPr>
      </p:cxnSp>
      <p:sp>
        <p:nvSpPr>
          <p:cNvPr id="41" name="Google Shape;41;p7"/>
          <p:cNvSpPr txBox="1">
            <a:spLocks noGrp="1"/>
          </p:cNvSpPr>
          <p:nvPr>
            <p:ph type="title" idx="2"/>
          </p:nvPr>
        </p:nvSpPr>
        <p:spPr>
          <a:xfrm>
            <a:off x="55450" y="591725"/>
            <a:ext cx="4454100" cy="4179000"/>
          </a:xfrm>
          <a:prstGeom prst="rect">
            <a:avLst/>
          </a:prstGeom>
          <a:solidFill>
            <a:srgbClr val="FFE5B4"/>
          </a:solidFill>
        </p:spPr>
        <p:txBody>
          <a:bodyPr spcFirstLastPara="1" wrap="square" lIns="91425" tIns="91425" rIns="91425" bIns="91425" anchor="ctr" anchorCtr="0">
            <a:normAutofit/>
          </a:bodyPr>
          <a:lstStyle>
            <a:lvl1pPr lvl="0">
              <a:spcBef>
                <a:spcPts val="0"/>
              </a:spcBef>
              <a:spcAft>
                <a:spcPts val="0"/>
              </a:spcAft>
              <a:buSzPts val="1800"/>
              <a:buFont typeface="Calibri"/>
              <a:buNone/>
              <a:defRPr sz="1800">
                <a:latin typeface="Calibri"/>
                <a:ea typeface="Calibri"/>
                <a:cs typeface="Calibri"/>
                <a:sym typeface="Calibri"/>
              </a:defRPr>
            </a:lvl1pPr>
            <a:lvl2pPr lvl="1">
              <a:spcBef>
                <a:spcPts val="0"/>
              </a:spcBef>
              <a:spcAft>
                <a:spcPts val="0"/>
              </a:spcAft>
              <a:buSzPts val="1800"/>
              <a:buFont typeface="Calibri"/>
              <a:buNone/>
              <a:defRPr sz="1800">
                <a:latin typeface="Calibri"/>
                <a:ea typeface="Calibri"/>
                <a:cs typeface="Calibri"/>
                <a:sym typeface="Calibri"/>
              </a:defRPr>
            </a:lvl2pPr>
            <a:lvl3pPr lvl="2">
              <a:spcBef>
                <a:spcPts val="0"/>
              </a:spcBef>
              <a:spcAft>
                <a:spcPts val="0"/>
              </a:spcAft>
              <a:buSzPts val="1800"/>
              <a:buFont typeface="Calibri"/>
              <a:buNone/>
              <a:defRPr sz="1800">
                <a:latin typeface="Calibri"/>
                <a:ea typeface="Calibri"/>
                <a:cs typeface="Calibri"/>
                <a:sym typeface="Calibri"/>
              </a:defRPr>
            </a:lvl3pPr>
            <a:lvl4pPr lvl="3">
              <a:spcBef>
                <a:spcPts val="0"/>
              </a:spcBef>
              <a:spcAft>
                <a:spcPts val="0"/>
              </a:spcAft>
              <a:buSzPts val="1800"/>
              <a:buFont typeface="Calibri"/>
              <a:buNone/>
              <a:defRPr sz="1800">
                <a:latin typeface="Calibri"/>
                <a:ea typeface="Calibri"/>
                <a:cs typeface="Calibri"/>
                <a:sym typeface="Calibri"/>
              </a:defRPr>
            </a:lvl4pPr>
            <a:lvl5pPr lvl="4">
              <a:spcBef>
                <a:spcPts val="0"/>
              </a:spcBef>
              <a:spcAft>
                <a:spcPts val="0"/>
              </a:spcAft>
              <a:buSzPts val="1800"/>
              <a:buFont typeface="Calibri"/>
              <a:buNone/>
              <a:defRPr sz="1800">
                <a:latin typeface="Calibri"/>
                <a:ea typeface="Calibri"/>
                <a:cs typeface="Calibri"/>
                <a:sym typeface="Calibri"/>
              </a:defRPr>
            </a:lvl5pPr>
            <a:lvl6pPr lvl="5">
              <a:spcBef>
                <a:spcPts val="0"/>
              </a:spcBef>
              <a:spcAft>
                <a:spcPts val="0"/>
              </a:spcAft>
              <a:buSzPts val="1800"/>
              <a:buFont typeface="Calibri"/>
              <a:buNone/>
              <a:defRPr sz="1800">
                <a:latin typeface="Calibri"/>
                <a:ea typeface="Calibri"/>
                <a:cs typeface="Calibri"/>
                <a:sym typeface="Calibri"/>
              </a:defRPr>
            </a:lvl6pPr>
            <a:lvl7pPr lvl="6">
              <a:spcBef>
                <a:spcPts val="0"/>
              </a:spcBef>
              <a:spcAft>
                <a:spcPts val="0"/>
              </a:spcAft>
              <a:buSzPts val="1800"/>
              <a:buFont typeface="Calibri"/>
              <a:buNone/>
              <a:defRPr sz="1800">
                <a:latin typeface="Calibri"/>
                <a:ea typeface="Calibri"/>
                <a:cs typeface="Calibri"/>
                <a:sym typeface="Calibri"/>
              </a:defRPr>
            </a:lvl7pPr>
            <a:lvl8pPr lvl="7">
              <a:spcBef>
                <a:spcPts val="0"/>
              </a:spcBef>
              <a:spcAft>
                <a:spcPts val="0"/>
              </a:spcAft>
              <a:buSzPts val="1800"/>
              <a:buFont typeface="Calibri"/>
              <a:buNone/>
              <a:defRPr sz="1800">
                <a:latin typeface="Calibri"/>
                <a:ea typeface="Calibri"/>
                <a:cs typeface="Calibri"/>
                <a:sym typeface="Calibri"/>
              </a:defRPr>
            </a:lvl8pPr>
            <a:lvl9pPr lvl="8">
              <a:spcBef>
                <a:spcPts val="0"/>
              </a:spcBef>
              <a:spcAft>
                <a:spcPts val="0"/>
              </a:spcAft>
              <a:buSzPts val="1800"/>
              <a:buFont typeface="Calibri"/>
              <a:buNone/>
              <a:defRPr sz="1800">
                <a:latin typeface="Calibri"/>
                <a:ea typeface="Calibri"/>
                <a:cs typeface="Calibri"/>
                <a:sym typeface="Calibri"/>
              </a:defRPr>
            </a:lvl9pPr>
          </a:lstStyle>
          <a:p>
            <a:endParaRPr/>
          </a:p>
        </p:txBody>
      </p:sp>
    </p:spTree>
    <p:extLst>
      <p:ext uri="{BB962C8B-B14F-4D97-AF65-F5344CB8AC3E}">
        <p14:creationId xmlns:p14="http://schemas.microsoft.com/office/powerpoint/2010/main" val="18384521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rotWithShape="1">
          <a:blip r:embed="rId12">
            <a:alphaModFix/>
          </a:blip>
          <a:srcRect/>
          <a:stretch/>
        </p:blipFill>
        <p:spPr>
          <a:xfrm>
            <a:off x="0" y="4865050"/>
            <a:ext cx="1120900" cy="278450"/>
          </a:xfrm>
          <a:prstGeom prst="rect">
            <a:avLst/>
          </a:prstGeom>
          <a:noFill/>
          <a:ln w="9525" cap="flat" cmpd="sng">
            <a:solidFill>
              <a:srgbClr val="1F4690"/>
            </a:solidFill>
            <a:prstDash val="solid"/>
            <a:round/>
            <a:headEnd type="none" w="sm" len="sm"/>
            <a:tailEnd type="none" w="sm" len="sm"/>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6" r:id="rId7"/>
    <p:sldLayoutId id="2147483657" r:id="rId8"/>
    <p:sldLayoutId id="2147483658"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idx="4294967295"/>
          </p:nvPr>
        </p:nvSpPr>
        <p:spPr>
          <a:xfrm>
            <a:off x="311708" y="744575"/>
            <a:ext cx="8520600" cy="2052600"/>
          </a:xfrm>
          <a:prstGeom prst="rect">
            <a:avLst/>
          </a:prstGeom>
          <a:solidFill>
            <a:srgbClr val="1F4690"/>
          </a:solidFill>
        </p:spPr>
        <p:txBody>
          <a:bodyPr spcFirstLastPara="1" wrap="square" lIns="182880" tIns="228600" rIns="182880" bIns="91440" anchor="t" anchorCtr="0">
            <a:normAutofit/>
          </a:bodyPr>
          <a:lstStyle/>
          <a:p>
            <a:pPr marL="0" lvl="0" indent="0" algn="ctr" rtl="0">
              <a:spcBef>
                <a:spcPts val="0"/>
              </a:spcBef>
              <a:spcAft>
                <a:spcPts val="0"/>
              </a:spcAft>
              <a:buNone/>
            </a:pPr>
            <a:r>
              <a:rPr sz="2400">
                <a:latin typeface="Arial"/>
              </a:rPr>
              <a:t>Swiggy Ltd</a:t>
            </a:r>
            <a:endParaRPr sz="4000" b="1" dirty="0">
              <a:solidFill>
                <a:schemeClr val="lt1"/>
              </a:solidFill>
              <a:latin typeface="Calibri"/>
              <a:ea typeface="Calibri"/>
              <a:cs typeface="Calibri"/>
              <a:sym typeface="Calibri"/>
            </a:endParaRPr>
          </a:p>
        </p:txBody>
      </p:sp>
      <p:sp>
        <p:nvSpPr>
          <p:cNvPr id="65" name="Google Shape;65;p13"/>
          <p:cNvSpPr txBox="1">
            <a:spLocks noGrp="1"/>
          </p:cNvSpPr>
          <p:nvPr>
            <p:ph type="subTitle" idx="4294967295"/>
          </p:nvPr>
        </p:nvSpPr>
        <p:spPr>
          <a:xfrm>
            <a:off x="311700" y="2919175"/>
            <a:ext cx="8520600" cy="792600"/>
          </a:xfrm>
          <a:prstGeom prst="rect">
            <a:avLst/>
          </a:prstGeom>
          <a:solidFill>
            <a:srgbClr val="FFE5B4"/>
          </a:solidFill>
        </p:spPr>
        <p:txBody>
          <a:bodyPr spcFirstLastPara="1" wrap="square" lIns="91425" tIns="91425" rIns="91425" bIns="91425" anchor="ctr" anchorCtr="0">
            <a:normAutofit fontScale="92500" lnSpcReduction="20000"/>
          </a:bodyPr>
          <a:lstStyle/>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NSE:SWIGGY | BOM:544000 | Rating: BUY</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r>
              <a:rPr lang="en-GB" sz="1375" b="1">
                <a:solidFill>
                  <a:schemeClr val="dk1"/>
                </a:solidFill>
                <a:latin typeface="Calibri"/>
                <a:ea typeface="Calibri"/>
                <a:cs typeface="Calibri"/>
                <a:sym typeface="Calibri"/>
              </a:rPr>
              <a:t/>
            </a:r>
            <a:endParaRPr lang="en-GB" sz="1375" b="1" dirty="0">
              <a:solidFill>
                <a:schemeClr val="dk1"/>
              </a:solidFill>
              <a:latin typeface="Calibri"/>
              <a:ea typeface="Calibri"/>
              <a:cs typeface="Calibri"/>
              <a:sym typeface="Calibri"/>
            </a:endParaRPr>
          </a:p>
          <a:p>
            <a:pPr marL="0" lvl="0" indent="0" algn="ctr" rtl="0">
              <a:lnSpc>
                <a:spcPct val="95000"/>
              </a:lnSpc>
              <a:spcBef>
                <a:spcPts val="0"/>
              </a:spcBef>
              <a:spcAft>
                <a:spcPts val="1200"/>
              </a:spcAft>
              <a:buSzPts val="688"/>
              <a:buNone/>
            </a:pPr>
            <a:r>
              <a:rPr lang="en-GB" sz="1400" b="1" dirty="0">
                <a:solidFill>
                  <a:schemeClr val="dk1"/>
                </a:solidFill>
                <a:latin typeface="Calibri"/>
                <a:ea typeface="Calibri"/>
                <a:cs typeface="Calibri"/>
                <a:sym typeface="Calibri"/>
              </a:rPr>
              <a:t>Date: 2026-02-16</a:t>
            </a:r>
            <a:r>
              <a:rPr lang="en-GB" sz="1375" b="1" dirty="0" err="1">
                <a:solidFill>
                  <a:schemeClr val="dk1"/>
                </a:solidFill>
                <a:latin typeface="Calibri"/>
                <a:ea typeface="Calibri"/>
                <a:cs typeface="Calibri"/>
                <a:sym typeface="Calibri"/>
              </a:rPr>
              <a:t/>
            </a:r>
            <a:r>
              <a:rPr lang="en-GB" sz="1375" b="1" dirty="0">
                <a:solidFill>
                  <a:schemeClr val="dk1"/>
                </a:solidFill>
                <a:latin typeface="Calibri"/>
                <a:ea typeface="Calibri"/>
                <a:cs typeface="Calibri"/>
                <a:sym typeface="Calibri"/>
              </a:rPr>
              <a:t/>
            </a:r>
            <a:endParaRPr sz="1375" b="1"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Leader in compliant recycling with multi-metal growth optionality</a:t>
            </a:r>
            <a:endParaRPr dirty="0"/>
          </a:p>
        </p:txBody>
      </p:sp>
      <p:sp>
        <p:nvSpPr>
          <p:cNvPr id="71" name="Google Shape;71;p14"/>
          <p:cNvSpPr txBox="1">
            <a:spLocks noGrp="1"/>
          </p:cNvSpPr>
          <p:nvPr>
            <p:ph type="title" idx="2"/>
          </p:nvPr>
        </p:nvSpPr>
        <p:spPr>
          <a:xfrm>
            <a:off x="55450" y="604650"/>
            <a:ext cx="4454100" cy="4179000"/>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100" b="1" dirty="0"/>
              <a:t>- Market Positioning: Strong leader in sector with competitive advantage.</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Financial Performance:.Stable revenue and profit growth with improving margins.</a:t>
            </a:r>
            <a:r>
              <a:rPr lang="en-GB" sz="1000" dirty="0"/>
              <a:t/>
            </a:r>
            <a:r>
              <a:rPr lang="en-GB" sz="1000" dirty="0" err="1"/>
              <a:t/>
            </a:r>
            <a:r>
              <a:rPr lang="en-GB" sz="1000" dirty="0"/>
              <a:t/>
            </a:r>
            <a:endParaRPr sz="1000" dirty="0"/>
          </a:p>
          <a:p>
            <a:pPr marL="0" lvl="0" indent="0" algn="just" rtl="0">
              <a:spcBef>
                <a:spcPts val="0"/>
              </a:spcBef>
              <a:spcAft>
                <a:spcPts val="0"/>
              </a:spcAft>
              <a:buClr>
                <a:schemeClr val="dk1"/>
              </a:buClr>
              <a:buSzPts val="1100"/>
              <a:buFont typeface="Arial"/>
              <a:buNone/>
            </a:pPr>
            <a:r>
              <a:rPr lang="en-GB" sz="1100" b="1" dirty="0"/>
              <a:t>- Growth &amp; Outlook: Future growth supported by expansion and demand.</a:t>
            </a:r>
            <a:r>
              <a:rPr lang="en-GB" sz="1000" dirty="0"/>
              <a:t/>
            </a:r>
            <a:r>
              <a:rPr lang="en-GB" sz="1000" dirty="0" err="1"/>
              <a:t/>
            </a:r>
            <a:r>
              <a:rPr lang="en-GB" sz="1000" dirty="0"/>
              <a:t/>
            </a:r>
            <a:endParaRPr sz="1000" b="1" dirty="0"/>
          </a:p>
          <a:p>
            <a:pPr marL="0" lvl="0" indent="0" algn="just" rtl="0">
              <a:spcBef>
                <a:spcPts val="0"/>
              </a:spcBef>
              <a:spcAft>
                <a:spcPts val="0"/>
              </a:spcAft>
              <a:buClr>
                <a:schemeClr val="dk1"/>
              </a:buClr>
              <a:buSzPts val="1100"/>
              <a:buFont typeface="Arial"/>
              <a:buNone/>
            </a:pPr>
            <a:r>
              <a:rPr lang="en-GB" sz="1100" b="1" dirty="0"/>
              <a:t>- Valuation &amp; Recommendation: BUY for long term investment.</a:t>
            </a:r>
            <a:r>
              <a:rPr lang="en-GB" sz="1000" dirty="0"/>
              <a:t/>
            </a:r>
            <a:r>
              <a:rPr lang="en-US" sz="1000" dirty="0"/>
              <a:t/>
            </a:r>
            <a:r>
              <a:rPr lang="en-US" sz="1000" dirty="0" err="1"/>
              <a:t/>
            </a:r>
            <a:r>
              <a:rPr lang="en-US" sz="1000" dirty="0"/>
              <a:t/>
            </a:r>
            <a:endParaRPr lang="en-US" sz="1000" b="1" dirty="0"/>
          </a:p>
          <a:p>
            <a:pPr marL="0" lvl="0" indent="0" algn="just" rtl="0">
              <a:spcBef>
                <a:spcPts val="0"/>
              </a:spcBef>
              <a:spcAft>
                <a:spcPts val="0"/>
              </a:spcAft>
              <a:buNone/>
            </a:pPr>
            <a:r>
              <a:rPr lang="en-US" sz="1100" b="1" dirty="0"/>
              <a:t>- Key Risks: Competition, regulation and macro risks.</a:t>
            </a:r>
            <a:r>
              <a:rPr lang="en-US" sz="1000" dirty="0"/>
              <a:t/>
            </a:r>
            <a:r>
              <a:rPr lang="en-US" sz="1000" dirty="0" err="1"/>
              <a:t/>
            </a:r>
            <a:r>
              <a:rPr lang="en-US" sz="1000" dirty="0"/>
              <a:t/>
            </a:r>
          </a:p>
        </p:txBody>
      </p:sp>
      <p:graphicFrame>
        <p:nvGraphicFramePr>
          <p:cNvPr id="72" name="Google Shape;72;p14"/>
          <p:cNvGraphicFramePr/>
          <p:nvPr/>
        </p:nvGraphicFramePr>
        <p:xfrm>
          <a:off x="4661550" y="1975175"/>
          <a:ext cx="2300450" cy="2795525"/>
        </p:xfrm>
        <a:graphic>
          <a:graphicData uri="http://schemas.openxmlformats.org/drawingml/2006/table">
            <a:tbl>
              <a:tblPr>
                <a:noFill/>
              </a:tblPr>
              <a:tblGrid>
                <a:gridCol w="1150225">
                  <a:extLst>
                    <a:ext uri="{9D8B030D-6E8A-4147-A177-3AD203B41FA5}">
                      <a16:colId xmlns:a16="http://schemas.microsoft.com/office/drawing/2014/main" val="20000"/>
                    </a:ext>
                  </a:extLst>
                </a:gridCol>
                <a:gridCol w="1150225">
                  <a:extLst>
                    <a:ext uri="{9D8B030D-6E8A-4147-A177-3AD203B41FA5}">
                      <a16:colId xmlns:a16="http://schemas.microsoft.com/office/drawing/2014/main" val="20001"/>
                    </a:ext>
                  </a:extLst>
                </a:gridCol>
              </a:tblGrid>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57227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550325">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73" name="Google Shape;73;p14"/>
          <p:cNvSpPr txBox="1"/>
          <p:nvPr/>
        </p:nvSpPr>
        <p:spPr>
          <a:xfrm>
            <a:off x="4653425" y="604650"/>
            <a:ext cx="4378500" cy="1324200"/>
          </a:xfrm>
          <a:prstGeom prst="rect">
            <a:avLst/>
          </a:prstGeom>
          <a:solidFill>
            <a:srgbClr val="FFE5B4"/>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Leader in compliant recycling with multi-metal growth optionality</a:t>
            </a:r>
          </a:p>
        </p:txBody>
      </p:sp>
      <p:sp>
        <p:nvSpPr>
          <p:cNvPr id="81" name="Google Shape;81;p15"/>
          <p:cNvSpPr txBox="1">
            <a:spLocks noGrp="1"/>
          </p:cNvSpPr>
          <p:nvPr>
            <p:ph type="title" idx="2"/>
          </p:nvPr>
        </p:nvSpPr>
        <p:spPr>
          <a:xfrm>
            <a:off x="55450" y="591725"/>
            <a:ext cx="4454100" cy="4179000"/>
          </a:xfrm>
          <a:prstGeom prst="rect">
            <a:avLst/>
          </a:prstGeom>
        </p:spPr>
        <p:txBody>
          <a:bodyPr spcFirstLastPara="1" wrap="square" lIns="182880" tIns="228600" rIns="182880" bIns="91440" anchor="t" anchorCtr="0">
            <a:normAutofit/>
          </a:bodyPr>
          <a:lstStyle/>
          <a:p>
            <a:pPr marL="457200" lvl="0" indent="-292100" algn="just" rtl="0">
              <a:lnSpc>
                <a:spcPct val="115000"/>
              </a:lnSpc>
              <a:spcBef>
                <a:spcPts val="1200"/>
              </a:spcBef>
              <a:spcAft>
                <a:spcPts val="0"/>
              </a:spcAft>
              <a:buSzPts val="1000"/>
              <a:buChar char="❏"/>
            </a:pPr>
            <a:r>
              <a:rPr sz="1100">
                <a:latin typeface="Arial"/>
              </a:rPr>
              <a:t>Healthy promoter and institutional holding.</a:t>
            </a:r>
            <a:endParaRPr sz="1000" dirty="0"/>
          </a:p>
        </p:txBody>
      </p:sp>
      <p:sp>
        <p:nvSpPr>
          <p:cNvPr id="2" name="TextBox 1">
            <a:extLst>
              <a:ext uri="{FF2B5EF4-FFF2-40B4-BE49-F238E27FC236}">
                <a16:creationId xmlns:a16="http://schemas.microsoft.com/office/drawing/2014/main" id="{2343C578-3CC7-028C-0184-4F8F92B81388}"/>
              </a:ext>
            </a:extLst>
          </p:cNvPr>
          <p:cNvSpPr txBox="1"/>
          <p:nvPr/>
        </p:nvSpPr>
        <p:spPr>
          <a:xfrm>
            <a:off x="6016978" y="1072445"/>
            <a:ext cx="1885244" cy="307777"/>
          </a:xfrm>
          <a:prstGeom prst="rect">
            <a:avLst/>
          </a:prstGeom>
          <a:noFill/>
        </p:spPr>
        <p:txBody>
          <a:bodyPr wrap="square" rtlCol="0">
            <a:spAutoFit/>
          </a:bodyPr>
          <a:lstStyle/>
          <a:p/>
        </p:txBody>
      </p:sp>
      <p:sp>
        <p:nvSpPr>
          <p:cNvPr id="3" name="TextBox 2">
            <a:extLst>
              <a:ext uri="{FF2B5EF4-FFF2-40B4-BE49-F238E27FC236}">
                <a16:creationId xmlns:a16="http://schemas.microsoft.com/office/drawing/2014/main" id="{3DB982E2-45EC-00E1-87F1-5279982DE9A4}"/>
              </a:ext>
            </a:extLst>
          </p:cNvPr>
          <p:cNvSpPr txBox="1"/>
          <p:nvPr/>
        </p:nvSpPr>
        <p:spPr>
          <a:xfrm>
            <a:off x="6220178" y="3454400"/>
            <a:ext cx="1367682" cy="492443"/>
          </a:xfrm>
          <a:prstGeom prst="rect">
            <a:avLst/>
          </a:prstGeom>
          <a:noFill/>
        </p:spPr>
        <p:txBody>
          <a:bodyPr wrap="none" rtlCol="0">
            <a:spAutoFit/>
          </a:bodyPr>
          <a:lstStyle/>
          <a:p/>
        </p:txBody>
      </p:sp>
      <p:pic>
        <p:nvPicPr>
          <p:cNvPr id="82" name="Picture 81" descr="image.png"/>
          <p:cNvPicPr>
            <a:picLocks noChangeAspect="1"/>
          </p:cNvPicPr>
          <p:nvPr/>
        </p:nvPicPr>
        <p:blipFill>
          <a:blip r:embed="rId3"/>
          <a:stretch>
            <a:fillRect/>
          </a:stretch>
        </p:blipFill>
        <p:spPr>
          <a:xfrm>
            <a:off x="6016978" y="1072445"/>
            <a:ext cx="1885244" cy="307777"/>
          </a:xfrm>
          <a:prstGeom prst="rect">
            <a:avLst/>
          </a:prstGeom>
        </p:spPr>
      </p:pic>
      <p:pic>
        <p:nvPicPr>
          <p:cNvPr id="83" name="Picture 82" descr="image.png"/>
          <p:cNvPicPr>
            <a:picLocks noChangeAspect="1"/>
          </p:cNvPicPr>
          <p:nvPr/>
        </p:nvPicPr>
        <p:blipFill>
          <a:blip r:embed="rId4"/>
          <a:stretch>
            <a:fillRect/>
          </a:stretch>
        </p:blipFill>
        <p:spPr>
          <a:xfrm>
            <a:off x="6220178" y="3454400"/>
            <a:ext cx="1367682" cy="4924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Company Background</a:t>
            </a:r>
            <a:endParaRPr dirty="0"/>
          </a:p>
        </p:txBody>
      </p:sp>
      <p:sp>
        <p:nvSpPr>
          <p:cNvPr id="103" name="Google Shape;103;p18"/>
          <p:cNvSpPr txBox="1"/>
          <p:nvPr/>
        </p:nvSpPr>
        <p:spPr>
          <a:xfrm>
            <a:off x="0" y="54360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1" algn="just"/>
            <a:r>
              <a:rPr sz="1100">
                <a:latin typeface="Arial"/>
              </a:rPr>
              <a:t>Swiggy is India's leading on-demand convenience platform...</a:t>
            </a: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lang="en-US" sz="1000" dirty="0">
              <a:solidFill>
                <a:schemeClr val="dk1"/>
              </a:solidFill>
              <a:latin typeface="Calibri"/>
              <a:ea typeface="Calibri"/>
              <a:cs typeface="Calibri"/>
              <a:sym typeface="Calibri"/>
            </a:endParaRPr>
          </a:p>
          <a:p>
            <a:pPr marL="200660" lvl="1" algn="just"/>
            <a:endParaRPr sz="10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FAD0D60-5275-84AE-A01D-5C29311790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789E8541-3656-D6AE-7758-C57E83AB017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Business Model Explanation</a:t>
            </a:r>
            <a:endParaRPr dirty="0"/>
          </a:p>
        </p:txBody>
      </p:sp>
      <p:sp>
        <p:nvSpPr>
          <p:cNvPr id="103" name="Google Shape;103;p18">
            <a:extLst>
              <a:ext uri="{FF2B5EF4-FFF2-40B4-BE49-F238E27FC236}">
                <a16:creationId xmlns:a16="http://schemas.microsoft.com/office/drawing/2014/main" id="{0B022806-FF18-A70B-0096-6E7E4CF88860}"/>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Hyperlocal delivery platform connecting consumers with restaurants and stores...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6311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F690E7C3-0D46-8142-577A-0C5753B9DE3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7E19E58-FD14-45C9-C665-CC1CD4B6B258}"/>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Management Analysis</a:t>
            </a:r>
            <a:endParaRPr dirty="0"/>
          </a:p>
        </p:txBody>
      </p:sp>
      <p:sp>
        <p:nvSpPr>
          <p:cNvPr id="103" name="Google Shape;103;p18">
            <a:extLst>
              <a:ext uri="{FF2B5EF4-FFF2-40B4-BE49-F238E27FC236}">
                <a16:creationId xmlns:a16="http://schemas.microsoft.com/office/drawing/2014/main" id="{6BF73CCD-0EE9-D178-E0EE-DBE8BACE316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The management team at Swiggy Ltd is tasked with navigating a challenging landscape characterized by intense competition and rapid technological advancements in the food delivery industry. Despite the absence of detailed historical financial data, the company's current market position, as indicated by its market capitalization of ₹78,712.46 crore, suggests a significant presence in the market. However, the lack of profitability metrics such as ROE and ROCE, which stand at -255.00% and -29.20% respectively, raises concerns about the management's ability to efficiently allocate capital and generate returns.</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84238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3028637-C7E8-1027-CF6F-11A001994C95}"/>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3C72DCED-094C-9F6B-1B28-0C9FAC247A12}"/>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Industry Overview</a:t>
            </a:r>
            <a:endParaRPr dirty="0"/>
          </a:p>
        </p:txBody>
      </p:sp>
      <p:sp>
        <p:nvSpPr>
          <p:cNvPr id="103" name="Google Shape;103;p18">
            <a:extLst>
              <a:ext uri="{FF2B5EF4-FFF2-40B4-BE49-F238E27FC236}">
                <a16:creationId xmlns:a16="http://schemas.microsoft.com/office/drawing/2014/main" id="{3EF6F868-E6FA-528A-EB17-E7AA64837568}"/>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050">
                <a:latin typeface="Arial"/>
              </a:rPr>
              <a:t>The Indian food delivery industry, within which Swiggy Ltd operates, is a rapidly evolving sector characterized by intense competition, dynamic consumer preferences, and significant technological advancements. This industry has seen substantial growth over the past decade, driven by increasing internet penetration, the proliferation of smartphones, and a burgeoning middle class with disposable income. As of 2023, the Indian food delivery market is estimated to be valued at approximately ₹1.5 trillion, with expectations of continued growth at a compound annual growth rate (CAGR) of around 12%.</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7193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9AD7384-8D9A-4E27-361F-1541B231D334}"/>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282A215E-AAE7-F4C1-216D-6AD0C7EB9D7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Key Industry Tailwinds</a:t>
            </a:r>
            <a:endParaRPr dirty="0"/>
          </a:p>
        </p:txBody>
      </p:sp>
      <p:sp>
        <p:nvSpPr>
          <p:cNvPr id="103" name="Google Shape;103;p18">
            <a:extLst>
              <a:ext uri="{FF2B5EF4-FFF2-40B4-BE49-F238E27FC236}">
                <a16:creationId xmlns:a16="http://schemas.microsoft.com/office/drawing/2014/main" id="{7E730C0C-A0CB-D1A8-865F-26DAB5B55E5C}"/>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Growing digital adoption and urbanization...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81177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B4D1E24-8E50-6B9E-737F-93AE4CF6395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A2F583F2-F833-28A7-9673-BBE9AD5961BA}"/>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Demand drivers</a:t>
            </a:r>
            <a:endParaRPr dirty="0"/>
          </a:p>
        </p:txBody>
      </p:sp>
      <p:sp>
        <p:nvSpPr>
          <p:cNvPr id="103" name="Google Shape;103;p18">
            <a:extLst>
              <a:ext uri="{FF2B5EF4-FFF2-40B4-BE49-F238E27FC236}">
                <a16:creationId xmlns:a16="http://schemas.microsoft.com/office/drawing/2014/main" id="{00A4DE28-F00E-19A8-D0C7-CB03E6163359}"/>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Convenience and variety seeking behavior...</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81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5369FFD1-328D-C386-CF68-92179F159FC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CF2746A6-609C-ED62-DBA0-F63389FE81BD}"/>
              </a:ext>
            </a:extLst>
          </p:cNvPr>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US" dirty="0"/>
              <a:t>Industry Risks</a:t>
            </a:r>
            <a:endParaRPr dirty="0"/>
          </a:p>
        </p:txBody>
      </p:sp>
      <p:sp>
        <p:nvSpPr>
          <p:cNvPr id="103" name="Google Shape;103;p18">
            <a:extLst>
              <a:ext uri="{FF2B5EF4-FFF2-40B4-BE49-F238E27FC236}">
                <a16:creationId xmlns:a16="http://schemas.microsoft.com/office/drawing/2014/main" id="{4F3CD53B-0D34-3E85-C664-97E2B3F3E2AB}"/>
              </a:ext>
            </a:extLst>
          </p:cNvPr>
          <p:cNvSpPr txBox="1"/>
          <p:nvPr/>
        </p:nvSpPr>
        <p:spPr>
          <a:xfrm>
            <a:off x="0" y="579050"/>
            <a:ext cx="9003900" cy="4224300"/>
          </a:xfrm>
          <a:prstGeom prst="rect">
            <a:avLst/>
          </a:prstGeom>
          <a:solidFill>
            <a:srgbClr val="FFE5B4"/>
          </a:solidFill>
          <a:ln>
            <a:noFill/>
          </a:ln>
        </p:spPr>
        <p:txBody>
          <a:bodyPr spcFirstLastPara="1" wrap="square" lIns="182880" tIns="228600" rIns="182880" bIns="91440" anchor="t" anchorCtr="0">
            <a:normAutofit/>
          </a:bodyPr>
          <a:lstStyle/>
          <a:p>
            <a:pPr marL="200660" lvl="0" indent="0" algn="just" rtl="0">
              <a:spcBef>
                <a:spcPts val="0"/>
              </a:spcBef>
              <a:spcAft>
                <a:spcPts val="0"/>
              </a:spcAft>
              <a:buNone/>
            </a:pPr>
            <a:r>
              <a:rPr sz="1100">
                <a:latin typeface="Arial"/>
              </a:rPr>
              <a:t>Regulatory changes and gig worker classification...</a:t>
            </a: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US" sz="1000" dirty="0">
              <a:solidFill>
                <a:schemeClr val="dk1"/>
              </a:solidFill>
              <a:latin typeface="Calibri"/>
              <a:ea typeface="Calibri"/>
              <a:cs typeface="Calibri"/>
              <a:sym typeface="Calibri"/>
            </a:endParaRPr>
          </a:p>
          <a:p>
            <a:pPr marL="200660" lvl="0" indent="0" algn="just" rtl="0">
              <a:spcBef>
                <a:spcPts val="0"/>
              </a:spcBef>
              <a:spcAft>
                <a:spcPts val="0"/>
              </a:spcAft>
              <a:buNone/>
            </a:pPr>
            <a:endParaRPr lang="en-IN" sz="10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309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Financials and Ratio Analysis</a:t>
            </a:r>
            <a:endParaRPr/>
          </a:p>
        </p:txBody>
      </p:sp>
      <p:sp>
        <p:nvSpPr>
          <p:cNvPr id="3" name="Title 2">
            <a:extLst>
              <a:ext uri="{FF2B5EF4-FFF2-40B4-BE49-F238E27FC236}">
                <a16:creationId xmlns:a16="http://schemas.microsoft.com/office/drawing/2014/main" id="{F9E735C5-A5DA-5348-B44B-71E3B9F63E9A}"/>
              </a:ext>
            </a:extLst>
          </p:cNvPr>
          <p:cNvSpPr>
            <a:spLocks noGrp="1"/>
          </p:cNvSpPr>
          <p:nvPr>
            <p:ph type="title"/>
          </p:nvPr>
        </p:nvSpPr>
        <p:spPr/>
        <p:txBody>
          <a:bodyPr/>
          <a:lstStyle/>
          <a:p>
            <a:endParaRPr lang="en-IN" dirty="0"/>
          </a:p>
        </p:txBody>
      </p:sp>
      <p:sp>
        <p:nvSpPr>
          <p:cNvPr id="5" name="Title 4">
            <a:extLst>
              <a:ext uri="{FF2B5EF4-FFF2-40B4-BE49-F238E27FC236}">
                <a16:creationId xmlns:a16="http://schemas.microsoft.com/office/drawing/2014/main" id="{78C8FD2B-7D8D-BFE6-9940-30B1DA00CBCF}"/>
              </a:ext>
            </a:extLst>
          </p:cNvPr>
          <p:cNvSpPr>
            <a:spLocks noGrp="1"/>
          </p:cNvSpPr>
          <p:nvPr>
            <p:ph type="title"/>
          </p:nvPr>
        </p:nvSpPr>
        <p:spPr/>
        <p:txBody>
          <a:bodyPr/>
          <a:lstStyle/>
          <a:p>
            <a:endParaRPr lang="en-IN" dirty="0"/>
          </a:p>
        </p:txBody>
      </p:sp>
      <p:sp>
        <p:nvSpPr>
          <p:cNvPr id="7" name="Title 6">
            <a:extLst>
              <a:ext uri="{FF2B5EF4-FFF2-40B4-BE49-F238E27FC236}">
                <a16:creationId xmlns:a16="http://schemas.microsoft.com/office/drawing/2014/main" id="{CEF2C673-0B9A-CDB6-EE2A-5CFAECCEA9F2}"/>
              </a:ext>
            </a:extLst>
          </p:cNvPr>
          <p:cNvSpPr>
            <a:spLocks noGrp="1"/>
          </p:cNvSpPr>
          <p:nvPr>
            <p:ph type="title"/>
          </p:nvPr>
        </p:nvSpPr>
        <p:spPr/>
        <p:txBody>
          <a:bodyPr/>
          <a:lstStyle/>
          <a:p>
            <a:endParaRPr lang="en-IN" dirty="0"/>
          </a:p>
        </p:txBody>
      </p:sp>
      <p:sp>
        <p:nvSpPr>
          <p:cNvPr id="9" name="Title 8">
            <a:extLst>
              <a:ext uri="{FF2B5EF4-FFF2-40B4-BE49-F238E27FC236}">
                <a16:creationId xmlns:a16="http://schemas.microsoft.com/office/drawing/2014/main" id="{090568D9-445C-CF1D-D517-A1B6B9682E50}"/>
              </a:ext>
            </a:extLst>
          </p:cNvPr>
          <p:cNvSpPr>
            <a:spLocks noGrp="1"/>
          </p:cNvSpPr>
          <p:nvPr>
            <p:ph type="title"/>
          </p:nvPr>
        </p:nvSpPr>
        <p:spPr/>
        <p:txBody>
          <a:bodyPr/>
          <a:lstStyle/>
          <a:p>
            <a:r>
              <a:rPr lang="en-IN" dirty="0"/>
              <a:t>Summary in Tables</a:t>
            </a:r>
          </a:p>
        </p:txBody>
      </p:sp>
      <p:sp>
        <p:nvSpPr>
          <p:cNvPr id="10" name="TextBox 9">
            <a:extLst>
              <a:ext uri="{FF2B5EF4-FFF2-40B4-BE49-F238E27FC236}">
                <a16:creationId xmlns:a16="http://schemas.microsoft.com/office/drawing/2014/main" id="{54263664-1DF1-772C-4528-73246E37C87E}"/>
              </a:ext>
            </a:extLst>
          </p:cNvPr>
          <p:cNvSpPr txBox="1"/>
          <p:nvPr/>
        </p:nvSpPr>
        <p:spPr>
          <a:xfrm>
            <a:off x="575733" y="1241778"/>
            <a:ext cx="1645002" cy="307777"/>
          </a:xfrm>
          <a:prstGeom prst="rect">
            <a:avLst/>
          </a:prstGeom>
          <a:noFill/>
        </p:spPr>
        <p:txBody>
          <a:bodyPr wrap="none" rtlCol="0">
            <a:spAutoFit/>
          </a:bodyPr>
          <a:lstStyle/>
          <a:p>
            <a:r>
              <a:rPr lang="en-IN" dirty="0"/>
              <a:t>{{</a:t>
            </a:r>
            <a:r>
              <a:rPr lang="en-IN" dirty="0" err="1"/>
              <a:t>summary_table</a:t>
            </a:r>
            <a:r>
              <a:rPr lang="en-IN"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8" name="Google Shape;118;p20"/>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Summary in charts!</a:t>
            </a:r>
            <a:endParaRPr/>
          </a:p>
        </p:txBody>
      </p:sp>
      <p:sp>
        <p:nvSpPr>
          <p:cNvPr id="2" name="TextBox 1">
            <a:extLst>
              <a:ext uri="{FF2B5EF4-FFF2-40B4-BE49-F238E27FC236}">
                <a16:creationId xmlns:a16="http://schemas.microsoft.com/office/drawing/2014/main" id="{A9D075EE-B486-8649-E192-9DEE2DDCE6A3}"/>
              </a:ext>
            </a:extLst>
          </p:cNvPr>
          <p:cNvSpPr txBox="1"/>
          <p:nvPr/>
        </p:nvSpPr>
        <p:spPr>
          <a:xfrm>
            <a:off x="2562578" y="1636889"/>
            <a:ext cx="1495922" cy="307777"/>
          </a:xfrm>
          <a:prstGeom prst="rect">
            <a:avLst/>
          </a:prstGeom>
          <a:noFill/>
        </p:spPr>
        <p:txBody>
          <a:bodyPr wrap="none" rtlCol="0">
            <a:spAutoFit/>
          </a:bodyPr>
          <a:lstStyle/>
          <a:p>
            <a:r>
              <a:rPr lang="en-IN" dirty="0"/>
              <a:t>{{</a:t>
            </a:r>
            <a:r>
              <a:rPr lang="en-IN"/>
              <a:t>chart_custom}}</a:t>
            </a:r>
            <a:endParaRPr lang="en-IN" dirty="0"/>
          </a:p>
        </p:txBody>
      </p:sp>
      <p:pic>
        <p:nvPicPr>
          <p:cNvPr id="119" name="Picture 118" descr="image.png"/>
          <p:cNvPicPr>
            <a:picLocks noChangeAspect="1"/>
          </p:cNvPicPr>
          <p:nvPr/>
        </p:nvPicPr>
        <p:blipFill>
          <a:blip r:embed="rId3"/>
          <a:stretch>
            <a:fillRect/>
          </a:stretch>
        </p:blipFill>
        <p:spPr>
          <a:xfrm>
            <a:off x="457200" y="685800"/>
            <a:ext cx="82296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1"/>
          <p:cNvSpPr txBox="1">
            <a:spLocks noGrp="1"/>
          </p:cNvSpPr>
          <p:nvPr>
            <p:ph type="title"/>
          </p:nvPr>
        </p:nvSpPr>
        <p:spPr>
          <a:xfrm>
            <a:off x="0" y="0"/>
            <a:ext cx="9144000" cy="54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Disclosure and Disclaimers</a:t>
            </a:r>
            <a:endParaRPr/>
          </a:p>
        </p:txBody>
      </p:sp>
      <p:sp>
        <p:nvSpPr>
          <p:cNvPr id="124" name="Google Shape;124;p21"/>
          <p:cNvSpPr txBox="1"/>
          <p:nvPr/>
        </p:nvSpPr>
        <p:spPr>
          <a:xfrm>
            <a:off x="0" y="579050"/>
            <a:ext cx="9003900" cy="4224300"/>
          </a:xfrm>
          <a:prstGeom prst="rect">
            <a:avLst/>
          </a:prstGeom>
          <a:solidFill>
            <a:srgbClr val="FFE5B4"/>
          </a:solidFill>
          <a:ln>
            <a:noFill/>
          </a:ln>
        </p:spPr>
        <p:txBody>
          <a:bodyPr spcFirstLastPara="1" wrap="square" lIns="91425" tIns="91425" rIns="91425" bIns="91425" anchor="ctr" anchorCtr="0">
            <a:noAutofit/>
          </a:bodyPr>
          <a:lstStyle/>
          <a:p>
            <a:pPr marL="200660" marR="1198245" lvl="0" indent="0" algn="just" rtl="0">
              <a:spcBef>
                <a:spcPts val="590"/>
              </a:spcBef>
              <a:spcAft>
                <a:spcPts val="0"/>
              </a:spcAft>
              <a:buNone/>
            </a:pPr>
            <a:r>
              <a:rPr lang="en-GB" sz="1000" b="1">
                <a:solidFill>
                  <a:srgbClr val="1F3864"/>
                </a:solidFill>
                <a:latin typeface="Calibri"/>
                <a:ea typeface="Calibri"/>
                <a:cs typeface="Calibri"/>
                <a:sym typeface="Calibri"/>
              </a:rPr>
              <a:t>About Us: </a:t>
            </a:r>
            <a:r>
              <a:rPr lang="en-GB" sz="1000">
                <a:solidFill>
                  <a:schemeClr val="dk1"/>
                </a:solidFill>
                <a:latin typeface="Calibri"/>
                <a:ea typeface="Calibri"/>
                <a:cs typeface="Calibri"/>
                <a:sym typeface="Calibri"/>
              </a:rPr>
              <a:t>Research Analyst is registered with SEBI as Research Analyst with Registration No. INH000009807. The firm got its registration on June 13, 2022, and is engaged in research services.</a:t>
            </a:r>
            <a:endParaRPr sz="1000">
              <a:solidFill>
                <a:schemeClr val="dk1"/>
              </a:solidFill>
              <a:latin typeface="Calibri"/>
              <a:ea typeface="Calibri"/>
              <a:cs typeface="Calibri"/>
              <a:sym typeface="Calibri"/>
            </a:endParaRPr>
          </a:p>
          <a:p>
            <a:pPr marL="200660" marR="306070" lvl="0" indent="0" algn="just" rtl="0">
              <a:spcBef>
                <a:spcPts val="0"/>
              </a:spcBef>
              <a:spcAft>
                <a:spcPts val="0"/>
              </a:spcAft>
              <a:buNone/>
            </a:pPr>
            <a:r>
              <a:rPr lang="en-GB" sz="1000" b="1">
                <a:solidFill>
                  <a:srgbClr val="1F3864"/>
                </a:solidFill>
                <a:latin typeface="Calibri"/>
                <a:ea typeface="Calibri"/>
                <a:cs typeface="Calibri"/>
                <a:sym typeface="Calibri"/>
              </a:rPr>
              <a:t>Disciplinary history: </a:t>
            </a:r>
            <a:r>
              <a:rPr lang="en-GB" sz="1000">
                <a:solidFill>
                  <a:schemeClr val="dk1"/>
                </a:solidFill>
                <a:latin typeface="Calibri"/>
                <a:ea typeface="Calibri"/>
                <a:cs typeface="Calibri"/>
                <a:sym typeface="Calibri"/>
              </a:rPr>
              <a:t>No penalties / directions have been issued by SEBI under the SEBI Act or Regulations made there under. There are no pending material litigations or legal proceedings, findings of inspections or investigations for which action has been taken or initiated by any regulatory authority.</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b="1">
                <a:solidFill>
                  <a:srgbClr val="1F3864"/>
                </a:solidFill>
                <a:latin typeface="Calibri"/>
                <a:ea typeface="Calibri"/>
                <a:cs typeface="Calibri"/>
                <a:sym typeface="Calibri"/>
              </a:rPr>
              <a:t>Details of its associates: </a:t>
            </a:r>
            <a:r>
              <a:rPr lang="en-GB" sz="1000">
                <a:solidFill>
                  <a:schemeClr val="dk1"/>
                </a:solidFill>
                <a:latin typeface="Calibri"/>
                <a:ea typeface="Calibri"/>
                <a:cs typeface="Calibri"/>
                <a:sym typeface="Calibri"/>
              </a:rPr>
              <a:t>No associates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b="1">
                <a:solidFill>
                  <a:srgbClr val="1F3864"/>
                </a:solidFill>
                <a:latin typeface="Calibri"/>
                <a:ea typeface="Calibri"/>
                <a:cs typeface="Calibri"/>
                <a:sym typeface="Calibri"/>
              </a:rPr>
              <a:t>Disclosures with respect to Research and Recommendations Services</a:t>
            </a:r>
            <a:endParaRPr sz="1000" b="1">
              <a:solidFill>
                <a:schemeClr val="dk1"/>
              </a:solidFill>
              <a:latin typeface="Calibri"/>
              <a:ea typeface="Calibri"/>
              <a:cs typeface="Calibri"/>
              <a:sym typeface="Calibri"/>
            </a:endParaRPr>
          </a:p>
          <a:p>
            <a:pPr marL="200660" marR="343535" lvl="0" indent="0" algn="just" rtl="0">
              <a:spcBef>
                <a:spcPts val="5"/>
              </a:spcBef>
              <a:spcAft>
                <a:spcPts val="0"/>
              </a:spcAft>
              <a:buNone/>
            </a:pPr>
            <a:r>
              <a:rPr lang="en-GB" sz="1000">
                <a:solidFill>
                  <a:schemeClr val="dk1"/>
                </a:solidFill>
                <a:latin typeface="Calibri"/>
                <a:ea typeface="Calibri"/>
                <a:cs typeface="Calibri"/>
                <a:sym typeface="Calibri"/>
              </a:rPr>
              <a:t>·Research Analyst may have financial interest or actual / beneficial ownership in the securities recommended in its personal portfolio. Details of the same may be referred through the disclosures made at the time of recommendation.</a:t>
            </a:r>
            <a:endParaRPr sz="1000">
              <a:solidFill>
                <a:schemeClr val="dk1"/>
              </a:solidFill>
              <a:latin typeface="Calibri"/>
              <a:ea typeface="Calibri"/>
              <a:cs typeface="Calibri"/>
              <a:sym typeface="Calibri"/>
            </a:endParaRPr>
          </a:p>
          <a:p>
            <a:pPr marL="200660" marR="305435" lvl="0" indent="0" algn="just" rtl="0">
              <a:lnSpc>
                <a:spcPct val="98750"/>
              </a:lnSpc>
              <a:spcBef>
                <a:spcPts val="10"/>
              </a:spcBef>
              <a:spcAft>
                <a:spcPts val="0"/>
              </a:spcAft>
              <a:buNone/>
            </a:pPr>
            <a:r>
              <a:rPr lang="en-GB" sz="1000">
                <a:solidFill>
                  <a:schemeClr val="dk1"/>
                </a:solidFill>
                <a:latin typeface="Calibri"/>
                <a:ea typeface="Calibri"/>
                <a:cs typeface="Calibri"/>
                <a:sym typeface="Calibri"/>
              </a:rPr>
              <a:t>·There are no actual or potential conflicts of interest arising from any connection to or association with any issuer of products/ securities, including any material information or facts that might compromise its objectivity independence in the carrying on of Research Analyst services. Such conflict of interest shall be disclosed to the client as and when they arise.</a:t>
            </a:r>
            <a:endParaRPr sz="1000">
              <a:solidFill>
                <a:schemeClr val="dk1"/>
              </a:solidFill>
              <a:latin typeface="Calibri"/>
              <a:ea typeface="Calibri"/>
              <a:cs typeface="Calibri"/>
              <a:sym typeface="Calibri"/>
            </a:endParaRPr>
          </a:p>
          <a:p>
            <a:pPr marL="200660" lvl="0" indent="0" algn="just" rtl="0">
              <a:spcBef>
                <a:spcPts val="10"/>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from the company in past 12 months.</a:t>
            </a:r>
            <a:endParaRPr sz="1000">
              <a:solidFill>
                <a:schemeClr val="dk1"/>
              </a:solidFill>
              <a:latin typeface="Calibri"/>
              <a:ea typeface="Calibri"/>
              <a:cs typeface="Calibri"/>
              <a:sym typeface="Calibri"/>
            </a:endParaRPr>
          </a:p>
          <a:p>
            <a:pPr marL="200660" marR="241300" lvl="0" indent="0" algn="just" rtl="0">
              <a:spcBef>
                <a:spcPts val="0"/>
              </a:spcBef>
              <a:spcAft>
                <a:spcPts val="0"/>
              </a:spcAft>
              <a:buNone/>
            </a:pPr>
            <a:r>
              <a:rPr lang="en-GB" sz="1000">
                <a:solidFill>
                  <a:schemeClr val="dk1"/>
                </a:solidFill>
                <a:latin typeface="Calibri"/>
                <a:ea typeface="Calibri"/>
                <a:cs typeface="Calibri"/>
                <a:sym typeface="Calibri"/>
              </a:rPr>
              <a:t>·Research Analyst or its employee or its associates have not managed or co-managed the public offering of Subject company in past 12 months.</a:t>
            </a:r>
            <a:endParaRPr sz="1000">
              <a:solidFill>
                <a:schemeClr val="dk1"/>
              </a:solidFill>
              <a:latin typeface="Calibri"/>
              <a:ea typeface="Calibri"/>
              <a:cs typeface="Calibri"/>
              <a:sym typeface="Calibri"/>
            </a:endParaRPr>
          </a:p>
          <a:p>
            <a:pPr marL="200660" lvl="0" indent="0" algn="just" rtl="0">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investment banking or merchant banking of brokerage services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for products or services other than above from the subject company in past 12 months.</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 or its employee or its associates have not received any compensation or other benefits from the Subject Company or 3rd party in connection with the research report/ recommendation.</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·The subject company was not a client of Research Analyst or its employee or its associates during twelve months preceding the date of distribution of the research report and recommendation services provided.</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·Research Analysts or its employee or its associates has not served as an officer, director, or employee of the subject company</a:t>
            </a:r>
            <a:endParaRPr sz="1000">
              <a:solidFill>
                <a:schemeClr val="dk1"/>
              </a:solidFill>
              <a:latin typeface="Calibri"/>
              <a:ea typeface="Calibri"/>
              <a:cs typeface="Calibri"/>
              <a:sym typeface="Calibri"/>
            </a:endParaRPr>
          </a:p>
          <a:p>
            <a:pPr marL="200660" marR="0" lvl="0" indent="0" algn="just" rtl="0">
              <a:lnSpc>
                <a:spcPct val="100000"/>
              </a:lnSpc>
              <a:spcBef>
                <a:spcPts val="5"/>
              </a:spcBef>
              <a:spcAft>
                <a:spcPts val="0"/>
              </a:spcAft>
              <a:buNone/>
            </a:pPr>
            <a:r>
              <a:rPr lang="en-GB" sz="1000">
                <a:solidFill>
                  <a:schemeClr val="dk1"/>
                </a:solidFill>
                <a:latin typeface="Calibri"/>
                <a:ea typeface="Calibri"/>
                <a:cs typeface="Calibri"/>
                <a:sym typeface="Calibri"/>
              </a:rPr>
              <a:t>·Registration granted by SEBI, membership of BASL and certification from NISM in no way guarantee performance of the Intermediary or provide any assurance of returns to investors.</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r>
              <a:rPr lang="en-GB" sz="1000">
                <a:solidFill>
                  <a:schemeClr val="dk1"/>
                </a:solidFill>
                <a:latin typeface="Calibri"/>
                <a:ea typeface="Calibri"/>
                <a:cs typeface="Calibri"/>
                <a:sym typeface="Calibri"/>
              </a:rPr>
              <a:t>·Investment in securities market are subject to market risks. Read all the related documents carefully before investing</a:t>
            </a: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a:p>
            <a:pPr marL="200660" lvl="0" indent="0" algn="just" rtl="0">
              <a:spcBef>
                <a:spcPts val="0"/>
              </a:spcBef>
              <a:spcAft>
                <a:spcPts val="0"/>
              </a:spcAft>
              <a:buNone/>
            </a:pPr>
            <a:endParaRPr sz="1000">
              <a:solidFill>
                <a:schemeClr val="dk1"/>
              </a:solidFill>
              <a:latin typeface="Calibri"/>
              <a:ea typeface="Calibri"/>
              <a:cs typeface="Calibri"/>
              <a:sym typeface="Calibri"/>
            </a:endParaRPr>
          </a:p>
        </p:txBody>
      </p:sp>
      <p:pic>
        <p:nvPicPr>
          <p:cNvPr id="125" name="Google Shape;125;p21" descr="A picture containing text, whiteboard&#10;&#10;Description automatically generated"/>
          <p:cNvPicPr preferRelativeResize="0"/>
          <p:nvPr/>
        </p:nvPicPr>
        <p:blipFill>
          <a:blip r:embed="rId3">
            <a:alphaModFix/>
          </a:blip>
          <a:stretch>
            <a:fillRect/>
          </a:stretch>
        </p:blipFill>
        <p:spPr>
          <a:xfrm>
            <a:off x="7927191" y="4243438"/>
            <a:ext cx="855125" cy="4918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634</Words>
  <Application>Microsoft Office PowerPoint</Application>
  <PresentationFormat>On-screen Show (16:9)</PresentationFormat>
  <Paragraphs>216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Simple Light</vt:lpstr>
      <vt:lpstr>{{company_name}}</vt:lpstr>
      <vt:lpstr>Leader in compliant recycling with multi-metal growth optionality</vt:lpstr>
      <vt:lpstr>Leader in compliant recycling with multi-metal growth optionality</vt:lpstr>
      <vt:lpstr>Company Background</vt:lpstr>
      <vt:lpstr>Business Model Explanation</vt:lpstr>
      <vt:lpstr>Management Analysis</vt:lpstr>
      <vt:lpstr>Industry Overview</vt:lpstr>
      <vt:lpstr>Key Industry Tailwinds</vt:lpstr>
      <vt:lpstr>Demand drivers</vt:lpstr>
      <vt:lpstr>Industry Risks</vt:lpstr>
      <vt:lpstr>Financials and Ratio Analysis</vt:lpstr>
      <vt:lpstr>Summary in charts!</vt:lpstr>
      <vt:lpstr>Disclosure and Disclaimers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Kishankumar Yadav</dc:creator>
  <cp:lastModifiedBy>Kishankumar Yadav</cp:lastModifiedBy>
  <cp:revision>26</cp:revision>
  <dcterms:modified xsi:type="dcterms:W3CDTF">2026-02-14T13:51:26Z</dcterms:modified>
</cp:coreProperties>
</file>