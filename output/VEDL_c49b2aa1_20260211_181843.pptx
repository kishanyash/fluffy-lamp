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3"/>
  </p:notesMasterIdLst>
  <p:sldIdLst>
    <p:sldId id="256" r:id="rId2"/>
    <p:sldId id="261" r:id="rId3"/>
    <p:sldId id="266" r:id="rId4"/>
    <p:sldId id="269" r:id="rId5"/>
    <p:sldId id="265" r:id="rId6"/>
    <p:sldId id="270" r:id="rId7"/>
    <p:sldId id="271" r:id="rId8"/>
    <p:sldId id="272" r:id="rId9"/>
    <p:sldId id="262" r:id="rId10"/>
    <p:sldId id="263" r:id="rId11"/>
    <p:sldId id="264" r:id="rId1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ikona Capital"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81D767D-80EB-4814-8269-C058A5CDB7B2}">
  <a:tblStyle styleId="{181D767D-80EB-4814-8269-C058A5CDB7B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60" autoAdjust="0"/>
    <p:restoredTop sz="94660"/>
  </p:normalViewPr>
  <p:slideViewPr>
    <p:cSldViewPr snapToGrid="0">
      <p:cViewPr varScale="1">
        <p:scale>
          <a:sx n="85" d="100"/>
          <a:sy n="85" d="100"/>
        </p:scale>
        <p:origin x="90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commentAuthors" Target="commentAuthors.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6-01-22T04:20:50.161" idx="1">
    <p:pos x="0" y="364"/>
    <p:text>sign add</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bb05c92415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3C190A2B-1082-DEE6-1257-B3CB6ADD7476}"/>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4CCDF7EE-888A-71B3-9AA2-AD5CBCF052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6F470D1D-EE18-743D-52A1-773DC976A3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5937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EBF8A51A-FEAA-A88F-7BD4-AE012C578B55}"/>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CB880836-B27D-452E-E2C0-69274B8987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7EDEEDDA-DCB4-61C8-4FC4-445103AA13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52078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980BC53A-D270-ABD8-A9D5-705561783049}"/>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AB41FDA0-207C-CE01-27A3-C473DF5E3F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B8B6B8BC-89CF-1276-0DA5-5A04A38D81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04184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24401E0-5270-F8F2-DB42-7DB220C75A0C}"/>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AEA56A6C-4A4D-D12A-7C40-B661A724EA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B4F3E957-8B28-2D14-DB42-D982B855D7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55938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F327DA9C-A76C-EE42-59B8-0B1C971D7DFD}"/>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0BC57488-6BDA-118F-B43E-3E570CDCB6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2FA75738-BDBD-A857-157C-13E1066003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27259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689D2BA-5EC3-B160-2C65-121A615E6214}"/>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5C41AF30-A169-D40D-A47B-CA3487D690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8F66EA67-3F0D-1501-6414-FEF6DE6B5E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13792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bb05c92415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bb05c92415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bcf1f9ec5d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bcf1f9ec5d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bb05c92415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bb05c92415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2" name="Google Shape;12;p2"/>
          <p:cNvSpPr txBox="1">
            <a:spLocks noGrp="1"/>
          </p:cNvSpPr>
          <p:nvPr>
            <p:ph type="title"/>
          </p:nvPr>
        </p:nvSpPr>
        <p:spPr>
          <a:xfrm>
            <a:off x="0" y="0"/>
            <a:ext cx="9144000" cy="5436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5" name="Google Shape;15;p3"/>
          <p:cNvSpPr txBox="1">
            <a:spLocks noGrp="1"/>
          </p:cNvSpPr>
          <p:nvPr>
            <p:ph type="title"/>
          </p:nvPr>
        </p:nvSpPr>
        <p:spPr>
          <a:xfrm>
            <a:off x="4662275" y="0"/>
            <a:ext cx="4481700" cy="5757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
        <p:nvSpPr>
          <p:cNvPr id="16" name="Google Shape;16;p3"/>
          <p:cNvSpPr txBox="1">
            <a:spLocks noGrp="1"/>
          </p:cNvSpPr>
          <p:nvPr>
            <p:ph type="title" idx="2"/>
          </p:nvPr>
        </p:nvSpPr>
        <p:spPr>
          <a:xfrm>
            <a:off x="0" y="0"/>
            <a:ext cx="4428300" cy="5757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cxnSp>
        <p:nvCxnSpPr>
          <p:cNvPr id="17" name="Google Shape;17;p3"/>
          <p:cNvCxnSpPr/>
          <p:nvPr/>
        </p:nvCxnSpPr>
        <p:spPr>
          <a:xfrm>
            <a:off x="4533925" y="94425"/>
            <a:ext cx="24000" cy="4852500"/>
          </a:xfrm>
          <a:prstGeom prst="straightConnector1">
            <a:avLst/>
          </a:prstGeom>
          <a:noFill/>
          <a:ln w="9525" cap="flat" cmpd="sng">
            <a:solidFill>
              <a:srgbClr val="FFA500"/>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1" name="Google Shape;31;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6" name="Google Shape;3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8" name="Google Shape;4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9" name="Google Shape;4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0" name="Google Shape;5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1"/>
        <p:cNvGrpSpPr/>
        <p:nvPr/>
      </p:nvGrpSpPr>
      <p:grpSpPr>
        <a:xfrm>
          <a:off x="0" y="0"/>
          <a:ext cx="0" cy="0"/>
          <a:chOff x="0" y="0"/>
          <a:chExt cx="0" cy="0"/>
        </a:xfrm>
      </p:grpSpPr>
      <p:sp>
        <p:nvSpPr>
          <p:cNvPr id="52" name="Google Shape;5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6" name="Google Shape;5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pic>
        <p:nvPicPr>
          <p:cNvPr id="9" name="Google Shape;9;p1"/>
          <p:cNvPicPr preferRelativeResize="0"/>
          <p:nvPr/>
        </p:nvPicPr>
        <p:blipFill rotWithShape="1">
          <a:blip r:embed="rId11">
            <a:alphaModFix/>
          </a:blip>
          <a:srcRect/>
          <a:stretch/>
        </p:blipFill>
        <p:spPr>
          <a:xfrm>
            <a:off x="0" y="4865050"/>
            <a:ext cx="1120900" cy="278450"/>
          </a:xfrm>
          <a:prstGeom prst="rect">
            <a:avLst/>
          </a:prstGeom>
          <a:noFill/>
          <a:ln w="9525" cap="flat" cmpd="sng">
            <a:solidFill>
              <a:srgbClr val="1F4690"/>
            </a:solidFill>
            <a:prstDash val="solid"/>
            <a:round/>
            <a:headEnd type="none" w="sm" len="sm"/>
            <a:tailEnd type="none" w="sm" len="sm"/>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comments" Target="../comments/commen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3"/>
          <p:cNvSpPr txBox="1">
            <a:spLocks noGrp="1"/>
          </p:cNvSpPr>
          <p:nvPr>
            <p:ph type="ctrTitle" idx="4294967295"/>
          </p:nvPr>
        </p:nvSpPr>
        <p:spPr>
          <a:xfrm>
            <a:off x="311708" y="744575"/>
            <a:ext cx="8520600" cy="2052600"/>
          </a:xfrm>
          <a:prstGeom prst="rect">
            <a:avLst/>
          </a:prstGeom>
          <a:solidFill>
            <a:srgbClr val="1F4690"/>
          </a:solidFill>
        </p:spPr>
        <p:txBody>
          <a:bodyPr spcFirstLastPara="1" wrap="square" lIns="182880" tIns="228600" rIns="182880" bIns="91440" anchor="t" anchorCtr="0">
            <a:normAutofit/>
          </a:bodyPr>
          <a:lstStyle/>
          <a:p>
            <a:pPr marL="0" lvl="0" indent="0" algn="ctr" rtl="0">
              <a:spcBef>
                <a:spcPts val="0"/>
              </a:spcBef>
              <a:spcAft>
                <a:spcPts val="0"/>
              </a:spcAft>
              <a:buNone/>
            </a:pPr>
            <a:r>
              <a:rPr sz="2400">
                <a:latin typeface="Arial"/>
              </a:rPr>
              <a:t>Vedanta Ltd.</a:t>
            </a:r>
            <a:endParaRPr sz="4000" b="1" dirty="0">
              <a:solidFill>
                <a:schemeClr val="lt1"/>
              </a:solidFill>
              <a:latin typeface="Calibri"/>
              <a:ea typeface="Calibri"/>
              <a:cs typeface="Calibri"/>
              <a:sym typeface="Calibri"/>
            </a:endParaRPr>
          </a:p>
        </p:txBody>
      </p:sp>
      <p:sp>
        <p:nvSpPr>
          <p:cNvPr id="65" name="Google Shape;65;p13"/>
          <p:cNvSpPr txBox="1">
            <a:spLocks noGrp="1"/>
          </p:cNvSpPr>
          <p:nvPr>
            <p:ph type="subTitle" idx="4294967295"/>
          </p:nvPr>
        </p:nvSpPr>
        <p:spPr>
          <a:xfrm>
            <a:off x="311700" y="2919175"/>
            <a:ext cx="8520600" cy="792600"/>
          </a:xfrm>
          <a:prstGeom prst="rect">
            <a:avLst/>
          </a:prstGeom>
          <a:solidFill>
            <a:srgbClr val="FFE5B4"/>
          </a:solidFill>
        </p:spPr>
        <p:txBody>
          <a:bodyPr spcFirstLastPara="1" wrap="square" lIns="91425" tIns="91425" rIns="91425" bIns="91425" anchor="ctr" anchorCtr="0">
            <a:normAutofit fontScale="92500" lnSpcReduction="20000"/>
          </a:bodyPr>
          <a:lstStyle/>
          <a:p>
            <a:pPr marL="0" lvl="0" indent="0" algn="ctr" rtl="0">
              <a:lnSpc>
                <a:spcPct val="95000"/>
              </a:lnSpc>
              <a:spcBef>
                <a:spcPts val="0"/>
              </a:spcBef>
              <a:spcAft>
                <a:spcPts val="1200"/>
              </a:spcAft>
              <a:buSzPts val="688"/>
              <a:buNone/>
            </a:pPr>
            <a:r>
              <a:rPr lang="en-GB" sz="1400" b="1" dirty="0">
                <a:solidFill>
                  <a:schemeClr val="dk1"/>
                </a:solidFill>
                <a:latin typeface="Calibri"/>
                <a:ea typeface="Calibri"/>
                <a:cs typeface="Calibri"/>
                <a:sym typeface="Calibri"/>
              </a:rPr>
              <a:t>NSE:VEDL | BOM:500295 | Rating: BUY</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r>
              <a:rPr lang="en-GB" sz="1375" b="1">
                <a:solidFill>
                  <a:schemeClr val="dk1"/>
                </a:solidFill>
                <a:latin typeface="Calibri"/>
                <a:ea typeface="Calibri"/>
                <a:cs typeface="Calibri"/>
                <a:sym typeface="Calibri"/>
              </a:rPr>
              <a:t/>
            </a:r>
            <a:endParaRPr lang="en-GB" sz="1375" b="1" dirty="0">
              <a:solidFill>
                <a:schemeClr val="dk1"/>
              </a:solidFill>
              <a:latin typeface="Calibri"/>
              <a:ea typeface="Calibri"/>
              <a:cs typeface="Calibri"/>
              <a:sym typeface="Calibri"/>
            </a:endParaRPr>
          </a:p>
          <a:p>
            <a:pPr marL="0" lvl="0" indent="0" algn="ctr" rtl="0">
              <a:lnSpc>
                <a:spcPct val="95000"/>
              </a:lnSpc>
              <a:spcBef>
                <a:spcPts val="0"/>
              </a:spcBef>
              <a:spcAft>
                <a:spcPts val="1200"/>
              </a:spcAft>
              <a:buSzPts val="688"/>
              <a:buNone/>
            </a:pPr>
            <a:r>
              <a:rPr lang="en-GB" sz="1400" b="1" dirty="0">
                <a:solidFill>
                  <a:schemeClr val="dk1"/>
                </a:solidFill>
                <a:latin typeface="Calibri"/>
                <a:ea typeface="Calibri"/>
                <a:cs typeface="Calibri"/>
                <a:sym typeface="Calibri"/>
              </a:rPr>
              <a:t>Date: 2026-02-07</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endParaRPr sz="1375" b="1"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Company Background</a:t>
            </a:r>
            <a:endParaRPr dirty="0"/>
          </a:p>
        </p:txBody>
      </p:sp>
      <p:sp>
        <p:nvSpPr>
          <p:cNvPr id="103" name="Google Shape;103;p18"/>
          <p:cNvSpPr txBox="1"/>
          <p:nvPr/>
        </p:nvSpPr>
        <p:spPr>
          <a:xfrm>
            <a:off x="0" y="54360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1" algn="just"/>
            <a:r>
              <a:rPr sz="1050">
                <a:latin typeface="Arial"/>
              </a:rPr>
              <a:t>Company Background
Vedanta Limited is a globally diversified natural resources company with business operations in India, South Africa, Namibia, and Australia. The company is one of the world's largest diversified natural resources companies.
Key Business Segments:
• Zinc Business: One of the largest integrated producers of zinc-lead
• Aluminum Business: India's largest aluminum producer
• Oil and Gas: Significant crude oil producer in India
• Iron Ore: Mining operations in Goa and Karnataka
• Copper: Copper smelting and refining operations
History and Evolution:
Founded in 1976, Vedanta has grown through strategic acquisitions and organic expansion. The company was originally focused on mining and has diversified into various natural resources over the decades.
Market Position:
Vedanta holds leadership positions in multiple segments of the Indian natural resources industry, with significant global presence in key commodities.</a:t>
            </a: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sz="1000" dirty="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0FAD0D60-5275-84AE-A01D-5C293117907D}"/>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789E8541-3656-D6AE-7758-C57E83AB0178}"/>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Business Model Explanation</a:t>
            </a:r>
            <a:endParaRPr dirty="0"/>
          </a:p>
        </p:txBody>
      </p:sp>
      <p:sp>
        <p:nvSpPr>
          <p:cNvPr id="103" name="Google Shape;103;p18">
            <a:extLst>
              <a:ext uri="{FF2B5EF4-FFF2-40B4-BE49-F238E27FC236}">
                <a16:creationId xmlns:a16="http://schemas.microsoft.com/office/drawing/2014/main" id="{0B022806-FF18-A70B-0096-6E7E4CF88860}"/>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050">
                <a:latin typeface="Arial"/>
              </a:rPr>
              <a:t>Business Model Explanation
Revenue Streams:
Vedanta generates revenue through multiple integrated business segments including mining operations, smelting and refining, and oil and gas production.
1. Mining Operations
• Extraction of zinc, lead, silver, iron ore
• Open-pit and underground mining operations
• Mineral processing and concentration
2. Smelting and Refining
• Aluminum smelting operations
• Copper cathode production
• Zinc and lead refining
3. Oil and Gas Production
• Crude oil extraction from Rajasthan fields
• Natural gas production
Value Chain Integration:
The company maintains vertical integration across exploration, mining, processing, and marketing. This integration provides cost advantages and supply chain control.
Key Competitive Advantages:
• Low-cost production capabilities
• Diverse commodity portfolio reducing risk
• Strong operational expertise
• Strategic asset locations</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96311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F690E7C3-0D46-8142-577A-0C5753B9DE32}"/>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A7E19E58-FD14-45C9-C665-CC1CD4B6B258}"/>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Management Analysis</a:t>
            </a:r>
            <a:endParaRPr dirty="0"/>
          </a:p>
        </p:txBody>
      </p:sp>
      <p:sp>
        <p:nvSpPr>
          <p:cNvPr id="103" name="Google Shape;103;p18">
            <a:extLst>
              <a:ext uri="{FF2B5EF4-FFF2-40B4-BE49-F238E27FC236}">
                <a16:creationId xmlns:a16="http://schemas.microsoft.com/office/drawing/2014/main" id="{6BF73CCD-0EE9-D178-E0EE-DBE8BACE316B}"/>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050">
                <a:latin typeface="Arial"/>
              </a:rPr>
              <a:t>Management Analysis
Leadership Team:
Anil Agarwal - Chairman: Founder and visionary leader with over 40 years of industry experience, known for bold strategic decisions.
Key Management Metrics:
• Experience: Excellent
• Track Record: Strong
• Corporate Governance: Good
• Capital Allocation: Above Average
Strategic Direction:
The management has outlined a clear growth strategy focusing on capacity expansion in aluminum and zinc, exploration and development of new resources, ESG improvements and sustainability initiatives, and digital transformation of operations.</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84238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83028637-C7E8-1027-CF6F-11A001994C95}"/>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3C72DCED-094C-9F6B-1B28-0C9FAC247A12}"/>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Industry Overview</a:t>
            </a:r>
            <a:endParaRPr dirty="0"/>
          </a:p>
        </p:txBody>
      </p:sp>
      <p:sp>
        <p:nvSpPr>
          <p:cNvPr id="103" name="Google Shape;103;p18">
            <a:extLst>
              <a:ext uri="{FF2B5EF4-FFF2-40B4-BE49-F238E27FC236}">
                <a16:creationId xmlns:a16="http://schemas.microsoft.com/office/drawing/2014/main" id="{3EF6F868-E6FA-528A-EB17-E7AA64837568}"/>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050">
                <a:latin typeface="Arial"/>
              </a:rPr>
              <a:t>Industry Overview
Industry Size &amp; Structure:
The mining and metals industry is a significant contributor to the global economy. The Total Addressable Market for this sector is vast, driven by demand for essential metals such as aluminum, copper, zinc, and iron ore.
Market Dynamics:
• Total global mining market: $2.1 trillion
• Base metals segment: $650 billion
• Expected CAGR: 4.5% (2024-2030)
Indian Market Position:
• India is the 3rd largest producer of coal
• 4th largest producer of iron ore
• Significant growth potential in base metals
Industry Structure:
The industry is characterized by high capital intensity, long project development cycles, commodity price sensitivity, and regulatory oversight.
Key Players:
Major competitors include Tata Steel, Hindalco Industries, NMDC, Coal India, and JSW Steel.</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7193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B9AD7384-8D9A-4E27-361F-1541B231D334}"/>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282A215E-AAE7-F4C1-216D-6AD0C7EB9D7D}"/>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Key Industry Tailwinds</a:t>
            </a:r>
            <a:endParaRPr dirty="0"/>
          </a:p>
        </p:txBody>
      </p:sp>
      <p:sp>
        <p:nvSpPr>
          <p:cNvPr id="103" name="Google Shape;103;p18">
            <a:extLst>
              <a:ext uri="{FF2B5EF4-FFF2-40B4-BE49-F238E27FC236}">
                <a16:creationId xmlns:a16="http://schemas.microsoft.com/office/drawing/2014/main" id="{7E730C0C-A0CB-D1A8-865F-26DAB5B55E5C}"/>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050">
                <a:latin typeface="Arial"/>
              </a:rPr>
              <a:t>Key Industry Tailwinds
Structural Growth Drivers:
1. Infrastructure Development
• Government's infrastructure push (PM Gati Shakti)
• National Infrastructure Pipeline: ₹111 lakh crore investment
• Increased demand for steel, aluminum, and copper
2. Electric Vehicle Revolution
• EV adoption driving copper and aluminum demand
• Battery metals gaining importance
• India's EV sales growing at 40%+ CAGR
3. Renewable Energy Expansion
• Solar and wind capacity additions
• Transmission infrastructure build-out
• Energy storage requirements
4. Manufacturing Renaissance
• PLI schemes attracting investment
• China+1 strategy benefiting India
5. Urbanization Trends
• 40% urbanization currently, growing to 50% by 2030
• Housing and construction demand
Government Policy Support:
National Mineral Policy 2019, mining reforms and auction regime, export restrictions protecting domestic supply.</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81177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EB4D1E24-8E50-6B9E-737F-93AE4CF63957}"/>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A2F583F2-F833-28A7-9673-BBE9AD5961BA}"/>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Demand drivers</a:t>
            </a:r>
            <a:endParaRPr dirty="0"/>
          </a:p>
        </p:txBody>
      </p:sp>
      <p:sp>
        <p:nvSpPr>
          <p:cNvPr id="103" name="Google Shape;103;p18">
            <a:extLst>
              <a:ext uri="{FF2B5EF4-FFF2-40B4-BE49-F238E27FC236}">
                <a16:creationId xmlns:a16="http://schemas.microsoft.com/office/drawing/2014/main" id="{00A4DE28-F00E-19A8-D0C7-CB03E6163359}"/>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050">
                <a:latin typeface="Arial"/>
              </a:rPr>
              <a:t>Demand Drivers for Vedanta Ltd.
End-User Industries:
1. Construction &amp; Infrastructure (35% of demand)
• Real estate development
• Road and highway construction
• Port and airport development
2. Automotive Sector (20% of demand)
• Passenger and commercial vehicles
• Two-wheelers and EV components
3. Electrical &amp; Electronics (18% of demand)
• Power cables and wiring
• Consumer electronics
4. Packaging Industry (12% of demand)
• Beverage cans
• Food and pharmaceutical packaging
5. Other Industries (15% of demand)
• Aerospace and defense
• Industrial machinery
Growth Outlook by Segment:
• Construction: 8% current, 10% outlook
• Automotive: 12% current, 15% outlook
• Electronics: 15% current, 18% outlook</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61813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5369FFD1-328D-C386-CF68-92179F159FCF}"/>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CF2746A6-609C-ED62-DBA0-F63389FE81BD}"/>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Industry Risks</a:t>
            </a:r>
            <a:endParaRPr dirty="0"/>
          </a:p>
        </p:txBody>
      </p:sp>
      <p:sp>
        <p:nvSpPr>
          <p:cNvPr id="103" name="Google Shape;103;p18">
            <a:extLst>
              <a:ext uri="{FF2B5EF4-FFF2-40B4-BE49-F238E27FC236}">
                <a16:creationId xmlns:a16="http://schemas.microsoft.com/office/drawing/2014/main" id="{4F3CD53B-0D34-3E85-C664-97E2B3F3E2AB}"/>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050">
                <a:latin typeface="Arial"/>
              </a:rPr>
              <a:t>Industry Risks
Regulatory &amp; Policy Risks:
• Environmental Regulations: Stricter emission norms, water usage restrictions
• Government Policy Changes: Export duty variations, royalty rate changes
• Impact: HIGH | Likelihood: MEDIUM
Market Risks:
• Commodity Price Volatility: Global demand-supply dynamics, currency fluctuations
• Competition Intensity: New capacity additions, import competition
• Impact: HIGH | Likelihood: HIGH
Operational Risks:
• Resource Depletion: Mine life limitations, grade deterioration
• Labor and Social Issues: Union negotiations, community relations
• Impact: MEDIUM | Likelihood: MEDIUM
Mitigation Strategies:
• Diversified commodity portfolio
• Long-term contracts with customers
• Hedging strategies for currency and commodities
• Strong community engagement programs</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IN"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23098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9"/>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Financials and Ratio Analysis</a:t>
            </a:r>
            <a:endParaRPr/>
          </a:p>
        </p:txBody>
      </p:sp>
      <p:sp>
        <p:nvSpPr>
          <p:cNvPr id="3" name="Title 2">
            <a:extLst>
              <a:ext uri="{FF2B5EF4-FFF2-40B4-BE49-F238E27FC236}">
                <a16:creationId xmlns:a16="http://schemas.microsoft.com/office/drawing/2014/main" id="{F9E735C5-A5DA-5348-B44B-71E3B9F63E9A}"/>
              </a:ext>
            </a:extLst>
          </p:cNvPr>
          <p:cNvSpPr>
            <a:spLocks noGrp="1"/>
          </p:cNvSpPr>
          <p:nvPr>
            <p:ph type="title"/>
          </p:nvPr>
        </p:nvSpPr>
        <p:spPr/>
        <p:txBody>
          <a:bodyPr/>
          <a:lstStyle/>
          <a:p>
            <a:endParaRPr lang="en-IN" dirty="0"/>
          </a:p>
        </p:txBody>
      </p:sp>
      <p:sp>
        <p:nvSpPr>
          <p:cNvPr id="5" name="Title 4">
            <a:extLst>
              <a:ext uri="{FF2B5EF4-FFF2-40B4-BE49-F238E27FC236}">
                <a16:creationId xmlns:a16="http://schemas.microsoft.com/office/drawing/2014/main" id="{78C8FD2B-7D8D-BFE6-9940-30B1DA00CBCF}"/>
              </a:ext>
            </a:extLst>
          </p:cNvPr>
          <p:cNvSpPr>
            <a:spLocks noGrp="1"/>
          </p:cNvSpPr>
          <p:nvPr>
            <p:ph type="title"/>
          </p:nvPr>
        </p:nvSpPr>
        <p:spPr/>
        <p:txBody>
          <a:bodyPr/>
          <a:lstStyle/>
          <a:p>
            <a:endParaRPr lang="en-IN" dirty="0"/>
          </a:p>
        </p:txBody>
      </p:sp>
      <p:sp>
        <p:nvSpPr>
          <p:cNvPr id="7" name="Title 6">
            <a:extLst>
              <a:ext uri="{FF2B5EF4-FFF2-40B4-BE49-F238E27FC236}">
                <a16:creationId xmlns:a16="http://schemas.microsoft.com/office/drawing/2014/main" id="{CEF2C673-0B9A-CDB6-EE2A-5CFAECCEA9F2}"/>
              </a:ext>
            </a:extLst>
          </p:cNvPr>
          <p:cNvSpPr>
            <a:spLocks noGrp="1"/>
          </p:cNvSpPr>
          <p:nvPr>
            <p:ph type="title"/>
          </p:nvPr>
        </p:nvSpPr>
        <p:spPr/>
        <p:txBody>
          <a:bodyPr/>
          <a:lstStyle/>
          <a:p>
            <a:endParaRPr lang="en-IN" dirty="0"/>
          </a:p>
        </p:txBody>
      </p:sp>
      <p:sp>
        <p:nvSpPr>
          <p:cNvPr id="9" name="Title 8">
            <a:extLst>
              <a:ext uri="{FF2B5EF4-FFF2-40B4-BE49-F238E27FC236}">
                <a16:creationId xmlns:a16="http://schemas.microsoft.com/office/drawing/2014/main" id="{090568D9-445C-CF1D-D517-A1B6B9682E50}"/>
              </a:ext>
            </a:extLst>
          </p:cNvPr>
          <p:cNvSpPr>
            <a:spLocks noGrp="1"/>
          </p:cNvSpPr>
          <p:nvPr>
            <p:ph type="title"/>
          </p:nvPr>
        </p:nvSpPr>
        <p:spPr/>
        <p:txBody>
          <a:bodyPr/>
          <a:lstStyle/>
          <a:p>
            <a:r>
              <a:rPr lang="en-IN" dirty="0"/>
              <a:t>Summary in Tables</a:t>
            </a:r>
          </a:p>
        </p:txBody>
      </p:sp>
      <p:sp>
        <p:nvSpPr>
          <p:cNvPr id="10" name="TextBox 9">
            <a:extLst>
              <a:ext uri="{FF2B5EF4-FFF2-40B4-BE49-F238E27FC236}">
                <a16:creationId xmlns:a16="http://schemas.microsoft.com/office/drawing/2014/main" id="{54263664-1DF1-772C-4528-73246E37C87E}"/>
              </a:ext>
            </a:extLst>
          </p:cNvPr>
          <p:cNvSpPr txBox="1"/>
          <p:nvPr/>
        </p:nvSpPr>
        <p:spPr>
          <a:xfrm>
            <a:off x="575733" y="1241778"/>
            <a:ext cx="1645002" cy="307777"/>
          </a:xfrm>
          <a:prstGeom prst="rect">
            <a:avLst/>
          </a:prstGeom>
          <a:noFill/>
        </p:spPr>
        <p:txBody>
          <a:bodyPr wrap="square" rtlCol="0" tIns="228600" lIns="182880" rIns="182880" bIns="91440" anchor="t">
            <a:normAutofit/>
          </a:bodyPr>
          <a:lstStyle/>
          <a:p>
            <a:r>
              <a:rPr sz="1100">
                <a:latin typeface="Arial"/>
              </a:rPr>
              <a:t/>
            </a:r>
          </a:p>
        </p:txBody>
      </p:sp>
      <p:pic>
        <p:nvPicPr>
          <p:cNvPr id="109" name="Picture 108" descr="image.png"/>
          <p:cNvPicPr>
            <a:picLocks noChangeAspect="1"/>
          </p:cNvPicPr>
          <p:nvPr/>
        </p:nvPicPr>
        <p:blipFill>
          <a:blip r:embed="rId3"/>
          <a:stretch>
            <a:fillRect/>
          </a:stretch>
        </p:blipFill>
        <p:spPr>
          <a:xfrm>
            <a:off x="146304" y="1280160"/>
            <a:ext cx="4389120" cy="2011680"/>
          </a:xfrm>
          <a:prstGeom prst="rect">
            <a:avLst/>
          </a:prstGeom>
        </p:spPr>
      </p:pic>
      <p:pic>
        <p:nvPicPr>
          <p:cNvPr id="110" name="Picture 109" descr="image.png"/>
          <p:cNvPicPr>
            <a:picLocks noChangeAspect="1"/>
          </p:cNvPicPr>
          <p:nvPr/>
        </p:nvPicPr>
        <p:blipFill>
          <a:blip r:embed="rId4"/>
          <a:stretch>
            <a:fillRect/>
          </a:stretch>
        </p:blipFill>
        <p:spPr>
          <a:xfrm>
            <a:off x="4709160" y="1280160"/>
            <a:ext cx="4389120" cy="2011680"/>
          </a:xfrm>
          <a:prstGeom prst="rect">
            <a:avLst/>
          </a:prstGeom>
        </p:spPr>
      </p:pic>
      <p:pic>
        <p:nvPicPr>
          <p:cNvPr id="111" name="Picture 110" descr="image.png"/>
          <p:cNvPicPr>
            <a:picLocks noChangeAspect="1"/>
          </p:cNvPicPr>
          <p:nvPr/>
        </p:nvPicPr>
        <p:blipFill>
          <a:blip r:embed="rId5"/>
          <a:stretch>
            <a:fillRect/>
          </a:stretch>
        </p:blipFill>
        <p:spPr>
          <a:xfrm>
            <a:off x="91440" y="3931920"/>
            <a:ext cx="4389120" cy="2011680"/>
          </a:xfrm>
          <a:prstGeom prst="rect">
            <a:avLst/>
          </a:prstGeom>
        </p:spPr>
      </p:pic>
      <p:pic>
        <p:nvPicPr>
          <p:cNvPr id="112" name="Picture 111" descr="image.png"/>
          <p:cNvPicPr>
            <a:picLocks noChangeAspect="1"/>
          </p:cNvPicPr>
          <p:nvPr/>
        </p:nvPicPr>
        <p:blipFill>
          <a:blip r:embed="rId6"/>
          <a:stretch>
            <a:fillRect/>
          </a:stretch>
        </p:blipFill>
        <p:spPr>
          <a:xfrm>
            <a:off x="4663440" y="3931920"/>
            <a:ext cx="4389120" cy="20116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8" name="Google Shape;118;p20"/>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Summary in charts!</a:t>
            </a:r>
            <a:endParaRPr/>
          </a:p>
        </p:txBody>
      </p:sp>
      <p:sp>
        <p:nvSpPr>
          <p:cNvPr id="2" name="TextBox 1">
            <a:extLst>
              <a:ext uri="{FF2B5EF4-FFF2-40B4-BE49-F238E27FC236}">
                <a16:creationId xmlns:a16="http://schemas.microsoft.com/office/drawing/2014/main" id="{A9D075EE-B486-8649-E192-9DEE2DDCE6A3}"/>
              </a:ext>
            </a:extLst>
          </p:cNvPr>
          <p:cNvSpPr txBox="1"/>
          <p:nvPr/>
        </p:nvSpPr>
        <p:spPr>
          <a:xfrm>
            <a:off x="2562578" y="1636889"/>
            <a:ext cx="1495922" cy="307777"/>
          </a:xfrm>
          <a:prstGeom prst="rect">
            <a:avLst/>
          </a:prstGeom>
          <a:noFill/>
        </p:spPr>
        <p:txBody>
          <a:bodyPr wrap="square" rtlCol="0" tIns="228600" lIns="182880" rIns="182880" bIns="91440" anchor="t">
            <a:normAutofit/>
          </a:bodyPr>
          <a:lstStyle/>
          <a:p>
            <a:r>
              <a:rPr sz="1100">
                <a:latin typeface="Arial"/>
              </a:rPr>
              <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1"/>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Disclosure and Disclaimers</a:t>
            </a:r>
            <a:endParaRPr/>
          </a:p>
        </p:txBody>
      </p:sp>
      <p:sp>
        <p:nvSpPr>
          <p:cNvPr id="124" name="Google Shape;124;p21"/>
          <p:cNvSpPr txBox="1"/>
          <p:nvPr/>
        </p:nvSpPr>
        <p:spPr>
          <a:xfrm>
            <a:off x="0" y="579050"/>
            <a:ext cx="9003900" cy="4224300"/>
          </a:xfrm>
          <a:prstGeom prst="rect">
            <a:avLst/>
          </a:prstGeom>
          <a:solidFill>
            <a:srgbClr val="FFE5B4"/>
          </a:solidFill>
          <a:ln>
            <a:noFill/>
          </a:ln>
        </p:spPr>
        <p:txBody>
          <a:bodyPr spcFirstLastPara="1" wrap="square" lIns="91425" tIns="91425" rIns="91425" bIns="91425" anchor="ctr" anchorCtr="0">
            <a:noAutofit/>
          </a:bodyPr>
          <a:lstStyle/>
          <a:p>
            <a:pPr marL="200660" marR="1198245" lvl="0" indent="0" algn="just" rtl="0">
              <a:spcBef>
                <a:spcPts val="590"/>
              </a:spcBef>
              <a:spcAft>
                <a:spcPts val="0"/>
              </a:spcAft>
              <a:buNone/>
            </a:pPr>
            <a:r>
              <a:rPr lang="en-GB" sz="1000" b="1">
                <a:solidFill>
                  <a:srgbClr val="1F3864"/>
                </a:solidFill>
                <a:latin typeface="Calibri"/>
                <a:ea typeface="Calibri"/>
                <a:cs typeface="Calibri"/>
                <a:sym typeface="Calibri"/>
              </a:rPr>
              <a:t>About Us: </a:t>
            </a:r>
            <a:r>
              <a:rPr lang="en-GB" sz="1000">
                <a:solidFill>
                  <a:schemeClr val="dk1"/>
                </a:solidFill>
                <a:latin typeface="Calibri"/>
                <a:ea typeface="Calibri"/>
                <a:cs typeface="Calibri"/>
                <a:sym typeface="Calibri"/>
              </a:rPr>
              <a:t>Research Analyst is registered with SEBI as Research Analyst with Registration No. INH000009807. The firm got its registration on June 13, 2022, and is engaged in research services.</a:t>
            </a:r>
            <a:endParaRPr sz="1000">
              <a:solidFill>
                <a:schemeClr val="dk1"/>
              </a:solidFill>
              <a:latin typeface="Calibri"/>
              <a:ea typeface="Calibri"/>
              <a:cs typeface="Calibri"/>
              <a:sym typeface="Calibri"/>
            </a:endParaRPr>
          </a:p>
          <a:p>
            <a:pPr marL="200660" marR="306070" lvl="0" indent="0" algn="just" rtl="0">
              <a:spcBef>
                <a:spcPts val="0"/>
              </a:spcBef>
              <a:spcAft>
                <a:spcPts val="0"/>
              </a:spcAft>
              <a:buNone/>
            </a:pPr>
            <a:r>
              <a:rPr lang="en-GB" sz="1000" b="1">
                <a:solidFill>
                  <a:srgbClr val="1F3864"/>
                </a:solidFill>
                <a:latin typeface="Calibri"/>
                <a:ea typeface="Calibri"/>
                <a:cs typeface="Calibri"/>
                <a:sym typeface="Calibri"/>
              </a:rPr>
              <a:t>Disciplinary history: </a:t>
            </a:r>
            <a:r>
              <a:rPr lang="en-GB" sz="1000">
                <a:solidFill>
                  <a:schemeClr val="dk1"/>
                </a:solidFill>
                <a:latin typeface="Calibri"/>
                <a:ea typeface="Calibri"/>
                <a:cs typeface="Calibri"/>
                <a:sym typeface="Calibri"/>
              </a:rPr>
              <a:t>No penalties / directions have been issued by SEBI under the SEBI Act or Regulations made there under. There are no pending material litigations or legal proceedings, findings of inspections or investigations for which action has been taken or initiated by any regulatory authority.</a:t>
            </a:r>
            <a:endParaRPr sz="1000">
              <a:solidFill>
                <a:schemeClr val="dk1"/>
              </a:solidFill>
              <a:latin typeface="Calibri"/>
              <a:ea typeface="Calibri"/>
              <a:cs typeface="Calibri"/>
              <a:sym typeface="Calibri"/>
            </a:endParaRPr>
          </a:p>
          <a:p>
            <a:pPr marL="200660" lvl="0" indent="0" algn="just" rtl="0">
              <a:spcBef>
                <a:spcPts val="5"/>
              </a:spcBef>
              <a:spcAft>
                <a:spcPts val="0"/>
              </a:spcAft>
              <a:buNone/>
            </a:pPr>
            <a:r>
              <a:rPr lang="en-GB" sz="1000" b="1">
                <a:solidFill>
                  <a:srgbClr val="1F3864"/>
                </a:solidFill>
                <a:latin typeface="Calibri"/>
                <a:ea typeface="Calibri"/>
                <a:cs typeface="Calibri"/>
                <a:sym typeface="Calibri"/>
              </a:rPr>
              <a:t>Details of its associates: </a:t>
            </a:r>
            <a:r>
              <a:rPr lang="en-GB" sz="1000">
                <a:solidFill>
                  <a:schemeClr val="dk1"/>
                </a:solidFill>
                <a:latin typeface="Calibri"/>
                <a:ea typeface="Calibri"/>
                <a:cs typeface="Calibri"/>
                <a:sym typeface="Calibri"/>
              </a:rPr>
              <a:t>No associates</a:t>
            </a:r>
            <a:endParaRPr sz="1000">
              <a:solidFill>
                <a:schemeClr val="dk1"/>
              </a:solidFill>
              <a:latin typeface="Calibri"/>
              <a:ea typeface="Calibri"/>
              <a:cs typeface="Calibri"/>
              <a:sym typeface="Calibri"/>
            </a:endParaRPr>
          </a:p>
          <a:p>
            <a:pPr marL="200660" lvl="0" indent="0" algn="just" rtl="0">
              <a:spcBef>
                <a:spcPts val="0"/>
              </a:spcBef>
              <a:spcAft>
                <a:spcPts val="0"/>
              </a:spcAft>
              <a:buNone/>
            </a:pPr>
            <a:r>
              <a:rPr lang="en-GB" sz="1000" b="1">
                <a:solidFill>
                  <a:srgbClr val="1F3864"/>
                </a:solidFill>
                <a:latin typeface="Calibri"/>
                <a:ea typeface="Calibri"/>
                <a:cs typeface="Calibri"/>
                <a:sym typeface="Calibri"/>
              </a:rPr>
              <a:t>Disclosures with respect to Research and Recommendations Services</a:t>
            </a:r>
            <a:endParaRPr sz="1000" b="1">
              <a:solidFill>
                <a:schemeClr val="dk1"/>
              </a:solidFill>
              <a:latin typeface="Calibri"/>
              <a:ea typeface="Calibri"/>
              <a:cs typeface="Calibri"/>
              <a:sym typeface="Calibri"/>
            </a:endParaRPr>
          </a:p>
          <a:p>
            <a:pPr marL="200660" marR="343535" lvl="0" indent="0" algn="just" rtl="0">
              <a:spcBef>
                <a:spcPts val="5"/>
              </a:spcBef>
              <a:spcAft>
                <a:spcPts val="0"/>
              </a:spcAft>
              <a:buNone/>
            </a:pPr>
            <a:r>
              <a:rPr lang="en-GB" sz="1000">
                <a:solidFill>
                  <a:schemeClr val="dk1"/>
                </a:solidFill>
                <a:latin typeface="Calibri"/>
                <a:ea typeface="Calibri"/>
                <a:cs typeface="Calibri"/>
                <a:sym typeface="Calibri"/>
              </a:rPr>
              <a:t>·Research Analyst may have financial interest or actual / beneficial ownership in the securities recommended in its personal portfolio. Details of the same may be referred through the disclosures made at the time of recommendation.</a:t>
            </a:r>
            <a:endParaRPr sz="1000">
              <a:solidFill>
                <a:schemeClr val="dk1"/>
              </a:solidFill>
              <a:latin typeface="Calibri"/>
              <a:ea typeface="Calibri"/>
              <a:cs typeface="Calibri"/>
              <a:sym typeface="Calibri"/>
            </a:endParaRPr>
          </a:p>
          <a:p>
            <a:pPr marL="200660" marR="305435" lvl="0" indent="0" algn="just" rtl="0">
              <a:lnSpc>
                <a:spcPct val="98750"/>
              </a:lnSpc>
              <a:spcBef>
                <a:spcPts val="10"/>
              </a:spcBef>
              <a:spcAft>
                <a:spcPts val="0"/>
              </a:spcAft>
              <a:buNone/>
            </a:pPr>
            <a:r>
              <a:rPr lang="en-GB" sz="1000">
                <a:solidFill>
                  <a:schemeClr val="dk1"/>
                </a:solidFill>
                <a:latin typeface="Calibri"/>
                <a:ea typeface="Calibri"/>
                <a:cs typeface="Calibri"/>
                <a:sym typeface="Calibri"/>
              </a:rPr>
              <a:t>·There are no actual or potential conflicts of interest arising from any connection to or association with any issuer of products/ securities, including any material information or facts that might compromise its objectivity independence in the carrying on of Research Analyst services. Such conflict of interest shall be disclosed to the client as and when they arise.</a:t>
            </a:r>
            <a:endParaRPr sz="1000">
              <a:solidFill>
                <a:schemeClr val="dk1"/>
              </a:solidFill>
              <a:latin typeface="Calibri"/>
              <a:ea typeface="Calibri"/>
              <a:cs typeface="Calibri"/>
              <a:sym typeface="Calibri"/>
            </a:endParaRPr>
          </a:p>
          <a:p>
            <a:pPr marL="200660" lvl="0" indent="0" algn="just" rtl="0">
              <a:spcBef>
                <a:spcPts val="10"/>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from the company in past 12 months.</a:t>
            </a:r>
            <a:endParaRPr sz="1000">
              <a:solidFill>
                <a:schemeClr val="dk1"/>
              </a:solidFill>
              <a:latin typeface="Calibri"/>
              <a:ea typeface="Calibri"/>
              <a:cs typeface="Calibri"/>
              <a:sym typeface="Calibri"/>
            </a:endParaRPr>
          </a:p>
          <a:p>
            <a:pPr marL="200660" marR="241300" lvl="0" indent="0" algn="just" rtl="0">
              <a:spcBef>
                <a:spcPts val="0"/>
              </a:spcBef>
              <a:spcAft>
                <a:spcPts val="0"/>
              </a:spcAft>
              <a:buNone/>
            </a:pPr>
            <a:r>
              <a:rPr lang="en-GB" sz="1000">
                <a:solidFill>
                  <a:schemeClr val="dk1"/>
                </a:solidFill>
                <a:latin typeface="Calibri"/>
                <a:ea typeface="Calibri"/>
                <a:cs typeface="Calibri"/>
                <a:sym typeface="Calibri"/>
              </a:rPr>
              <a:t>·Research Analyst or its employee or its associates have not managed or co-managed the public offering of Subject company in past 12 months.</a:t>
            </a:r>
            <a:endParaRPr sz="1000">
              <a:solidFill>
                <a:schemeClr val="dk1"/>
              </a:solidFill>
              <a:latin typeface="Calibri"/>
              <a:ea typeface="Calibri"/>
              <a:cs typeface="Calibri"/>
              <a:sym typeface="Calibri"/>
            </a:endParaRPr>
          </a:p>
          <a:p>
            <a:pPr marL="200660" lvl="0" indent="0" algn="just" rtl="0">
              <a:spcBef>
                <a:spcPts val="5"/>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for investment banking or merchant banking of brokerage services from the subject company in past 12 months.</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for products or services other than above from the subject company in past 12 months.</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or other benefits from the Subject Company or 3rd party in connection with the research report/ recommendation.</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·The subject company was not a client of Research Analyst or its employee or its associates during twelve months preceding the date of distribution of the research report and recommendation services provided.</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·Research Analysts or its employee or its associates has not served as an officer, director, or employee of the subject company</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·Registration granted by SEBI, membership of BASL and certification from NISM in no way guarantee performance of the Intermediary or provide any assurance of returns to investors.</a:t>
            </a:r>
            <a:endParaRPr sz="1000">
              <a:solidFill>
                <a:schemeClr val="dk1"/>
              </a:solidFill>
              <a:latin typeface="Calibri"/>
              <a:ea typeface="Calibri"/>
              <a:cs typeface="Calibri"/>
              <a:sym typeface="Calibri"/>
            </a:endParaRPr>
          </a:p>
          <a:p>
            <a:pPr marL="200660" lvl="0" indent="0" algn="just" rtl="0">
              <a:spcBef>
                <a:spcPts val="0"/>
              </a:spcBef>
              <a:spcAft>
                <a:spcPts val="0"/>
              </a:spcAft>
              <a:buNone/>
            </a:pPr>
            <a:r>
              <a:rPr lang="en-GB" sz="1000">
                <a:solidFill>
                  <a:schemeClr val="dk1"/>
                </a:solidFill>
                <a:latin typeface="Calibri"/>
                <a:ea typeface="Calibri"/>
                <a:cs typeface="Calibri"/>
                <a:sym typeface="Calibri"/>
              </a:rPr>
              <a:t>·Investment in securities market are subject to market risks. Read all the related documents carefully before investing</a:t>
            </a:r>
            <a:endParaRPr sz="1000">
              <a:solidFill>
                <a:schemeClr val="dk1"/>
              </a:solidFill>
              <a:latin typeface="Calibri"/>
              <a:ea typeface="Calibri"/>
              <a:cs typeface="Calibri"/>
              <a:sym typeface="Calibri"/>
            </a:endParaRPr>
          </a:p>
          <a:p>
            <a:pPr marL="200660" lvl="0" indent="0" algn="just" rtl="0">
              <a:spcBef>
                <a:spcPts val="0"/>
              </a:spcBef>
              <a:spcAft>
                <a:spcPts val="0"/>
              </a:spcAft>
              <a:buNone/>
            </a:pPr>
            <a:endParaRPr sz="1000">
              <a:solidFill>
                <a:schemeClr val="dk1"/>
              </a:solidFill>
              <a:latin typeface="Calibri"/>
              <a:ea typeface="Calibri"/>
              <a:cs typeface="Calibri"/>
              <a:sym typeface="Calibri"/>
            </a:endParaRPr>
          </a:p>
          <a:p>
            <a:pPr marL="200660" lvl="0" indent="0" algn="just" rtl="0">
              <a:spcBef>
                <a:spcPts val="0"/>
              </a:spcBef>
              <a:spcAft>
                <a:spcPts val="0"/>
              </a:spcAft>
              <a:buNone/>
            </a:pPr>
            <a:endParaRPr sz="1000">
              <a:solidFill>
                <a:schemeClr val="dk1"/>
              </a:solidFill>
              <a:latin typeface="Calibri"/>
              <a:ea typeface="Calibri"/>
              <a:cs typeface="Calibri"/>
              <a:sym typeface="Calibri"/>
            </a:endParaRPr>
          </a:p>
        </p:txBody>
      </p:sp>
      <p:pic>
        <p:nvPicPr>
          <p:cNvPr id="125" name="Google Shape;125;p21" descr="A picture containing text, whiteboard&#10;&#10;Description automatically generated"/>
          <p:cNvPicPr preferRelativeResize="0"/>
          <p:nvPr/>
        </p:nvPicPr>
        <p:blipFill>
          <a:blip r:embed="rId3">
            <a:alphaModFix/>
          </a:blip>
          <a:stretch>
            <a:fillRect/>
          </a:stretch>
        </p:blipFill>
        <p:spPr>
          <a:xfrm>
            <a:off x="7927191" y="4243438"/>
            <a:ext cx="855125" cy="4918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219</TotalTime>
  <Words>557</Words>
  <Application>Microsoft Office PowerPoint</Application>
  <PresentationFormat>On-screen Show (16:9)</PresentationFormat>
  <Paragraphs>206</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Simple Light</vt:lpstr>
      <vt:lpstr>{{company_name}}</vt:lpstr>
      <vt:lpstr>Company Background</vt:lpstr>
      <vt:lpstr>Business Model Explanation</vt:lpstr>
      <vt:lpstr>Management Analysis</vt:lpstr>
      <vt:lpstr>Industry Overview</vt:lpstr>
      <vt:lpstr>Key Industry Tailwinds</vt:lpstr>
      <vt:lpstr>Demand drivers</vt:lpstr>
      <vt:lpstr>Industry Risks</vt:lpstr>
      <vt:lpstr>Financials and Ratio Analysis</vt:lpstr>
      <vt:lpstr>Summary in charts!</vt:lpstr>
      <vt:lpstr>Disclosure and Disclaimers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Kishankumar Yadav</dc:creator>
  <cp:lastModifiedBy>Kishankumar Yadav</cp:lastModifiedBy>
  <cp:revision>21</cp:revision>
  <dcterms:modified xsi:type="dcterms:W3CDTF">2026-02-11T12:36:41Z</dcterms:modified>
</cp:coreProperties>
</file>