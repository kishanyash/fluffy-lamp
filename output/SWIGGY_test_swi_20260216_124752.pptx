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61" r:id="rId5"/>
    <p:sldId id="266" r:id="rId6"/>
    <p:sldId id="269" r:id="rId7"/>
    <p:sldId id="265" r:id="rId8"/>
    <p:sldId id="270" r:id="rId9"/>
    <p:sldId id="271" r:id="rId10"/>
    <p:sldId id="272" r:id="rId11"/>
    <p:sldId id="262" r:id="rId12"/>
    <p:sldId id="263" r:id="rId13"/>
    <p:sldId id="264"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ikona Capita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1D767D-80EB-4814-8269-C058A5CDB7B2}">
  <a:tblStyle styleId="{181D767D-80EB-4814-8269-C058A5CDB7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0" autoAdjust="0"/>
    <p:restoredTop sz="94660"/>
  </p:normalViewPr>
  <p:slideViewPr>
    <p:cSldViewPr snapToGrid="0">
      <p:cViewPr varScale="1">
        <p:scale>
          <a:sx n="85" d="100"/>
          <a:sy n="85" d="100"/>
        </p:scale>
        <p:origin x="90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2T04:20:50.161" idx="1">
    <p:pos x="0" y="364"/>
    <p:text>sign add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b05c92415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bb05c92415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bb05c9241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bb05c9241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b05c924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C190A2B-1082-DEE6-1257-B3CB6ADD7476}"/>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4CCDF7EE-888A-71B3-9AA2-AD5CBCF0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6F470D1D-EE18-743D-52A1-773DC976A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37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BF8A51A-FEAA-A88F-7BD4-AE012C578B55}"/>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CB880836-B27D-452E-E2C0-69274B898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7EDEEDDA-DCB4-61C8-4FC4-445103AA1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07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80BC53A-D270-ABD8-A9D5-705561783049}"/>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B41FDA0-207C-CE01-27A3-C473DF5E3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8B6B8BC-89CF-1276-0DA5-5A04A38D8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418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24401E0-5270-F8F2-DB42-7DB220C75A0C}"/>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EA56A6C-4A4D-D12A-7C40-B661A7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4F3E957-8B28-2D14-DB42-D982B855D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593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327DA9C-A76C-EE42-59B8-0B1C971D7DFD}"/>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0BC57488-6BDA-118F-B43E-3E570CDCB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2FA75738-BDBD-A857-157C-13E1066003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25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89D2BA-5EC3-B160-2C65-121A615E6214}"/>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5C41AF30-A169-D40D-A47B-CA3487D69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8F66EA67-3F0D-1501-6414-FEF6DE6B5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379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05c9241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b05c9241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cf1f9ec5d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cf1f9ec5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b05c9241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b05c9241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3"/>
          <p:cNvSpPr txBox="1">
            <a:spLocks noGrp="1"/>
          </p:cNvSpPr>
          <p:nvPr>
            <p:ph type="title"/>
          </p:nvPr>
        </p:nvSpPr>
        <p:spPr>
          <a:xfrm>
            <a:off x="4662275" y="0"/>
            <a:ext cx="44817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16" name="Google Shape;16;p3"/>
          <p:cNvSpPr txBox="1">
            <a:spLocks noGrp="1"/>
          </p:cNvSpPr>
          <p:nvPr>
            <p:ph type="title" idx="2"/>
          </p:nvPr>
        </p:nvSpPr>
        <p:spPr>
          <a:xfrm>
            <a:off x="0" y="0"/>
            <a:ext cx="44283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7" name="Google Shape;17;p3"/>
          <p:cNvCxnSpPr/>
          <p:nvPr/>
        </p:nvCxnSpPr>
        <p:spPr>
          <a:xfrm>
            <a:off x="4533925" y="94425"/>
            <a:ext cx="24000" cy="4852500"/>
          </a:xfrm>
          <a:prstGeom prst="straightConnector1">
            <a:avLst/>
          </a:prstGeom>
          <a:noFill/>
          <a:ln w="9525" cap="flat" cmpd="sng">
            <a:solidFill>
              <a:srgbClr val="FFA5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7"/>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40" name="Google Shape;40;p7"/>
          <p:cNvCxnSpPr/>
          <p:nvPr/>
        </p:nvCxnSpPr>
        <p:spPr>
          <a:xfrm>
            <a:off x="4563000" y="591725"/>
            <a:ext cx="27000" cy="4179000"/>
          </a:xfrm>
          <a:prstGeom prst="straightConnector1">
            <a:avLst/>
          </a:prstGeom>
          <a:noFill/>
          <a:ln w="9525" cap="flat" cmpd="sng">
            <a:solidFill>
              <a:srgbClr val="FFA500"/>
            </a:solidFill>
            <a:prstDash val="solid"/>
            <a:round/>
            <a:headEnd type="none" w="med" len="med"/>
            <a:tailEnd type="none" w="med" len="med"/>
          </a:ln>
        </p:spPr>
      </p:cxnSp>
      <p:sp>
        <p:nvSpPr>
          <p:cNvPr id="41" name="Google Shape;41;p7"/>
          <p:cNvSpPr txBox="1">
            <a:spLocks noGrp="1"/>
          </p:cNvSpPr>
          <p:nvPr>
            <p:ph type="title" idx="2"/>
          </p:nvPr>
        </p:nvSpPr>
        <p:spPr>
          <a:xfrm>
            <a:off x="55450" y="591725"/>
            <a:ext cx="4454100" cy="4179000"/>
          </a:xfrm>
          <a:prstGeom prst="rect">
            <a:avLst/>
          </a:prstGeom>
          <a:solidFill>
            <a:srgbClr val="FFE5B4"/>
          </a:solidFill>
        </p:spPr>
        <p:txBody>
          <a:bodyPr spcFirstLastPara="1" wrap="square" lIns="91425" tIns="91425" rIns="91425" bIns="91425" anchor="ctr" anchorCtr="0">
            <a:normAutofit/>
          </a:bodyPr>
          <a:lstStyle>
            <a:lvl1pPr lvl="0">
              <a:spcBef>
                <a:spcPts val="0"/>
              </a:spcBef>
              <a:spcAft>
                <a:spcPts val="0"/>
              </a:spcAft>
              <a:buSzPts val="1800"/>
              <a:buFont typeface="Calibri"/>
              <a:buNone/>
              <a:defRPr sz="1800">
                <a:latin typeface="Calibri"/>
                <a:ea typeface="Calibri"/>
                <a:cs typeface="Calibri"/>
                <a:sym typeface="Calibri"/>
              </a:defRPr>
            </a:lvl1pPr>
            <a:lvl2pPr lvl="1">
              <a:spcBef>
                <a:spcPts val="0"/>
              </a:spcBef>
              <a:spcAft>
                <a:spcPts val="0"/>
              </a:spcAft>
              <a:buSzPts val="1800"/>
              <a:buFont typeface="Calibri"/>
              <a:buNone/>
              <a:defRPr sz="1800">
                <a:latin typeface="Calibri"/>
                <a:ea typeface="Calibri"/>
                <a:cs typeface="Calibri"/>
                <a:sym typeface="Calibri"/>
              </a:defRPr>
            </a:lvl2pPr>
            <a:lvl3pPr lvl="2">
              <a:spcBef>
                <a:spcPts val="0"/>
              </a:spcBef>
              <a:spcAft>
                <a:spcPts val="0"/>
              </a:spcAft>
              <a:buSzPts val="1800"/>
              <a:buFont typeface="Calibri"/>
              <a:buNone/>
              <a:defRPr sz="1800">
                <a:latin typeface="Calibri"/>
                <a:ea typeface="Calibri"/>
                <a:cs typeface="Calibri"/>
                <a:sym typeface="Calibri"/>
              </a:defRPr>
            </a:lvl3pPr>
            <a:lvl4pPr lvl="3">
              <a:spcBef>
                <a:spcPts val="0"/>
              </a:spcBef>
              <a:spcAft>
                <a:spcPts val="0"/>
              </a:spcAft>
              <a:buSzPts val="1800"/>
              <a:buFont typeface="Calibri"/>
              <a:buNone/>
              <a:defRPr sz="1800">
                <a:latin typeface="Calibri"/>
                <a:ea typeface="Calibri"/>
                <a:cs typeface="Calibri"/>
                <a:sym typeface="Calibri"/>
              </a:defRPr>
            </a:lvl4pPr>
            <a:lvl5pPr lvl="4">
              <a:spcBef>
                <a:spcPts val="0"/>
              </a:spcBef>
              <a:spcAft>
                <a:spcPts val="0"/>
              </a:spcAft>
              <a:buSzPts val="1800"/>
              <a:buFont typeface="Calibri"/>
              <a:buNone/>
              <a:defRPr sz="1800">
                <a:latin typeface="Calibri"/>
                <a:ea typeface="Calibri"/>
                <a:cs typeface="Calibri"/>
                <a:sym typeface="Calibri"/>
              </a:defRPr>
            </a:lvl5pPr>
            <a:lvl6pPr lvl="5">
              <a:spcBef>
                <a:spcPts val="0"/>
              </a:spcBef>
              <a:spcAft>
                <a:spcPts val="0"/>
              </a:spcAft>
              <a:buSzPts val="1800"/>
              <a:buFont typeface="Calibri"/>
              <a:buNone/>
              <a:defRPr sz="1800">
                <a:latin typeface="Calibri"/>
                <a:ea typeface="Calibri"/>
                <a:cs typeface="Calibri"/>
                <a:sym typeface="Calibri"/>
              </a:defRPr>
            </a:lvl6pPr>
            <a:lvl7pPr lvl="6">
              <a:spcBef>
                <a:spcPts val="0"/>
              </a:spcBef>
              <a:spcAft>
                <a:spcPts val="0"/>
              </a:spcAft>
              <a:buSzPts val="1800"/>
              <a:buFont typeface="Calibri"/>
              <a:buNone/>
              <a:defRPr sz="1800">
                <a:latin typeface="Calibri"/>
                <a:ea typeface="Calibri"/>
                <a:cs typeface="Calibri"/>
                <a:sym typeface="Calibri"/>
              </a:defRPr>
            </a:lvl7pPr>
            <a:lvl8pPr lvl="7">
              <a:spcBef>
                <a:spcPts val="0"/>
              </a:spcBef>
              <a:spcAft>
                <a:spcPts val="0"/>
              </a:spcAft>
              <a:buSzPts val="1800"/>
              <a:buFont typeface="Calibri"/>
              <a:buNone/>
              <a:defRPr sz="1800">
                <a:latin typeface="Calibri"/>
                <a:ea typeface="Calibri"/>
                <a:cs typeface="Calibri"/>
                <a:sym typeface="Calibri"/>
              </a:defRPr>
            </a:lvl8pPr>
            <a:lvl9pPr lvl="8">
              <a:spcBef>
                <a:spcPts val="0"/>
              </a:spcBef>
              <a:spcAft>
                <a:spcPts val="0"/>
              </a:spcAft>
              <a:buSzPts val="1800"/>
              <a:buFont typeface="Calibri"/>
              <a:buNone/>
              <a:defRPr sz="1800">
                <a:latin typeface="Calibri"/>
                <a:ea typeface="Calibri"/>
                <a:cs typeface="Calibri"/>
                <a:sym typeface="Calibri"/>
              </a:defRPr>
            </a:lvl9pPr>
          </a:lstStyle>
          <a:p>
            <a:endParaRPr/>
          </a:p>
        </p:txBody>
      </p:sp>
    </p:spTree>
    <p:extLst>
      <p:ext uri="{BB962C8B-B14F-4D97-AF65-F5344CB8AC3E}">
        <p14:creationId xmlns:p14="http://schemas.microsoft.com/office/powerpoint/2010/main" val="18384521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2">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idx="4294967295"/>
          </p:nvPr>
        </p:nvSpPr>
        <p:spPr>
          <a:xfrm>
            <a:off x="311708" y="744575"/>
            <a:ext cx="8520600" cy="2052600"/>
          </a:xfrm>
          <a:prstGeom prst="rect">
            <a:avLst/>
          </a:prstGeom>
          <a:solidFill>
            <a:srgbClr val="1F4690"/>
          </a:solidFill>
        </p:spPr>
        <p:txBody>
          <a:bodyPr spcFirstLastPara="1" wrap="square" lIns="182880" tIns="228600" rIns="182880" bIns="91440" anchor="t" anchorCtr="0">
            <a:normAutofit/>
          </a:bodyPr>
          <a:lstStyle/>
          <a:p>
            <a:pPr marL="0" lvl="0" indent="0" algn="ctr" rtl="0">
              <a:spcBef>
                <a:spcPts val="0"/>
              </a:spcBef>
              <a:spcAft>
                <a:spcPts val="0"/>
              </a:spcAft>
              <a:buNone/>
            </a:pPr>
            <a:r>
              <a:rPr sz="2400">
                <a:latin typeface="Arial"/>
              </a:rPr>
              <a:t>Swiggy Ltd</a:t>
            </a:r>
            <a:endParaRPr sz="4000" b="1" dirty="0">
              <a:solidFill>
                <a:schemeClr val="lt1"/>
              </a:solidFill>
              <a:latin typeface="Calibri"/>
              <a:ea typeface="Calibri"/>
              <a:cs typeface="Calibri"/>
              <a:sym typeface="Calibri"/>
            </a:endParaRPr>
          </a:p>
        </p:txBody>
      </p:sp>
      <p:sp>
        <p:nvSpPr>
          <p:cNvPr id="65" name="Google Shape;65;p13"/>
          <p:cNvSpPr txBox="1">
            <a:spLocks noGrp="1"/>
          </p:cNvSpPr>
          <p:nvPr>
            <p:ph type="subTitle" idx="4294967295"/>
          </p:nvPr>
        </p:nvSpPr>
        <p:spPr>
          <a:xfrm>
            <a:off x="311700" y="2919175"/>
            <a:ext cx="8520600" cy="792600"/>
          </a:xfrm>
          <a:prstGeom prst="rect">
            <a:avLst/>
          </a:prstGeom>
          <a:solidFill>
            <a:srgbClr val="FFE5B4"/>
          </a:solidFill>
        </p:spPr>
        <p:txBody>
          <a:bodyPr spcFirstLastPara="1" wrap="square" lIns="91425" tIns="91425" rIns="91425" bIns="91425" anchor="ctr" anchorCtr="0">
            <a:normAutofit fontScale="92500" lnSpcReduction="20000"/>
          </a:bodyPr>
          <a:lstStyle/>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NSE:SWIGGY | BOM:544000 | Rating: BUY</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a:solidFill>
                  <a:schemeClr val="dk1"/>
                </a:solidFill>
                <a:latin typeface="Calibri"/>
                <a:ea typeface="Calibri"/>
                <a:cs typeface="Calibri"/>
                <a:sym typeface="Calibri"/>
              </a:rPr>
              <a:t/>
            </a:r>
            <a:endParaRPr lang="en-GB" sz="1375" b="1" dirty="0">
              <a:solidFill>
                <a:schemeClr val="dk1"/>
              </a:solidFill>
              <a:latin typeface="Calibri"/>
              <a:ea typeface="Calibri"/>
              <a:cs typeface="Calibri"/>
              <a:sym typeface="Calibri"/>
            </a:endParaRPr>
          </a:p>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Date: 2026-02-16</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endParaRPr sz="1375"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Leader in compliant recycling with multi-metal growth optionality</a:t>
            </a:r>
            <a:endParaRPr dirty="0"/>
          </a:p>
        </p:txBody>
      </p:sp>
      <p:sp>
        <p:nvSpPr>
          <p:cNvPr id="71" name="Google Shape;71;p14"/>
          <p:cNvSpPr txBox="1">
            <a:spLocks noGrp="1"/>
          </p:cNvSpPr>
          <p:nvPr>
            <p:ph type="title" idx="2"/>
          </p:nvPr>
        </p:nvSpPr>
        <p:spPr>
          <a:xfrm>
            <a:off x="55450" y="604650"/>
            <a:ext cx="4454100" cy="41790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100" b="1" dirty="0"/>
              <a:t>- Market Positioning: Strong leader in sector with competitive advantage.</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Financial Performance:.Stable revenue and profit growth with improving margins.</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Growth &amp; Outlook: Future growth supported by expansion and demand.</a:t>
            </a:r>
            <a:r>
              <a:rPr lang="en-GB" sz="1000" dirty="0"/>
              <a:t/>
            </a:r>
            <a:r>
              <a:rPr lang="en-GB" sz="1000" dirty="0" err="1"/>
              <a:t/>
            </a:r>
            <a:r>
              <a:rPr lang="en-GB" sz="1000" dirty="0"/>
              <a:t/>
            </a:r>
            <a:endParaRPr sz="1000" b="1" dirty="0"/>
          </a:p>
          <a:p>
            <a:pPr marL="0" lvl="0" indent="0" algn="just" rtl="0">
              <a:spcBef>
                <a:spcPts val="0"/>
              </a:spcBef>
              <a:spcAft>
                <a:spcPts val="0"/>
              </a:spcAft>
              <a:buClr>
                <a:schemeClr val="dk1"/>
              </a:buClr>
              <a:buSzPts val="1100"/>
              <a:buFont typeface="Arial"/>
              <a:buNone/>
            </a:pPr>
            <a:r>
              <a:rPr lang="en-GB" sz="1100" b="1" dirty="0"/>
              <a:t>- Valuation &amp; Recommendation: BUY for long term investment.</a:t>
            </a:r>
            <a:r>
              <a:rPr lang="en-GB" sz="1000" dirty="0"/>
              <a:t/>
            </a:r>
            <a:r>
              <a:rPr lang="en-US" sz="1000" dirty="0"/>
              <a:t/>
            </a:r>
            <a:r>
              <a:rPr lang="en-US" sz="1000" dirty="0" err="1"/>
              <a:t/>
            </a:r>
            <a:r>
              <a:rPr lang="en-US" sz="1000" dirty="0"/>
              <a:t/>
            </a:r>
            <a:endParaRPr lang="en-US" sz="1000" b="1" dirty="0"/>
          </a:p>
          <a:p>
            <a:pPr marL="0" lvl="0" indent="0" algn="just" rtl="0">
              <a:spcBef>
                <a:spcPts val="0"/>
              </a:spcBef>
              <a:spcAft>
                <a:spcPts val="0"/>
              </a:spcAft>
              <a:buNone/>
            </a:pPr>
            <a:r>
              <a:rPr lang="en-US" sz="1100" b="1" dirty="0"/>
              <a:t>- Key Risks: Competition, regulation and macro risks.</a:t>
            </a:r>
            <a:r>
              <a:rPr lang="en-US" sz="1000" dirty="0"/>
              <a:t/>
            </a:r>
            <a:r>
              <a:rPr lang="en-US" sz="1000" dirty="0" err="1"/>
              <a:t/>
            </a:r>
            <a:r>
              <a:rPr lang="en-US" sz="1000" dirty="0"/>
              <a:t/>
            </a:r>
          </a:p>
        </p:txBody>
      </p:sp>
      <p:graphicFrame>
        <p:nvGraphicFramePr>
          <p:cNvPr id="72" name="Google Shape;72;p14"/>
          <p:cNvGraphicFramePr/>
          <p:nvPr/>
        </p:nvGraphicFramePr>
        <p:xfrm>
          <a:off x="4661550" y="1975175"/>
          <a:ext cx="2300450" cy="2795525"/>
        </p:xfrm>
        <a:graphic>
          <a:graphicData uri="http://schemas.openxmlformats.org/drawingml/2006/table">
            <a:tbl>
              <a:tblPr>
                <a:noFill/>
              </a:tblPr>
              <a:tblGrid>
                <a:gridCol w="1150225">
                  <a:extLst>
                    <a:ext uri="{9D8B030D-6E8A-4147-A177-3AD203B41FA5}">
                      <a16:colId xmlns:a16="http://schemas.microsoft.com/office/drawing/2014/main" val="20000"/>
                    </a:ext>
                  </a:extLst>
                </a:gridCol>
                <a:gridCol w="1150225">
                  <a:extLst>
                    <a:ext uri="{9D8B030D-6E8A-4147-A177-3AD203B41FA5}">
                      <a16:colId xmlns:a16="http://schemas.microsoft.com/office/drawing/2014/main" val="20001"/>
                    </a:ext>
                  </a:extLst>
                </a:gridCol>
              </a:tblGrid>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
        <p:nvSpPr>
          <p:cNvPr id="73" name="Google Shape;73;p14"/>
          <p:cNvSpPr txBox="1"/>
          <p:nvPr/>
        </p:nvSpPr>
        <p:spPr>
          <a:xfrm>
            <a:off x="4653425" y="604650"/>
            <a:ext cx="4378500" cy="1324200"/>
          </a:xfrm>
          <a:prstGeom prst="rect">
            <a:avLst/>
          </a:prstGeom>
          <a:solidFill>
            <a:srgbClr val="FFE5B4"/>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Leader in compliant recycling with multi-metal growth optionality</a:t>
            </a:r>
          </a:p>
        </p:txBody>
      </p:sp>
      <p:sp>
        <p:nvSpPr>
          <p:cNvPr id="81" name="Google Shape;81;p15"/>
          <p:cNvSpPr txBox="1">
            <a:spLocks noGrp="1"/>
          </p:cNvSpPr>
          <p:nvPr>
            <p:ph type="title" idx="2"/>
          </p:nvPr>
        </p:nvSpPr>
        <p:spPr>
          <a:xfrm>
            <a:off x="55450" y="591725"/>
            <a:ext cx="4454100" cy="4179000"/>
          </a:xfrm>
          <a:prstGeom prst="rect">
            <a:avLst/>
          </a:prstGeom>
        </p:spPr>
        <p:txBody>
          <a:bodyPr spcFirstLastPara="1" wrap="square" lIns="182880" tIns="228600" rIns="182880" bIns="91440" anchor="t" anchorCtr="0">
            <a:normAutofit/>
          </a:bodyPr>
          <a:lstStyle/>
          <a:p>
            <a:pPr marL="457200" lvl="0" indent="-292100" algn="just" rtl="0">
              <a:lnSpc>
                <a:spcPct val="115000"/>
              </a:lnSpc>
              <a:spcBef>
                <a:spcPts val="1200"/>
              </a:spcBef>
              <a:spcAft>
                <a:spcPts val="0"/>
              </a:spcAft>
              <a:buSzPts val="1000"/>
              <a:buChar char="❏"/>
            </a:pPr>
            <a:r>
              <a:rPr sz="1100">
                <a:latin typeface="Arial"/>
              </a:rPr>
              <a:t>Healthy promoter and institutional holding.</a:t>
            </a:r>
            <a:endParaRPr sz="1000" dirty="0"/>
          </a:p>
        </p:txBody>
      </p:sp>
      <p:sp>
        <p:nvSpPr>
          <p:cNvPr id="2" name="TextBox 1">
            <a:extLst>
              <a:ext uri="{FF2B5EF4-FFF2-40B4-BE49-F238E27FC236}">
                <a16:creationId xmlns:a16="http://schemas.microsoft.com/office/drawing/2014/main" id="{2343C578-3CC7-028C-0184-4F8F92B81388}"/>
              </a:ext>
            </a:extLst>
          </p:cNvPr>
          <p:cNvSpPr txBox="1"/>
          <p:nvPr/>
        </p:nvSpPr>
        <p:spPr>
          <a:xfrm>
            <a:off x="6016978" y="1072445"/>
            <a:ext cx="1885244" cy="307777"/>
          </a:xfrm>
          <a:prstGeom prst="rect">
            <a:avLst/>
          </a:prstGeom>
          <a:noFill/>
        </p:spPr>
        <p:txBody>
          <a:bodyPr wrap="square" rtlCol="0" tIns="228600" lIns="182880" rIns="182880" bIns="91440" anchor="t">
            <a:normAutofit/>
          </a:bodyPr>
          <a:lstStyle/>
          <a:p>
            <a:r>
              <a:rPr sz="1100">
                <a:latin typeface="Arial"/>
              </a:rPr>
              <a:t/>
            </a:r>
          </a:p>
        </p:txBody>
      </p:sp>
      <p:sp>
        <p:nvSpPr>
          <p:cNvPr id="3" name="TextBox 2">
            <a:extLst>
              <a:ext uri="{FF2B5EF4-FFF2-40B4-BE49-F238E27FC236}">
                <a16:creationId xmlns:a16="http://schemas.microsoft.com/office/drawing/2014/main" id="{3DB982E2-45EC-00E1-87F1-5279982DE9A4}"/>
              </a:ext>
            </a:extLst>
          </p:cNvPr>
          <p:cNvSpPr txBox="1"/>
          <p:nvPr/>
        </p:nvSpPr>
        <p:spPr>
          <a:xfrm>
            <a:off x="6220178" y="3454400"/>
            <a:ext cx="1367682" cy="492443"/>
          </a:xfrm>
          <a:prstGeom prst="rect">
            <a:avLst/>
          </a:prstGeom>
          <a:noFill/>
        </p:spPr>
        <p:txBody>
          <a:bodyPr wrap="square" rtlCol="0" tIns="228600" lIns="182880" rIns="182880" bIns="91440" anchor="t">
            <a:normAutofit/>
          </a:bodyPr>
          <a:lstStyle/>
          <a:p>
            <a:r>
              <a:rPr sz="1100">
                <a:latin typeface="Arial"/>
              </a:rPr>
              <a:t/>
            </a:r>
          </a:p>
          <a:p>
            <a:endParaRPr lang="en-IN" dirty="0"/>
          </a:p>
        </p:txBody>
      </p:sp>
      <p:graphicFrame>
        <p:nvGraphicFramePr>
          <p:cNvPr id="82" name="Table 81"/>
          <p:cNvGraphicFramePr>
            <a:graphicFrameLocks noGrp="1"/>
          </p:cNvGraphicFramePr>
          <p:nvPr/>
        </p:nvGraphicFramePr>
        <p:xfrm>
          <a:off x="4572000" y="3017520"/>
          <a:ext cx="4416552" cy="2286000"/>
        </p:xfrm>
        <a:graphic>
          <a:graphicData uri="http://schemas.openxmlformats.org/drawingml/2006/table">
            <a:tbl>
              <a:tblPr firstRow="1" bandRow="1">
                <a:tableStyleId>{5C22544A-7EE6-4342-B048-85BDC9FD1C3A}</a:tableStyleId>
              </a:tblPr>
              <a:tblGrid>
                <a:gridCol w="736092"/>
                <a:gridCol w="736092"/>
                <a:gridCol w="736092"/>
                <a:gridCol w="736092"/>
                <a:gridCol w="736092"/>
                <a:gridCol w="736092"/>
              </a:tblGrid>
              <a:tr h="228600">
                <a:tc>
                  <a:txBody>
                    <a:bodyPr/>
                    <a:lstStyle/>
                    <a:p>
                      <a:pPr algn="l">
                        <a:defRPr sz="900" b="1">
                          <a:solidFill>
                            <a:srgbClr val="FFFFFF"/>
                          </a:solidFill>
                          <a:latin typeface="Arial"/>
                        </a:defRPr>
                      </a:pPr>
                      <a:r>
                        <a:t>Particulars</a:t>
                      </a:r>
                    </a:p>
                  </a:txBody>
                  <a:tcPr>
                    <a:solidFill>
                      <a:srgbClr val="003399"/>
                    </a:solidFill>
                  </a:tcPr>
                </a:tc>
                <a:tc>
                  <a:txBody>
                    <a:bodyPr/>
                    <a:lstStyle/>
                    <a:p>
                      <a:pPr algn="ctr">
                        <a:defRPr sz="900" b="1">
                          <a:solidFill>
                            <a:srgbClr val="FFFFFF"/>
                          </a:solidFill>
                          <a:latin typeface="Arial"/>
                        </a:defRPr>
                      </a:pPr>
                      <a:r>
                        <a:t>FY24A</a:t>
                      </a:r>
                    </a:p>
                  </a:txBody>
                  <a:tcPr>
                    <a:solidFill>
                      <a:srgbClr val="003399"/>
                    </a:solidFill>
                  </a:tcPr>
                </a:tc>
                <a:tc>
                  <a:txBody>
                    <a:bodyPr/>
                    <a:lstStyle/>
                    <a:p>
                      <a:pPr algn="ctr">
                        <a:defRPr sz="900" b="1">
                          <a:solidFill>
                            <a:srgbClr val="FFFFFF"/>
                          </a:solidFill>
                          <a:latin typeface="Arial"/>
                        </a:defRPr>
                      </a:pPr>
                      <a:r>
                        <a:t>FY25A</a:t>
                      </a:r>
                    </a:p>
                  </a:txBody>
                  <a:tcPr>
                    <a:solidFill>
                      <a:srgbClr val="003399"/>
                    </a:solidFill>
                  </a:tcPr>
                </a:tc>
                <a:tc>
                  <a:txBody>
                    <a:bodyPr/>
                    <a:lstStyle/>
                    <a:p>
                      <a:pPr algn="ctr">
                        <a:defRPr sz="900" b="1">
                          <a:solidFill>
                            <a:srgbClr val="FFFFFF"/>
                          </a:solidFill>
                          <a:latin typeface="Arial"/>
                        </a:defRPr>
                      </a:pPr>
                      <a:r>
                        <a:t>FY26E</a:t>
                      </a:r>
                    </a:p>
                  </a:txBody>
                  <a:tcPr>
                    <a:solidFill>
                      <a:srgbClr val="003399"/>
                    </a:solidFill>
                  </a:tcPr>
                </a:tc>
                <a:tc>
                  <a:txBody>
                    <a:bodyPr/>
                    <a:lstStyle/>
                    <a:p>
                      <a:pPr algn="ctr">
                        <a:defRPr sz="900" b="1">
                          <a:solidFill>
                            <a:srgbClr val="FFFFFF"/>
                          </a:solidFill>
                          <a:latin typeface="Arial"/>
                        </a:defRPr>
                      </a:pPr>
                      <a:r>
                        <a:t>FY27E</a:t>
                      </a:r>
                    </a:p>
                  </a:txBody>
                  <a:tcPr>
                    <a:solidFill>
                      <a:srgbClr val="003399"/>
                    </a:solidFill>
                  </a:tcPr>
                </a:tc>
                <a:tc>
                  <a:txBody>
                    <a:bodyPr/>
                    <a:lstStyle/>
                    <a:p>
                      <a:pPr algn="ctr">
                        <a:defRPr sz="900" b="1">
                          <a:solidFill>
                            <a:srgbClr val="FFFFFF"/>
                          </a:solidFill>
                          <a:latin typeface="Arial"/>
                        </a:defRPr>
                      </a:pPr>
                      <a:r>
                        <a:t>FY28E</a:t>
                      </a:r>
                    </a:p>
                  </a:txBody>
                  <a:tcPr>
                    <a:solidFill>
                      <a:srgbClr val="003399"/>
                    </a:solidFill>
                  </a:tcPr>
                </a:tc>
              </a:tr>
              <a:tr h="228600">
                <a:tc>
                  <a:txBody>
                    <a:bodyPr/>
                    <a:lstStyle/>
                    <a:p>
                      <a:pPr algn="l">
                        <a:defRPr sz="900">
                          <a:latin typeface="Arial"/>
                        </a:defRPr>
                      </a:pPr>
                      <a:r>
                        <a:t>Sales</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r>
              <a:tr h="228600">
                <a:tc>
                  <a:txBody>
                    <a:bodyPr/>
                    <a:lstStyle/>
                    <a:p>
                      <a:pPr algn="l">
                        <a:defRPr sz="900">
                          <a:latin typeface="Arial"/>
                        </a:defRPr>
                      </a:pPr>
                      <a:r>
                        <a:t>YoY% growth</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r>
              <a:tr h="228600">
                <a:tc>
                  <a:txBody>
                    <a:bodyPr/>
                    <a:lstStyle/>
                    <a:p>
                      <a:pPr algn="l">
                        <a:defRPr sz="900">
                          <a:latin typeface="Arial"/>
                        </a:defRPr>
                      </a:pPr>
                      <a:r>
                        <a:t>EBITDA</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r>
              <a:tr h="228600">
                <a:tc>
                  <a:txBody>
                    <a:bodyPr/>
                    <a:lstStyle/>
                    <a:p>
                      <a:pPr algn="l">
                        <a:defRPr sz="900">
                          <a:latin typeface="Arial"/>
                        </a:defRPr>
                      </a:pPr>
                      <a:r>
                        <a:t>% Margin</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r>
              <a:tr h="228600">
                <a:tc>
                  <a:txBody>
                    <a:bodyPr/>
                    <a:lstStyle/>
                    <a:p>
                      <a:pPr algn="l">
                        <a:defRPr sz="900">
                          <a:latin typeface="Arial"/>
                        </a:defRPr>
                      </a:pPr>
                      <a:r>
                        <a:t>YoY% growth</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r>
              <a:tr h="228600">
                <a:tc>
                  <a:txBody>
                    <a:bodyPr/>
                    <a:lstStyle/>
                    <a:p>
                      <a:pPr algn="l">
                        <a:defRPr sz="900">
                          <a:latin typeface="Arial"/>
                        </a:defRPr>
                      </a:pPr>
                      <a:r>
                        <a:t>PAT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r>
              <a:tr h="228600">
                <a:tc>
                  <a:txBody>
                    <a:bodyPr/>
                    <a:lstStyle/>
                    <a:p>
                      <a:pPr algn="l">
                        <a:defRPr sz="900">
                          <a:latin typeface="Arial"/>
                        </a:defRPr>
                      </a:pPr>
                      <a:r>
                        <a:t>YoY% growth</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r>
              <a:tr h="228600">
                <a:tc>
                  <a:txBody>
                    <a:bodyPr/>
                    <a:lstStyle/>
                    <a:p>
                      <a:pPr algn="l">
                        <a:defRPr sz="900">
                          <a:latin typeface="Arial"/>
                        </a:defRPr>
                      </a:pPr>
                      <a:r>
                        <a:t>P/E</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c>
                  <a:txBody>
                    <a:bodyPr/>
                    <a:lstStyle/>
                    <a:p>
                      <a:pPr algn="ctr">
                        <a:defRPr sz="900">
                          <a:latin typeface="Arial"/>
                        </a:defRPr>
                      </a:pPr>
                      <a:r>
                        <a:t>-</a:t>
                      </a:r>
                    </a:p>
                  </a:txBody>
                  <a:tcPr>
                    <a:solidFill>
                      <a:srgbClr val="FFEBCD"/>
                    </a:solidFill>
                  </a:tcPr>
                </a:tc>
              </a:tr>
              <a:tr h="228600">
                <a:tc>
                  <a:txBody>
                    <a:bodyPr/>
                    <a:lstStyle/>
                    <a:p>
                      <a:pPr algn="l">
                        <a:defRPr sz="900">
                          <a:latin typeface="Arial"/>
                        </a:defRPr>
                      </a:pPr>
                      <a:r>
                        <a:t>P/B</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c>
                  <a:txBody>
                    <a:bodyPr/>
                    <a:lstStyle/>
                    <a:p>
                      <a:pPr algn="ctr">
                        <a:defRPr sz="900">
                          <a:latin typeface="Arial"/>
                        </a:defRPr>
                      </a:pPr>
                      <a:r>
                        <a:t>-</a:t>
                      </a:r>
                    </a:p>
                  </a:txBody>
                  <a:tcPr>
                    <a:solidFill>
                      <a:srgbClr val="FFFFFF"/>
                    </a:solidFill>
                  </a:tcPr>
                </a:tc>
              </a:tr>
            </a:tbl>
          </a:graphicData>
        </a:graphic>
      </p:graphicFrame>
      <p:pic>
        <p:nvPicPr>
          <p:cNvPr id="83" name="Picture 82" descr="image.png"/>
          <p:cNvPicPr>
            <a:picLocks noChangeAspect="1"/>
          </p:cNvPicPr>
          <p:nvPr/>
        </p:nvPicPr>
        <p:blipFill>
          <a:blip r:embed="rId3"/>
          <a:stretch>
            <a:fillRect/>
          </a:stretch>
        </p:blipFill>
        <p:spPr>
          <a:xfrm>
            <a:off x="4572000" y="1097280"/>
            <a:ext cx="4416552" cy="1828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Company Background</a:t>
            </a:r>
            <a:endParaRPr dirty="0"/>
          </a:p>
        </p:txBody>
      </p:sp>
      <p:sp>
        <p:nvSpPr>
          <p:cNvPr id="103" name="Google Shape;103;p18"/>
          <p:cNvSpPr txBox="1"/>
          <p:nvPr/>
        </p:nvSpPr>
        <p:spPr>
          <a:xfrm>
            <a:off x="0" y="54360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1" algn="just"/>
            <a:r>
              <a:rPr sz="1100">
                <a:latin typeface="Arial"/>
              </a:rPr>
              <a:t>Swiggy is India's leading on-demand convenience platform...</a:t>
            </a: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sz="10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FAD0D60-5275-84AE-A01D-5C29311790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789E8541-3656-D6AE-7758-C57E83AB017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Business Model Explanation</a:t>
            </a:r>
            <a:endParaRPr dirty="0"/>
          </a:p>
        </p:txBody>
      </p:sp>
      <p:sp>
        <p:nvSpPr>
          <p:cNvPr id="103" name="Google Shape;103;p18">
            <a:extLst>
              <a:ext uri="{FF2B5EF4-FFF2-40B4-BE49-F238E27FC236}">
                <a16:creationId xmlns:a16="http://schemas.microsoft.com/office/drawing/2014/main" id="{0B022806-FF18-A70B-0096-6E7E4CF88860}"/>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Arial"/>
              </a:rPr>
              <a:t>Hyperlocal delivery platform connecting consumers with restaurants and stores...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6311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690E7C3-0D46-8142-577A-0C5753B9DE3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7E19E58-FD14-45C9-C665-CC1CD4B6B25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Management Analysis</a:t>
            </a:r>
            <a:endParaRPr dirty="0"/>
          </a:p>
        </p:txBody>
      </p:sp>
      <p:sp>
        <p:nvSpPr>
          <p:cNvPr id="103" name="Google Shape;103;p18">
            <a:extLst>
              <a:ext uri="{FF2B5EF4-FFF2-40B4-BE49-F238E27FC236}">
                <a16:creationId xmlns:a16="http://schemas.microsoft.com/office/drawing/2014/main" id="{6BF73CCD-0EE9-D178-E0EE-DBE8BACE316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050">
                <a:latin typeface="Arial"/>
              </a:rPr>
              <a:t>The management team at Swiggy Ltd is tasked with navigating a challenging landscape characterized by intense competition and rapid technological advancements in the food delivery industry. Despite the absence of detailed historical financial data, the company's current market position, as indicated by its market capitalization of ₹78,712.46 crore, suggests a significant presence in the market. However, the lack of profitability metrics such as ROE and ROCE, which stand at -255.00% and -29.20% respectively, raises concerns about the management's ability to efficiently allocate capital and generate returns.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4238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3028637-C7E8-1027-CF6F-11A001994C95}"/>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3C72DCED-094C-9F6B-1B28-0C9FAC247A12}"/>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Industry Overview</a:t>
            </a:r>
            <a:endParaRPr dirty="0"/>
          </a:p>
        </p:txBody>
      </p:sp>
      <p:sp>
        <p:nvSpPr>
          <p:cNvPr id="103" name="Google Shape;103;p18">
            <a:extLst>
              <a:ext uri="{FF2B5EF4-FFF2-40B4-BE49-F238E27FC236}">
                <a16:creationId xmlns:a16="http://schemas.microsoft.com/office/drawing/2014/main" id="{3EF6F868-E6FA-528A-EB17-E7AA64837568}"/>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050">
                <a:latin typeface="Arial"/>
              </a:rPr>
              <a:t>The Indian food delivery industry, within which Swiggy Ltd operates, is a rapidly evolving sector characterized by intense competition, dynamic consumer preferences, and significant technological advancements. This industry has seen substantial growth over the past decade, driven by increasing internet penetration, the proliferation of smartphones, and a burgeoning middle class with disposable income. As of 2023, the Indian food delivery market is estimated to be valued at approximately ₹1.5 trillion, with expectations of continued growth at a compound annual growth rate (CAGR) of around 12%.</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193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9AD7384-8D9A-4E27-361F-1541B231D334}"/>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282A215E-AAE7-F4C1-216D-6AD0C7EB9D7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Key Industry Tailwinds</a:t>
            </a:r>
            <a:endParaRPr dirty="0"/>
          </a:p>
        </p:txBody>
      </p:sp>
      <p:sp>
        <p:nvSpPr>
          <p:cNvPr id="103" name="Google Shape;103;p18">
            <a:extLst>
              <a:ext uri="{FF2B5EF4-FFF2-40B4-BE49-F238E27FC236}">
                <a16:creationId xmlns:a16="http://schemas.microsoft.com/office/drawing/2014/main" id="{7E730C0C-A0CB-D1A8-865F-26DAB5B55E5C}"/>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Arial"/>
              </a:rPr>
              <a:t>Growing digital adoption and urbanization...</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1177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B4D1E24-8E50-6B9E-737F-93AE4CF6395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2F583F2-F833-28A7-9673-BBE9AD5961BA}"/>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Demand drivers</a:t>
            </a:r>
            <a:endParaRPr dirty="0"/>
          </a:p>
        </p:txBody>
      </p:sp>
      <p:sp>
        <p:nvSpPr>
          <p:cNvPr id="103" name="Google Shape;103;p18">
            <a:extLst>
              <a:ext uri="{FF2B5EF4-FFF2-40B4-BE49-F238E27FC236}">
                <a16:creationId xmlns:a16="http://schemas.microsoft.com/office/drawing/2014/main" id="{00A4DE28-F00E-19A8-D0C7-CB03E6163359}"/>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Arial"/>
              </a:rPr>
              <a:t>Convenience and variety seeking behavior...</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1813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369FFD1-328D-C386-CF68-92179F159FC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CF2746A6-609C-ED62-DBA0-F63389FE81B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Industry Risks</a:t>
            </a:r>
            <a:endParaRPr dirty="0"/>
          </a:p>
        </p:txBody>
      </p:sp>
      <p:sp>
        <p:nvSpPr>
          <p:cNvPr id="103" name="Google Shape;103;p18">
            <a:extLst>
              <a:ext uri="{FF2B5EF4-FFF2-40B4-BE49-F238E27FC236}">
                <a16:creationId xmlns:a16="http://schemas.microsoft.com/office/drawing/2014/main" id="{4F3CD53B-0D34-3E85-C664-97E2B3F3E2A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Arial"/>
              </a:rPr>
              <a:t>Regulatory changes and gig worker classification...</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IN"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30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Financials and Ratio Analysis</a:t>
            </a:r>
            <a:endParaRPr/>
          </a:p>
        </p:txBody>
      </p:sp>
      <p:sp>
        <p:nvSpPr>
          <p:cNvPr id="3" name="Title 2">
            <a:extLst>
              <a:ext uri="{FF2B5EF4-FFF2-40B4-BE49-F238E27FC236}">
                <a16:creationId xmlns:a16="http://schemas.microsoft.com/office/drawing/2014/main" id="{F9E735C5-A5DA-5348-B44B-71E3B9F63E9A}"/>
              </a:ext>
            </a:extLst>
          </p:cNvPr>
          <p:cNvSpPr>
            <a:spLocks noGrp="1"/>
          </p:cNvSpPr>
          <p:nvPr>
            <p:ph type="title"/>
          </p:nvPr>
        </p:nvSpPr>
        <p:spPr/>
        <p:txBody>
          <a:bodyPr/>
          <a:lstStyle/>
          <a:p>
            <a:endParaRPr lang="en-IN" dirty="0"/>
          </a:p>
        </p:txBody>
      </p:sp>
      <p:sp>
        <p:nvSpPr>
          <p:cNvPr id="5" name="Title 4">
            <a:extLst>
              <a:ext uri="{FF2B5EF4-FFF2-40B4-BE49-F238E27FC236}">
                <a16:creationId xmlns:a16="http://schemas.microsoft.com/office/drawing/2014/main" id="{78C8FD2B-7D8D-BFE6-9940-30B1DA00CBCF}"/>
              </a:ext>
            </a:extLst>
          </p:cNvPr>
          <p:cNvSpPr>
            <a:spLocks noGrp="1"/>
          </p:cNvSpPr>
          <p:nvPr>
            <p:ph type="title"/>
          </p:nvPr>
        </p:nvSpPr>
        <p:spPr/>
        <p:txBody>
          <a:bodyPr/>
          <a:lstStyle/>
          <a:p>
            <a:endParaRPr lang="en-IN" dirty="0"/>
          </a:p>
        </p:txBody>
      </p:sp>
      <p:sp>
        <p:nvSpPr>
          <p:cNvPr id="7" name="Title 6">
            <a:extLst>
              <a:ext uri="{FF2B5EF4-FFF2-40B4-BE49-F238E27FC236}">
                <a16:creationId xmlns:a16="http://schemas.microsoft.com/office/drawing/2014/main" id="{CEF2C673-0B9A-CDB6-EE2A-5CFAECCEA9F2}"/>
              </a:ext>
            </a:extLst>
          </p:cNvPr>
          <p:cNvSpPr>
            <a:spLocks noGrp="1"/>
          </p:cNvSpPr>
          <p:nvPr>
            <p:ph type="title"/>
          </p:nvPr>
        </p:nvSpPr>
        <p:spPr/>
        <p:txBody>
          <a:bodyPr/>
          <a:lstStyle/>
          <a:p>
            <a:endParaRPr lang="en-IN" dirty="0"/>
          </a:p>
        </p:txBody>
      </p:sp>
      <p:sp>
        <p:nvSpPr>
          <p:cNvPr id="9" name="Title 8">
            <a:extLst>
              <a:ext uri="{FF2B5EF4-FFF2-40B4-BE49-F238E27FC236}">
                <a16:creationId xmlns:a16="http://schemas.microsoft.com/office/drawing/2014/main" id="{090568D9-445C-CF1D-D517-A1B6B9682E50}"/>
              </a:ext>
            </a:extLst>
          </p:cNvPr>
          <p:cNvSpPr>
            <a:spLocks noGrp="1"/>
          </p:cNvSpPr>
          <p:nvPr>
            <p:ph type="title"/>
          </p:nvPr>
        </p:nvSpPr>
        <p:spPr/>
        <p:txBody>
          <a:bodyPr/>
          <a:lstStyle/>
          <a:p>
            <a:r>
              <a:rPr lang="en-IN" dirty="0"/>
              <a:t>Summary in Tables</a:t>
            </a:r>
          </a:p>
        </p:txBody>
      </p:sp>
      <p:sp>
        <p:nvSpPr>
          <p:cNvPr id="10" name="TextBox 9">
            <a:extLst>
              <a:ext uri="{FF2B5EF4-FFF2-40B4-BE49-F238E27FC236}">
                <a16:creationId xmlns:a16="http://schemas.microsoft.com/office/drawing/2014/main" id="{54263664-1DF1-772C-4528-73246E37C87E}"/>
              </a:ext>
            </a:extLst>
          </p:cNvPr>
          <p:cNvSpPr txBox="1"/>
          <p:nvPr/>
        </p:nvSpPr>
        <p:spPr>
          <a:xfrm>
            <a:off x="575733" y="1241778"/>
            <a:ext cx="1645002" cy="307777"/>
          </a:xfrm>
          <a:prstGeom prst="rect">
            <a:avLst/>
          </a:prstGeom>
          <a:noFill/>
        </p:spPr>
        <p:txBody>
          <a:bodyPr wrap="none" rtlCol="0">
            <a:spAutoFit/>
          </a:bodyPr>
          <a:lstStyle/>
          <a:p>
            <a:r>
              <a:rPr lang="en-IN" dirty="0"/>
              <a:t>{{</a:t>
            </a:r>
            <a:r>
              <a:rPr lang="en-IN" dirty="0" err="1"/>
              <a:t>summary_table</a:t>
            </a:r>
            <a:r>
              <a:rPr lang="en-IN" dirty="0"/>
              <a:t>}}</a:t>
            </a:r>
          </a:p>
        </p:txBody>
      </p:sp>
      <p:pic>
        <p:nvPicPr>
          <p:cNvPr id="109" name="Picture 10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Summary in charts!</a:t>
            </a:r>
            <a:endParaRPr/>
          </a:p>
        </p:txBody>
      </p:sp>
      <p:sp>
        <p:nvSpPr>
          <p:cNvPr id="2" name="TextBox 1">
            <a:extLst>
              <a:ext uri="{FF2B5EF4-FFF2-40B4-BE49-F238E27FC236}">
                <a16:creationId xmlns:a16="http://schemas.microsoft.com/office/drawing/2014/main" id="{A9D075EE-B486-8649-E192-9DEE2DDCE6A3}"/>
              </a:ext>
            </a:extLst>
          </p:cNvPr>
          <p:cNvSpPr txBox="1"/>
          <p:nvPr/>
        </p:nvSpPr>
        <p:spPr>
          <a:xfrm>
            <a:off x="2562578" y="1636889"/>
            <a:ext cx="1495922" cy="307777"/>
          </a:xfrm>
          <a:prstGeom prst="rect">
            <a:avLst/>
          </a:prstGeom>
          <a:noFill/>
        </p:spPr>
        <p:txBody>
          <a:bodyPr wrap="none" rtlCol="0">
            <a:spAutoFit/>
          </a:bodyPr>
          <a:lstStyle/>
          <a:p>
            <a:r>
              <a:rPr lang="en-IN" dirty="0"/>
              <a:t>{{</a:t>
            </a:r>
            <a:r>
              <a:rPr lang="en-IN"/>
              <a:t>chart_custom}}</a:t>
            </a:r>
            <a:endParaRPr lang="en-IN" dirty="0"/>
          </a:p>
        </p:txBody>
      </p:sp>
      <p:pic>
        <p:nvPicPr>
          <p:cNvPr id="119" name="Picture 11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Disclosure and Disclaimers</a:t>
            </a:r>
            <a:endParaRPr/>
          </a:p>
        </p:txBody>
      </p:sp>
      <p:sp>
        <p:nvSpPr>
          <p:cNvPr id="124" name="Google Shape;124;p21"/>
          <p:cNvSpPr txBox="1"/>
          <p:nvPr/>
        </p:nvSpPr>
        <p:spPr>
          <a:xfrm>
            <a:off x="0" y="579050"/>
            <a:ext cx="9003900" cy="4224300"/>
          </a:xfrm>
          <a:prstGeom prst="rect">
            <a:avLst/>
          </a:prstGeom>
          <a:solidFill>
            <a:srgbClr val="FFE5B4"/>
          </a:solidFill>
          <a:ln>
            <a:noFill/>
          </a:ln>
        </p:spPr>
        <p:txBody>
          <a:bodyPr spcFirstLastPara="1" wrap="square" lIns="91425" tIns="91425" rIns="91425" bIns="91425" anchor="ctr" anchorCtr="0">
            <a:noAutofit/>
          </a:bodyPr>
          <a:lstStyle/>
          <a:p>
            <a:pPr marL="200660" marR="1198245" lvl="0" indent="0" algn="just" rtl="0">
              <a:spcBef>
                <a:spcPts val="590"/>
              </a:spcBef>
              <a:spcAft>
                <a:spcPts val="0"/>
              </a:spcAft>
              <a:buNone/>
            </a:pPr>
            <a:r>
              <a:rPr lang="en-GB" sz="1000" b="1">
                <a:solidFill>
                  <a:srgbClr val="1F3864"/>
                </a:solidFill>
                <a:latin typeface="Calibri"/>
                <a:ea typeface="Calibri"/>
                <a:cs typeface="Calibri"/>
                <a:sym typeface="Calibri"/>
              </a:rPr>
              <a:t>About Us: </a:t>
            </a:r>
            <a:r>
              <a:rPr lang="en-GB" sz="100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a:solidFill>
                <a:schemeClr val="dk1"/>
              </a:solidFill>
              <a:latin typeface="Calibri"/>
              <a:ea typeface="Calibri"/>
              <a:cs typeface="Calibri"/>
              <a:sym typeface="Calibri"/>
            </a:endParaRPr>
          </a:p>
          <a:p>
            <a:pPr marL="200660" marR="306070" lvl="0" indent="0" algn="just" rtl="0">
              <a:spcBef>
                <a:spcPts val="0"/>
              </a:spcBef>
              <a:spcAft>
                <a:spcPts val="0"/>
              </a:spcAft>
              <a:buNone/>
            </a:pPr>
            <a:r>
              <a:rPr lang="en-GB" sz="1000" b="1">
                <a:solidFill>
                  <a:srgbClr val="1F3864"/>
                </a:solidFill>
                <a:latin typeface="Calibri"/>
                <a:ea typeface="Calibri"/>
                <a:cs typeface="Calibri"/>
                <a:sym typeface="Calibri"/>
              </a:rPr>
              <a:t>Disciplinary history: </a:t>
            </a:r>
            <a:r>
              <a:rPr lang="en-GB" sz="100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b="1">
                <a:solidFill>
                  <a:srgbClr val="1F3864"/>
                </a:solidFill>
                <a:latin typeface="Calibri"/>
                <a:ea typeface="Calibri"/>
                <a:cs typeface="Calibri"/>
                <a:sym typeface="Calibri"/>
              </a:rPr>
              <a:t>Details of its associates: </a:t>
            </a:r>
            <a:r>
              <a:rPr lang="en-GB" sz="1000">
                <a:solidFill>
                  <a:schemeClr val="dk1"/>
                </a:solidFill>
                <a:latin typeface="Calibri"/>
                <a:ea typeface="Calibri"/>
                <a:cs typeface="Calibri"/>
                <a:sym typeface="Calibri"/>
              </a:rPr>
              <a:t>No associates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b="1">
                <a:solidFill>
                  <a:srgbClr val="1F3864"/>
                </a:solidFill>
                <a:latin typeface="Calibri"/>
                <a:ea typeface="Calibri"/>
                <a:cs typeface="Calibri"/>
                <a:sym typeface="Calibri"/>
              </a:rPr>
              <a:t>Disclosures with respect to Research and Recommendations Services</a:t>
            </a:r>
            <a:endParaRPr sz="1000" b="1">
              <a:solidFill>
                <a:schemeClr val="dk1"/>
              </a:solidFill>
              <a:latin typeface="Calibri"/>
              <a:ea typeface="Calibri"/>
              <a:cs typeface="Calibri"/>
              <a:sym typeface="Calibri"/>
            </a:endParaRPr>
          </a:p>
          <a:p>
            <a:pPr marL="200660" marR="343535" lvl="0" indent="0" algn="just" rtl="0">
              <a:spcBef>
                <a:spcPts val="5"/>
              </a:spcBef>
              <a:spcAft>
                <a:spcPts val="0"/>
              </a:spcAft>
              <a:buNone/>
            </a:pPr>
            <a:r>
              <a:rPr lang="en-GB" sz="100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None/>
            </a:pPr>
            <a:r>
              <a:rPr lang="en-GB" sz="100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a:solidFill>
                <a:schemeClr val="dk1"/>
              </a:solidFill>
              <a:latin typeface="Calibri"/>
              <a:ea typeface="Calibri"/>
              <a:cs typeface="Calibri"/>
              <a:sym typeface="Calibri"/>
            </a:endParaRPr>
          </a:p>
          <a:p>
            <a:pPr marL="200660" lvl="0" indent="0" algn="just" rtl="0">
              <a:spcBef>
                <a:spcPts val="10"/>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from the company in past 12 months.</a:t>
            </a:r>
            <a:endParaRPr sz="1000">
              <a:solidFill>
                <a:schemeClr val="dk1"/>
              </a:solidFill>
              <a:latin typeface="Calibri"/>
              <a:ea typeface="Calibri"/>
              <a:cs typeface="Calibri"/>
              <a:sym typeface="Calibri"/>
            </a:endParaRPr>
          </a:p>
          <a:p>
            <a:pPr marL="200660" marR="241300" lvl="0" indent="0" algn="just" rtl="0">
              <a:spcBef>
                <a:spcPts val="0"/>
              </a:spcBef>
              <a:spcAft>
                <a:spcPts val="0"/>
              </a:spcAft>
              <a:buNone/>
            </a:pPr>
            <a:r>
              <a:rPr lang="en-GB" sz="100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a:solidFill>
                  <a:schemeClr val="dk1"/>
                </a:solidFill>
                <a:latin typeface="Calibri"/>
                <a:ea typeface="Calibri"/>
                <a:cs typeface="Calibri"/>
                <a:sym typeface="Calibri"/>
              </a:rPr>
              <a:t>·Investment in securities market are subject to market risks. Read all the related documents carefully before investing</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p:txBody>
      </p:sp>
      <p:pic>
        <p:nvPicPr>
          <p:cNvPr id="125" name="Google Shape;125;p21" descr="A picture containing text, whiteboard&#10;&#10;Description automatically generated"/>
          <p:cNvPicPr preferRelativeResize="0"/>
          <p:nvPr/>
        </p:nvPicPr>
        <p:blipFill>
          <a:blip r:embed="rId3">
            <a:alphaModFix/>
          </a:blip>
          <a:stretch>
            <a:fill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TotalTime>
  <Words>634</Words>
  <Application>Microsoft Office PowerPoint</Application>
  <PresentationFormat>On-screen Show (16:9)</PresentationFormat>
  <Paragraphs>216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Simple Light</vt:lpstr>
      <vt:lpstr>{{company_name}}</vt:lpstr>
      <vt:lpstr>Leader in compliant recycling with multi-metal growth optionality</vt:lpstr>
      <vt:lpstr>Leader in compliant recycling with multi-metal growth optionality</vt:lpstr>
      <vt:lpstr>Company Background</vt:lpstr>
      <vt:lpstr>Business Model Explanation</vt:lpstr>
      <vt:lpstr>Management Analysis</vt:lpstr>
      <vt:lpstr>Industry Overview</vt:lpstr>
      <vt:lpstr>Key Industry Tailwinds</vt:lpstr>
      <vt:lpstr>Demand drivers</vt:lpstr>
      <vt:lpstr>Industry Risks</vt:lpstr>
      <vt:lpstr>Financials and Ratio Analysis</vt:lpstr>
      <vt:lpstr>Summary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26</cp:revision>
  <dcterms:modified xsi:type="dcterms:W3CDTF">2026-02-14T13:51:26Z</dcterms:modified>
</cp:coreProperties>
</file>