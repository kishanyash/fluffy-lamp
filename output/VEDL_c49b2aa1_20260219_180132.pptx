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1" r:id="rId4"/>
    <p:sldId id="266" r:id="rId5"/>
    <p:sldId id="269" r:id="rId6"/>
    <p:sldId id="265" r:id="rId7"/>
    <p:sldId id="270" r:id="rId8"/>
    <p:sldId id="271" r:id="rId9"/>
    <p:sldId id="272" r:id="rId10"/>
    <p:sldId id="262" r:id="rId11"/>
    <p:sldId id="263" r:id="rId12"/>
    <p:sldId id="26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4" autoAdjust="0"/>
    <p:restoredTop sz="94660"/>
  </p:normalViewPr>
  <p:slideViewPr>
    <p:cSldViewPr snapToGrid="0">
      <p:cViewPr>
        <p:scale>
          <a:sx n="100" d="100"/>
          <a:sy n="100" d="100"/>
        </p:scale>
        <p:origin x="54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15" y="335"/>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ctr" anchorCtr="0">
            <a:normAutofit/>
          </a:bodyPr>
          <a:lstStyle/>
          <a:p>
            <a:pPr marL="0" lvl="0" indent="0" algn="ctr" rtl="0">
              <a:spcBef>
                <a:spcPts val="0"/>
              </a:spcBef>
              <a:spcAft>
                <a:spcPts val="0"/>
              </a:spcAft>
              <a:buNone/>
            </a:pPr>
            <a:r>
              <a:rPr sz="4000" b="1">
                <a:solidFill>
                  <a:srgbClr val="FFFFFF"/>
                </a:solidFill>
                <a:latin typeface="Calibri"/>
              </a:rPr>
              <a:t>Vedanta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NSE:VEDL | BOM:500295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2026-02-07</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117900" y="627229"/>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000" b="1" dirty="0"/>
              <a:t>- Market Positioning</a:t>
            </a:r>
            <a:r>
              <a:rPr lang="en-GB" sz="1000" dirty="0"/>
              <a:t>: {{</a:t>
            </a:r>
            <a:r>
              <a:rPr lang="en-GB" sz="1000" dirty="0" err="1"/>
              <a:t>cs_market_positioning</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Financial Performance:</a:t>
            </a:r>
            <a:r>
              <a:rPr lang="en-GB" sz="1000" dirty="0"/>
              <a:t>.{{</a:t>
            </a:r>
            <a:r>
              <a:rPr lang="en-GB" sz="1000" dirty="0" err="1"/>
              <a:t>cs_financial_performance</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Growth &amp; Outlook: {</a:t>
            </a:r>
            <a:r>
              <a:rPr lang="en-GB" sz="1000" dirty="0"/>
              <a:t>{</a:t>
            </a:r>
            <a:r>
              <a:rPr lang="en-GB" sz="1000" dirty="0" err="1"/>
              <a:t>cs_grow_outlook</a:t>
            </a:r>
            <a:r>
              <a:rPr lang="en-GB" sz="1000" dirty="0"/>
              <a:t>}}</a:t>
            </a:r>
            <a:endParaRPr sz="1000" b="1" dirty="0"/>
          </a:p>
          <a:p>
            <a:pPr marL="0" lvl="0" indent="0" algn="just" rtl="0">
              <a:spcBef>
                <a:spcPts val="0"/>
              </a:spcBef>
              <a:spcAft>
                <a:spcPts val="0"/>
              </a:spcAft>
              <a:buClr>
                <a:schemeClr val="dk1"/>
              </a:buClr>
              <a:buSzPts val="1100"/>
              <a:buFont typeface="Arial"/>
              <a:buNone/>
            </a:pPr>
            <a:r>
              <a:rPr lang="en-GB" sz="1000" b="1" dirty="0"/>
              <a:t>- Valuation &amp; Recommendation:</a:t>
            </a:r>
            <a:r>
              <a:rPr lang="en-GB" sz="1000" dirty="0"/>
              <a:t> </a:t>
            </a:r>
            <a:r>
              <a:rPr lang="en-US" sz="1000" dirty="0"/>
              <a:t>{{</a:t>
            </a:r>
            <a:r>
              <a:rPr lang="en-US" sz="1000" dirty="0" err="1"/>
              <a:t>cs_valuation_recommendation</a:t>
            </a:r>
            <a:r>
              <a:rPr lang="en-US" sz="1000" dirty="0"/>
              <a:t>}}</a:t>
            </a:r>
            <a:endParaRPr lang="en-US" sz="1000" b="1" dirty="0"/>
          </a:p>
          <a:p>
            <a:pPr marL="0" lvl="0" indent="0" algn="just" rtl="0">
              <a:spcBef>
                <a:spcPts val="0"/>
              </a:spcBef>
              <a:spcAft>
                <a:spcPts val="0"/>
              </a:spcAft>
              <a:buNone/>
            </a:pPr>
            <a:r>
              <a:rPr lang="en-US" sz="1000" b="1" dirty="0"/>
              <a:t>- Key Risks: </a:t>
            </a:r>
            <a:r>
              <a:rPr lang="en-US" sz="1000" dirty="0"/>
              <a:t>{{</a:t>
            </a:r>
            <a:r>
              <a:rPr lang="en-US" sz="1000" dirty="0" err="1"/>
              <a:t>cs_key_risks</a:t>
            </a:r>
            <a:r>
              <a:rPr lang="en-US" sz="1000" dirty="0"/>
              <a:t>}}</a:t>
            </a:r>
          </a:p>
        </p:txBody>
      </p:sp>
      <p:sp>
        <p:nvSpPr>
          <p:cNvPr id="2" name="TextBox 1">
            <a:extLst>
              <a:ext uri="{FF2B5EF4-FFF2-40B4-BE49-F238E27FC236}">
                <a16:creationId xmlns:a16="http://schemas.microsoft.com/office/drawing/2014/main" id="{2F0A3B68-3E6B-E8A7-C41E-A5EEBC6DF9E0}"/>
              </a:ext>
            </a:extLst>
          </p:cNvPr>
          <p:cNvSpPr txBox="1"/>
          <p:nvPr/>
        </p:nvSpPr>
        <p:spPr>
          <a:xfrm>
            <a:off x="6001103" y="3409245"/>
            <a:ext cx="1885244" cy="307777"/>
          </a:xfrm>
          <a:prstGeom prst="rect">
            <a:avLst/>
          </a:prstGeom>
          <a:noFill/>
        </p:spPr>
        <p:txBody>
          <a:bodyPr wrap="square" rtlCol="0">
            <a:spAutoFit/>
          </a:bodyPr>
          <a:lstStyle/>
          <a:p>
            <a:r>
              <a:rPr lang="en-IN" dirty="0"/>
              <a:t>{{</a:t>
            </a:r>
            <a:r>
              <a:rPr lang="en-IN" dirty="0" err="1"/>
              <a:t>financial_table</a:t>
            </a:r>
            <a:r>
              <a:rPr lang="en-IN" dirty="0"/>
              <a:t>}}</a:t>
            </a:r>
          </a:p>
        </p:txBody>
      </p:sp>
      <p:sp>
        <p:nvSpPr>
          <p:cNvPr id="3" name="TextBox 2">
            <a:extLst>
              <a:ext uri="{FF2B5EF4-FFF2-40B4-BE49-F238E27FC236}">
                <a16:creationId xmlns:a16="http://schemas.microsoft.com/office/drawing/2014/main" id="{BC38CDE2-69B9-4F61-D17A-A82F3C5D1384}"/>
              </a:ext>
            </a:extLst>
          </p:cNvPr>
          <p:cNvSpPr txBox="1"/>
          <p:nvPr/>
        </p:nvSpPr>
        <p:spPr>
          <a:xfrm>
            <a:off x="6169378" y="1224845"/>
            <a:ext cx="1885244" cy="307777"/>
          </a:xfrm>
          <a:prstGeom prst="rect">
            <a:avLst/>
          </a:prstGeom>
          <a:noFill/>
        </p:spPr>
        <p:txBody>
          <a:bodyPr wrap="square" rtlCol="0" tIns="228600" lIns="182880" rIns="182880" bIns="91440" anchor="t">
            <a:normAutofit/>
          </a:bodyPr>
          <a:lstStyle/>
          <a:p>
            <a:r>
              <a:rPr sz="1200" b="0">
                <a:latin typeface="Calibri"/>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1100" b="0">
                <a:latin typeface="Calibri"/>
              </a:rPr>
              <a:t>Company Background</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a:p/>
          <a:p>
            <a:r>
              <a:rPr sz="1100" b="0">
                <a:latin typeface="Calibri"/>
              </a:rPr>
              <a:t>Vedanta Limited is a globally diversified natural resources company with business operations in India, South Africa, Namibia, and Australia. The company is one of the world's largest diversified natural resources companies.</a:t>
            </a:r>
          </a:p>
          <a:p/>
          <a:p>
            <a:r>
              <a:rPr sz="1100" b="0">
                <a:latin typeface="Calibri"/>
              </a:rPr>
              <a:t>Key Business Segments:</a:t>
            </a:r>
          </a:p>
          <a:p>
            <a:r>
              <a:rPr sz="1100" b="0">
                <a:latin typeface="Calibri"/>
              </a:rPr>
              <a:t>• Zinc Business: One of the largest integrated producers of zinc-lead</a:t>
            </a:r>
          </a:p>
          <a:p>
            <a:r>
              <a:rPr sz="1100" b="0">
                <a:latin typeface="Calibri"/>
              </a:rPr>
              <a:t>• Aluminum Business: India's largest aluminum producer</a:t>
            </a:r>
          </a:p>
          <a:p>
            <a:r>
              <a:rPr sz="1100" b="0">
                <a:latin typeface="Calibri"/>
              </a:rPr>
              <a:t>• Oil and Gas: Significant crude oil producer in India</a:t>
            </a:r>
          </a:p>
          <a:p>
            <a:r>
              <a:rPr sz="1100" b="0">
                <a:latin typeface="Calibri"/>
              </a:rPr>
              <a:t>• Iron Ore: Mining operations in Goa and Karnataka</a:t>
            </a:r>
          </a:p>
          <a:p>
            <a:r>
              <a:rPr sz="1100" b="0">
                <a:latin typeface="Calibri"/>
              </a:rPr>
              <a:t>• Copper: Copper smelting and refining operations</a:t>
            </a:r>
          </a:p>
          <a:p/>
          <a:p>
            <a:r>
              <a:rPr sz="1100" b="0">
                <a:latin typeface="Calibri"/>
              </a:rPr>
              <a:t>History and Evolution:</a:t>
            </a:r>
          </a:p>
          <a:p>
            <a:r>
              <a:rPr sz="1100" b="0">
                <a:latin typeface="Calibri"/>
              </a:rPr>
              <a:t>Founded in 1976, Vedanta has grown through strategic acquisitions and organic expansion. The company was originally focused on mining and has diversified into various natural resources over the decades.</a:t>
            </a:r>
          </a:p>
          <a:p/>
          <a:p>
            <a:r>
              <a:rPr sz="1100" b="0">
                <a:latin typeface="Calibri"/>
              </a:rPr>
              <a:t>Market Position:</a:t>
            </a:r>
          </a:p>
          <a:p>
            <a:r>
              <a:rPr sz="1100" b="0">
                <a:latin typeface="Calibri"/>
              </a:rPr>
              <a:t>Vedanta holds leadership positions in multiple segments of the Indian natural resources industry, with significant global presence in key commodities.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Business Model</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Business Model Explanation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
            <a:r>
              <a:rPr sz="1100" b="0">
                <a:latin typeface="Calibri"/>
              </a:rPr>
              <a:t>Revenue Streams:</a:t>
            </a:r>
          </a:p>
          <a:p>
            <a:r>
              <a:rPr sz="1100" b="0">
                <a:latin typeface="Calibri"/>
              </a:rPr>
              <a:t>Vedanta generates revenue through multiple integrated business segments including mining operations, smelting and refining, and oil and gas production.</a:t>
            </a:r>
          </a:p>
          <a:p/>
          <a:p>
            <a:r>
              <a:rPr sz="1100" b="0">
                <a:latin typeface="Calibri"/>
              </a:rPr>
              <a:t>1. Mining Operations</a:t>
            </a:r>
          </a:p>
          <a:p>
            <a:r>
              <a:rPr sz="1100" b="0">
                <a:latin typeface="Calibri"/>
              </a:rPr>
              <a:t>• Extraction of zinc, lead, silver, iron ore</a:t>
            </a:r>
          </a:p>
          <a:p>
            <a:r>
              <a:rPr sz="1100" b="0">
                <a:latin typeface="Calibri"/>
              </a:rPr>
              <a:t>• Open-pit and underground mining operations</a:t>
            </a:r>
          </a:p>
          <a:p>
            <a:r>
              <a:rPr sz="1100" b="0">
                <a:latin typeface="Calibri"/>
              </a:rPr>
              <a:t>• Mineral processing and concentration</a:t>
            </a:r>
          </a:p>
          <a:p/>
          <a:p>
            <a:r>
              <a:rPr sz="1100" b="0">
                <a:latin typeface="Calibri"/>
              </a:rPr>
              <a:t>2. Smelting and Refining</a:t>
            </a:r>
          </a:p>
          <a:p>
            <a:r>
              <a:rPr sz="1100" b="0">
                <a:latin typeface="Calibri"/>
              </a:rPr>
              <a:t>• Aluminum smelting operations</a:t>
            </a:r>
          </a:p>
          <a:p>
            <a:r>
              <a:rPr sz="1100" b="0">
                <a:latin typeface="Calibri"/>
              </a:rPr>
              <a:t>• Copper cathode production</a:t>
            </a:r>
          </a:p>
          <a:p>
            <a:r>
              <a:rPr sz="1100" b="0">
                <a:latin typeface="Calibri"/>
              </a:rPr>
              <a:t>• Zinc and lead refining</a:t>
            </a:r>
          </a:p>
          <a:p/>
          <a:p>
            <a:r>
              <a:rPr sz="1100" b="0">
                <a:latin typeface="Calibri"/>
              </a:rPr>
              <a:t>3. Oil and Gas Production</a:t>
            </a:r>
          </a:p>
          <a:p>
            <a:r>
              <a:rPr sz="1100" b="0">
                <a:latin typeface="Calibri"/>
              </a:rPr>
              <a:t>• Crude oil extraction from Rajasthan fields</a:t>
            </a:r>
          </a:p>
          <a:p>
            <a:r>
              <a:rPr sz="1100" b="0">
                <a:latin typeface="Calibri"/>
              </a:rPr>
              <a:t>• Natural gas production</a:t>
            </a:r>
          </a:p>
          <a:p/>
          <a:p>
            <a:r>
              <a:rPr sz="1100" b="0">
                <a:latin typeface="Calibri"/>
              </a:rPr>
              <a:t>Value Chain Integration:</a:t>
            </a:r>
          </a:p>
          <a:p>
            <a:r>
              <a:rPr sz="1100" b="0">
                <a:latin typeface="Calibri"/>
              </a:rPr>
              <a:t>The company maintains vertical integration across exploration, mining, processing, and marketing. This integration provides cost advantages and supply chain control.</a:t>
            </a:r>
          </a:p>
          <a:p/>
          <a:p>
            <a:r>
              <a:rPr sz="1100" b="0">
                <a:latin typeface="Calibri"/>
              </a:rPr>
              <a:t>Key Competitive Advantages:</a:t>
            </a:r>
          </a:p>
          <a:p>
            <a:r>
              <a:rPr sz="1100" b="0">
                <a:latin typeface="Calibri"/>
              </a:rPr>
              <a:t>• Low-cost production capabilities</a:t>
            </a:r>
          </a:p>
          <a:p>
            <a:r>
              <a:rPr sz="1100" b="0">
                <a:latin typeface="Calibri"/>
              </a:rPr>
              <a:t>• Diverse commodity portfolio reducing risk</a:t>
            </a:r>
          </a:p>
          <a:p>
            <a:r>
              <a:rPr sz="1100" b="0">
                <a:latin typeface="Calibri"/>
              </a:rPr>
              <a:t>• Strong operational expertise</a:t>
            </a:r>
          </a:p>
          <a:p>
            <a:r>
              <a:rPr sz="1100" b="0">
                <a:latin typeface="Calibri"/>
              </a:rPr>
              <a:t>• Strategic asset locations</a:t>
            </a:r>
          </a:p>
        </p:txBody>
      </p:sp>
    </p:spTree>
    <p:extLst>
      <p:ext uri="{BB962C8B-B14F-4D97-AF65-F5344CB8AC3E}">
        <p14:creationId xmlns:p14="http://schemas.microsoft.com/office/powerpoint/2010/main" val="299631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Management Analysis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
            <a:r>
              <a:rPr sz="1100" b="0">
                <a:latin typeface="Calibri"/>
              </a:rPr>
              <a:t>Leadership Team:</a:t>
            </a:r>
          </a:p>
          <a:p>
            <a:r>
              <a:rPr sz="1100" b="0">
                <a:latin typeface="Calibri"/>
              </a:rPr>
              <a:t>Anil Agarwal - Chairman: Founder and visionary leader with over 40 years of industry experience, known for bold strategic decisions.</a:t>
            </a:r>
          </a:p>
          <a:p/>
          <a:p>
            <a:r>
              <a:rPr sz="1100" b="0">
                <a:latin typeface="Calibri"/>
              </a:rPr>
              <a:t>Key Management Metrics:</a:t>
            </a:r>
          </a:p>
          <a:p>
            <a:r>
              <a:rPr sz="1100" b="0">
                <a:latin typeface="Calibri"/>
              </a:rPr>
              <a:t>• Experience: Excellent</a:t>
            </a:r>
          </a:p>
          <a:p>
            <a:r>
              <a:rPr sz="1100" b="0">
                <a:latin typeface="Calibri"/>
              </a:rPr>
              <a:t>• Track Record: Strong</a:t>
            </a:r>
          </a:p>
          <a:p>
            <a:r>
              <a:rPr sz="1100" b="0">
                <a:latin typeface="Calibri"/>
              </a:rPr>
              <a:t>• Corporate Governance: Good</a:t>
            </a:r>
          </a:p>
          <a:p>
            <a:r>
              <a:rPr sz="1100" b="0">
                <a:latin typeface="Calibri"/>
              </a:rPr>
              <a:t>• Capital Allocation: Above Average</a:t>
            </a:r>
          </a:p>
          <a:p/>
          <a:p>
            <a:r>
              <a:rPr sz="1100" b="0">
                <a:latin typeface="Calibri"/>
              </a:rPr>
              <a:t>Strategic Direction:</a:t>
            </a:r>
          </a:p>
          <a:p>
            <a:r>
              <a:rPr sz="1100" b="0">
                <a:latin typeface="Calibri"/>
              </a:rPr>
              <a:t>The management has outlined a clear growth strategy focusing on capacity expansion in aluminum and zinc, exploration and development of new resources, ESG improvements and sustainability initiatives, and digital transformation of operations.</a:t>
            </a:r>
          </a:p>
        </p:txBody>
      </p:sp>
    </p:spTree>
    <p:extLst>
      <p:ext uri="{BB962C8B-B14F-4D97-AF65-F5344CB8AC3E}">
        <p14:creationId xmlns:p14="http://schemas.microsoft.com/office/powerpoint/2010/main" val="1884238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Industry Overview</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
            <a:r>
              <a:rPr sz="1100" b="0">
                <a:latin typeface="Calibri"/>
              </a:rPr>
              <a:t>Industry Size &amp; Structure:</a:t>
            </a:r>
          </a:p>
          <a:p>
            <a:r>
              <a:rPr sz="1100" b="0">
                <a:latin typeface="Calibri"/>
              </a:rPr>
              <a:t>The mining and metals industry is a significant contributor to the global economy. The Total Addressable Market for this sector is vast, driven by demand for essential metals such as aluminum, copper, zinc, and iron ore.</a:t>
            </a:r>
          </a:p>
          <a:p/>
          <a:p>
            <a:r>
              <a:rPr sz="1100" b="0">
                <a:latin typeface="Calibri"/>
              </a:rPr>
              <a:t>Market Dynamics:</a:t>
            </a:r>
          </a:p>
          <a:p>
            <a:r>
              <a:rPr sz="1100" b="0">
                <a:latin typeface="Calibri"/>
              </a:rPr>
              <a:t>• Total global mining market: $2.1 trillion</a:t>
            </a:r>
          </a:p>
          <a:p>
            <a:r>
              <a:rPr sz="1100" b="0">
                <a:latin typeface="Calibri"/>
              </a:rPr>
              <a:t>• Base metals segment: $650 billion</a:t>
            </a:r>
          </a:p>
          <a:p>
            <a:r>
              <a:rPr sz="1100" b="0">
                <a:latin typeface="Calibri"/>
              </a:rPr>
              <a:t>• Expected CAGR: 4.5% (2024-2030)</a:t>
            </a:r>
          </a:p>
          <a:p/>
          <a:p>
            <a:r>
              <a:rPr sz="1100" b="0">
                <a:latin typeface="Calibri"/>
              </a:rPr>
              <a:t>Indian Market Position:</a:t>
            </a:r>
          </a:p>
          <a:p>
            <a:r>
              <a:rPr sz="1100" b="0">
                <a:latin typeface="Calibri"/>
              </a:rPr>
              <a:t>• India is the 3rd largest producer of coal</a:t>
            </a:r>
          </a:p>
          <a:p>
            <a:r>
              <a:rPr sz="1100" b="0">
                <a:latin typeface="Calibri"/>
              </a:rPr>
              <a:t>• 4th largest producer of iron ore</a:t>
            </a:r>
          </a:p>
          <a:p>
            <a:r>
              <a:rPr sz="1100" b="0">
                <a:latin typeface="Calibri"/>
              </a:rPr>
              <a:t>• Significant growth potential in base metals</a:t>
            </a:r>
          </a:p>
        </p:txBody>
      </p:sp>
    </p:spTree>
    <p:extLst>
      <p:ext uri="{BB962C8B-B14F-4D97-AF65-F5344CB8AC3E}">
        <p14:creationId xmlns:p14="http://schemas.microsoft.com/office/powerpoint/2010/main" val="277193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Key Industry Tailwinds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
            <a:r>
              <a:rPr sz="1100" b="0">
                <a:latin typeface="Calibri"/>
              </a:rPr>
              <a:t>Structural Growth Drivers:</a:t>
            </a:r>
          </a:p>
          <a:p/>
          <a:p>
            <a:r>
              <a:rPr sz="1100" b="0">
                <a:latin typeface="Calibri"/>
              </a:rPr>
              <a:t>1. Infrastructure Development</a:t>
            </a:r>
          </a:p>
          <a:p>
            <a:r>
              <a:rPr sz="1100" b="0">
                <a:latin typeface="Calibri"/>
              </a:rPr>
              <a:t>• Government's infrastructure push (PM Gati Shakti)</a:t>
            </a:r>
          </a:p>
          <a:p>
            <a:r>
              <a:rPr sz="1100" b="0">
                <a:latin typeface="Calibri"/>
              </a:rPr>
              <a:t>• National Infrastructure Pipeline: ₹111 lakh crore investment</a:t>
            </a:r>
          </a:p>
          <a:p>
            <a:r>
              <a:rPr sz="1100" b="0">
                <a:latin typeface="Calibri"/>
              </a:rPr>
              <a:t>• Increased demand for steel, aluminum, and copper</a:t>
            </a:r>
          </a:p>
          <a:p/>
          <a:p>
            <a:r>
              <a:rPr sz="1100" b="0">
                <a:latin typeface="Calibri"/>
              </a:rPr>
              <a:t>2. Electric Vehicle Revolution</a:t>
            </a:r>
          </a:p>
          <a:p>
            <a:r>
              <a:rPr sz="1100" b="0">
                <a:latin typeface="Calibri"/>
              </a:rPr>
              <a:t>• EV adoption driving copper and aluminum demand</a:t>
            </a:r>
          </a:p>
          <a:p>
            <a:r>
              <a:rPr sz="1100" b="0">
                <a:latin typeface="Calibri"/>
              </a:rPr>
              <a:t>• Battery metals gaining importance</a:t>
            </a:r>
          </a:p>
          <a:p>
            <a:r>
              <a:rPr sz="1100" b="0">
                <a:latin typeface="Calibri"/>
              </a:rPr>
              <a:t>• India's EV sales growing at 40%+ CAGR</a:t>
            </a:r>
          </a:p>
          <a:p/>
          <a:p>
            <a:r>
              <a:rPr sz="1100" b="0">
                <a:latin typeface="Calibri"/>
              </a:rPr>
              <a:t>3. Renewable Energy Expansion</a:t>
            </a:r>
          </a:p>
          <a:p>
            <a:r>
              <a:rPr sz="1100" b="0">
                <a:latin typeface="Calibri"/>
              </a:rPr>
              <a:t>• Solar and wind capacity additions</a:t>
            </a:r>
          </a:p>
          <a:p>
            <a:r>
              <a:rPr sz="1100" b="0">
                <a:latin typeface="Calibri"/>
              </a:rPr>
              <a:t>• Transmission infrastructure build-out</a:t>
            </a:r>
          </a:p>
          <a:p>
            <a:r>
              <a:rPr sz="1100" b="0">
                <a:latin typeface="Calibri"/>
              </a:rPr>
              <a:t>• Energy storage requirements</a:t>
            </a:r>
          </a:p>
          <a:p/>
          <a:p>
            <a:r>
              <a:rPr sz="1100" b="0">
                <a:latin typeface="Calibri"/>
              </a:rPr>
              <a:t>4. Manufacturing Renaissance</a:t>
            </a:r>
          </a:p>
          <a:p>
            <a:r>
              <a:rPr sz="1100" b="0">
                <a:latin typeface="Calibri"/>
              </a:rPr>
              <a:t>• PLI schemes attracting investment</a:t>
            </a:r>
          </a:p>
          <a:p>
            <a:r>
              <a:rPr sz="1100" b="0">
                <a:latin typeface="Calibri"/>
              </a:rPr>
              <a:t>• China+1 strategy benefiting India</a:t>
            </a:r>
          </a:p>
          <a:p/>
          <a:p>
            <a:r>
              <a:rPr sz="1100" b="0">
                <a:latin typeface="Calibri"/>
              </a:rPr>
              <a:t>5. Urbanization Trends</a:t>
            </a:r>
          </a:p>
          <a:p>
            <a:r>
              <a:rPr sz="1100" b="0">
                <a:latin typeface="Calibri"/>
              </a:rPr>
              <a:t>• 40% urbanization currently, growing to 50% by 2030</a:t>
            </a:r>
          </a:p>
          <a:p>
            <a:r>
              <a:rPr sz="1100" b="0">
                <a:latin typeface="Calibri"/>
              </a:rPr>
              <a:t>• Housing and construction demand</a:t>
            </a:r>
          </a:p>
          <a:p/>
          <a:p>
            <a:r>
              <a:rPr sz="1100" b="0">
                <a:latin typeface="Calibri"/>
              </a:rPr>
              <a:t>Government Policy Support:</a:t>
            </a:r>
          </a:p>
          <a:p>
            <a:r>
              <a:rPr sz="1100" b="0">
                <a:latin typeface="Calibri"/>
              </a:rPr>
              <a:t>National Mineral Policy 2019, mining reforms and auction regime, export restrictions protecting domestic supply.</a:t>
            </a:r>
          </a:p>
        </p:txBody>
      </p:sp>
    </p:spTree>
    <p:extLst>
      <p:ext uri="{BB962C8B-B14F-4D97-AF65-F5344CB8AC3E}">
        <p14:creationId xmlns:p14="http://schemas.microsoft.com/office/powerpoint/2010/main" val="481177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Demand Drivers for Vedanta Ltd.</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
            <a:r>
              <a:rPr sz="1100" b="0">
                <a:latin typeface="Calibri"/>
              </a:rPr>
              <a:t>End-User Industries:</a:t>
            </a:r>
          </a:p>
          <a:p/>
          <a:p>
            <a:r>
              <a:rPr sz="1100" b="0">
                <a:latin typeface="Calibri"/>
              </a:rPr>
              <a:t>1. Construction &amp; Infrastructure (35% of demand)</a:t>
            </a:r>
          </a:p>
          <a:p>
            <a:r>
              <a:rPr sz="1100" b="0">
                <a:latin typeface="Calibri"/>
              </a:rPr>
              <a:t>• Real estate development</a:t>
            </a:r>
          </a:p>
          <a:p>
            <a:r>
              <a:rPr sz="1100" b="0">
                <a:latin typeface="Calibri"/>
              </a:rPr>
              <a:t>• Road and highway construction</a:t>
            </a:r>
          </a:p>
          <a:p>
            <a:r>
              <a:rPr sz="1100" b="0">
                <a:latin typeface="Calibri"/>
              </a:rPr>
              <a:t>• Port and airport development</a:t>
            </a:r>
          </a:p>
          <a:p/>
          <a:p>
            <a:r>
              <a:rPr sz="1100" b="0">
                <a:latin typeface="Calibri"/>
              </a:rPr>
              <a:t>2. Automotive Sector (20% of demand)</a:t>
            </a:r>
          </a:p>
          <a:p>
            <a:r>
              <a:rPr sz="1100" b="0">
                <a:latin typeface="Calibri"/>
              </a:rPr>
              <a:t>• Passenger and commercial vehicles</a:t>
            </a:r>
          </a:p>
          <a:p>
            <a:r>
              <a:rPr sz="1100" b="0">
                <a:latin typeface="Calibri"/>
              </a:rPr>
              <a:t>• Two-wheelers and EV components</a:t>
            </a:r>
          </a:p>
          <a:p/>
          <a:p>
            <a:r>
              <a:rPr sz="1100" b="0">
                <a:latin typeface="Calibri"/>
              </a:rPr>
              <a:t>3. Electrical &amp; Electronics (18% of demand)</a:t>
            </a:r>
          </a:p>
          <a:p>
            <a:r>
              <a:rPr sz="1100" b="0">
                <a:latin typeface="Calibri"/>
              </a:rPr>
              <a:t>• Power cables and wiring</a:t>
            </a:r>
          </a:p>
          <a:p>
            <a:r>
              <a:rPr sz="1100" b="0">
                <a:latin typeface="Calibri"/>
              </a:rPr>
              <a:t>• Consumer electronics</a:t>
            </a:r>
          </a:p>
          <a:p/>
          <a:p>
            <a:r>
              <a:rPr sz="1100" b="0">
                <a:latin typeface="Calibri"/>
              </a:rPr>
              <a:t>4. Packaging Industry (12% of demand)</a:t>
            </a:r>
          </a:p>
          <a:p>
            <a:r>
              <a:rPr sz="1100" b="0">
                <a:latin typeface="Calibri"/>
              </a:rPr>
              <a:t>• Beverage cans</a:t>
            </a:r>
          </a:p>
          <a:p>
            <a:r>
              <a:rPr sz="1100" b="0">
                <a:latin typeface="Calibri"/>
              </a:rPr>
              <a:t>• Food and pharmaceutical packaging</a:t>
            </a:r>
          </a:p>
          <a:p/>
          <a:p>
            <a:r>
              <a:rPr sz="1100" b="0">
                <a:latin typeface="Calibri"/>
              </a:rPr>
              <a:t>5. Other Industries (15% of demand)</a:t>
            </a:r>
          </a:p>
          <a:p>
            <a:r>
              <a:rPr sz="1100" b="0">
                <a:latin typeface="Calibri"/>
              </a:rPr>
              <a:t>• Aerospace and defense</a:t>
            </a:r>
          </a:p>
          <a:p>
            <a:r>
              <a:rPr sz="1100" b="0">
                <a:latin typeface="Calibri"/>
              </a:rPr>
              <a:t>• Industrial machinery</a:t>
            </a:r>
          </a:p>
          <a:p/>
          <a:p>
            <a:r>
              <a:rPr sz="1100" b="0">
                <a:latin typeface="Calibri"/>
              </a:rPr>
              <a:t>Growth Outlook by Segment:</a:t>
            </a:r>
          </a:p>
          <a:p>
            <a:r>
              <a:rPr sz="1100" b="0">
                <a:latin typeface="Calibri"/>
              </a:rPr>
              <a:t>• Construction: 8% current, 10% outlook</a:t>
            </a:r>
          </a:p>
          <a:p>
            <a:r>
              <a:rPr sz="1100" b="0">
                <a:latin typeface="Calibri"/>
              </a:rPr>
              <a:t>• Automotive: 12% current, 15% outlook</a:t>
            </a:r>
          </a:p>
          <a:p>
            <a:r>
              <a:rPr sz="1100" b="0">
                <a:latin typeface="Calibri"/>
              </a:rPr>
              <a:t>• Electronics: 15% current, 18% outlook</a:t>
            </a:r>
          </a:p>
        </p:txBody>
      </p:sp>
    </p:spTree>
    <p:extLst>
      <p:ext uri="{BB962C8B-B14F-4D97-AF65-F5344CB8AC3E}">
        <p14:creationId xmlns:p14="http://schemas.microsoft.com/office/powerpoint/2010/main" val="3961813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182880" tIns="228600" rIns="182880" bIns="91440" anchor="t" anchorCtr="0">
            <a:normAutofit/>
          </a:bodyPr>
          <a:lstStyle/>
          <a:p>
            <a:pPr marL="0" lvl="0" indent="0" algn="ctr" rtl="0">
              <a:spcBef>
                <a:spcPts val="0"/>
              </a:spcBef>
              <a:spcAft>
                <a:spcPts val="0"/>
              </a:spcAft>
              <a:buNone/>
            </a:pPr>
            <a:r>
              <a:rPr sz="2000" b="1">
                <a:latin typeface="Calibri"/>
              </a:rPr>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b="0">
                <a:latin typeface="Calibri"/>
              </a:rPr>
              <a:t>Industry Risks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a:p/>
          <a:p>
            <a:r>
              <a:rPr sz="1100" b="0">
                <a:latin typeface="Calibri"/>
              </a:rPr>
              <a:t>Regulatory &amp; Policy Risks:</a:t>
            </a:r>
          </a:p>
          <a:p>
            <a:r>
              <a:rPr sz="1100" b="0">
                <a:latin typeface="Calibri"/>
              </a:rPr>
              <a:t>• Environmental Regulations: Stricter emission norms, water usage restrictions</a:t>
            </a:r>
          </a:p>
          <a:p>
            <a:r>
              <a:rPr sz="1100" b="0">
                <a:latin typeface="Calibri"/>
              </a:rPr>
              <a:t>• Government Policy Changes: Export duty variations, royalty rate changes</a:t>
            </a:r>
          </a:p>
          <a:p>
            <a:r>
              <a:rPr sz="1100" b="0">
                <a:latin typeface="Calibri"/>
              </a:rPr>
              <a:t>• Impact: HIGH | Likelihood: MEDIUM</a:t>
            </a:r>
          </a:p>
          <a:p/>
          <a:p>
            <a:r>
              <a:rPr sz="1100" b="0">
                <a:latin typeface="Calibri"/>
              </a:rPr>
              <a:t>Market Risks:</a:t>
            </a:r>
          </a:p>
          <a:p>
            <a:r>
              <a:rPr sz="1100" b="0">
                <a:latin typeface="Calibri"/>
              </a:rPr>
              <a:t>• Commodity Price Volatility: Global demand-supply dynamics, currency fluctuations</a:t>
            </a:r>
          </a:p>
          <a:p>
            <a:r>
              <a:rPr sz="1100" b="0">
                <a:latin typeface="Calibri"/>
              </a:rPr>
              <a:t>• Competition Intensity: New capacity additions, import competition</a:t>
            </a:r>
          </a:p>
          <a:p>
            <a:r>
              <a:rPr sz="1100" b="0">
                <a:latin typeface="Calibri"/>
              </a:rPr>
              <a:t>• Impact: HIGH | Likelihood: HIGH</a:t>
            </a:r>
          </a:p>
          <a:p/>
          <a:p>
            <a:r>
              <a:rPr sz="1100" b="0">
                <a:latin typeface="Calibri"/>
              </a:rPr>
              <a:t>Operational Risks:</a:t>
            </a:r>
          </a:p>
          <a:p>
            <a:r>
              <a:rPr sz="1100" b="0">
                <a:latin typeface="Calibri"/>
              </a:rPr>
              <a:t>• Resource Depletion: Mine life limitations, grade deterioration</a:t>
            </a:r>
          </a:p>
          <a:p>
            <a:r>
              <a:rPr sz="1100" b="0">
                <a:latin typeface="Calibri"/>
              </a:rPr>
              <a:t>• Labor and Social Issues: Union negotiations, community relations</a:t>
            </a:r>
          </a:p>
          <a:p>
            <a:r>
              <a:rPr sz="1100" b="0">
                <a:latin typeface="Calibri"/>
              </a:rPr>
              <a:t>• Impact: MEDIUM | Likelihood: MEDIUM</a:t>
            </a:r>
          </a:p>
          <a:p/>
          <a:p>
            <a:r>
              <a:rPr sz="1100" b="0">
                <a:latin typeface="Calibri"/>
              </a:rPr>
              <a:t>Mitigation Strategies:</a:t>
            </a:r>
          </a:p>
          <a:p>
            <a:r>
              <a:rPr sz="1100" b="0">
                <a:latin typeface="Calibri"/>
              </a:rPr>
              <a:t>• Diversified commodity portfolio</a:t>
            </a:r>
          </a:p>
          <a:p>
            <a:r>
              <a:rPr sz="1100" b="0">
                <a:latin typeface="Calibri"/>
              </a:rPr>
              <a:t>• Long-term contracts with customers</a:t>
            </a:r>
          </a:p>
          <a:p>
            <a:r>
              <a:rPr sz="1100" b="0">
                <a:latin typeface="Calibri"/>
              </a:rPr>
              <a:t>• Hedging strategies for currency and commodities</a:t>
            </a:r>
          </a:p>
          <a:p>
            <a:r>
              <a:rPr sz="1100" b="0">
                <a:latin typeface="Calibri"/>
              </a:rPr>
              <a:t>• Strong community engagement programs</a:t>
            </a:r>
          </a:p>
        </p:txBody>
      </p:sp>
    </p:spTree>
    <p:extLst>
      <p:ext uri="{BB962C8B-B14F-4D97-AF65-F5344CB8AC3E}">
        <p14:creationId xmlns:p14="http://schemas.microsoft.com/office/powerpoint/2010/main" val="302309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Financials Summary</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Story in charts!</a:t>
            </a:r>
            <a:endParaRPr dirty="0"/>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70050" y="635494"/>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dirty="0">
                <a:solidFill>
                  <a:srgbClr val="1F3864"/>
                </a:solidFill>
                <a:latin typeface="Calibri"/>
                <a:ea typeface="Calibri"/>
                <a:cs typeface="Calibri"/>
                <a:sym typeface="Calibri"/>
              </a:rPr>
              <a:t>About Us: </a:t>
            </a:r>
            <a:r>
              <a:rPr lang="en-GB" sz="1000" dirty="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dirty="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dirty="0">
                <a:solidFill>
                  <a:srgbClr val="1F3864"/>
                </a:solidFill>
                <a:latin typeface="Calibri"/>
                <a:ea typeface="Calibri"/>
                <a:cs typeface="Calibri"/>
                <a:sym typeface="Calibri"/>
              </a:rPr>
              <a:t>Disciplinary history: </a:t>
            </a:r>
            <a:r>
              <a:rPr lang="en-GB" sz="1000" dirty="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dirty="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dirty="0">
                <a:solidFill>
                  <a:srgbClr val="1F3864"/>
                </a:solidFill>
                <a:latin typeface="Calibri"/>
                <a:ea typeface="Calibri"/>
                <a:cs typeface="Calibri"/>
                <a:sym typeface="Calibri"/>
              </a:rPr>
              <a:t>Details of its associates: </a:t>
            </a:r>
            <a:r>
              <a:rPr lang="en-GB" sz="1000" dirty="0">
                <a:solidFill>
                  <a:schemeClr val="dk1"/>
                </a:solidFill>
                <a:latin typeface="Calibri"/>
                <a:ea typeface="Calibri"/>
                <a:cs typeface="Calibri"/>
                <a:sym typeface="Calibri"/>
              </a:rPr>
              <a:t>No associates</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dirty="0">
                <a:solidFill>
                  <a:srgbClr val="1F3864"/>
                </a:solidFill>
                <a:latin typeface="Calibri"/>
                <a:ea typeface="Calibri"/>
                <a:cs typeface="Calibri"/>
                <a:sym typeface="Calibri"/>
              </a:rPr>
              <a:t>Disclosures with respect to Research and Recommendations Services</a:t>
            </a:r>
            <a:endParaRPr sz="1000" b="1" dirty="0">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dirty="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dirty="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dirty="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dirty="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from the company in past 12 months.</a:t>
            </a:r>
            <a:endParaRPr sz="1000" dirty="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dirty="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dirty="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dirty="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dirty="0">
                <a:solidFill>
                  <a:schemeClr val="dk1"/>
                </a:solidFill>
                <a:latin typeface="Calibri"/>
                <a:ea typeface="Calibri"/>
                <a:cs typeface="Calibri"/>
                <a:sym typeface="Calibri"/>
              </a:rPr>
              <a:t>·Investment in securities market are subject to market risks. Read all the related documents carefully before investing</a:t>
            </a: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969</TotalTime>
  <Words>667</Words>
  <Application>Microsoft Office PowerPoint</Application>
  <PresentationFormat>On-screen Show (16:9)</PresentationFormat>
  <Paragraphs>214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Simple Light</vt:lpstr>
      <vt:lpstr>{{company_name}}</vt:lpstr>
      <vt:lpstr>Leader in compliant recycling with multi-metal growth optionality</vt:lpstr>
      <vt:lpstr>{{Company_Background_h}}</vt:lpstr>
      <vt:lpstr>{{Business_Model_Explanation_h}}</vt:lpstr>
      <vt:lpstr>{{Management_Analysis_h}}</vt:lpstr>
      <vt:lpstr>{{Industry_Overview_h}}</vt:lpstr>
      <vt:lpstr>{{Key_Industry_Tailwinds_h}}</vt:lpstr>
      <vt:lpstr>{{Demand_drivers_h}}</vt:lpstr>
      <vt:lpstr>{{Industry_Risks_h}}</vt:lpstr>
      <vt:lpstr>Financials and Ratio Analysis</vt:lpstr>
      <vt:lpstr>Story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31</cp:revision>
  <dcterms:modified xsi:type="dcterms:W3CDTF">2026-02-19T05:53:00Z</dcterms:modified>
</cp:coreProperties>
</file>