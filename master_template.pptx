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3"/>
  </p:notesMasterIdLst>
  <p:sldIdLst>
    <p:sldId id="256" r:id="rId2"/>
    <p:sldId id="261" r:id="rId3"/>
    <p:sldId id="266" r:id="rId4"/>
    <p:sldId id="269" r:id="rId5"/>
    <p:sldId id="265" r:id="rId6"/>
    <p:sldId id="270" r:id="rId7"/>
    <p:sldId id="271" r:id="rId8"/>
    <p:sldId id="272" r:id="rId9"/>
    <p:sldId id="262" r:id="rId10"/>
    <p:sldId id="263" r:id="rId11"/>
    <p:sldId id="264" r:id="rId1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ikona Capital"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81D767D-80EB-4814-8269-C058A5CDB7B2}">
  <a:tblStyle styleId="{181D767D-80EB-4814-8269-C058A5CDB7B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60" autoAdjust="0"/>
    <p:restoredTop sz="94660"/>
  </p:normalViewPr>
  <p:slideViewPr>
    <p:cSldViewPr snapToGrid="0">
      <p:cViewPr varScale="1">
        <p:scale>
          <a:sx n="85" d="100"/>
          <a:sy n="85" d="100"/>
        </p:scale>
        <p:origin x="906" y="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22T04:20:50.161" idx="1">
    <p:pos x="0" y="364"/>
    <p:text>sign add</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bb05c92415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3C190A2B-1082-DEE6-1257-B3CB6ADD7476}"/>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4CCDF7EE-888A-71B3-9AA2-AD5CBCF052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6F470D1D-EE18-743D-52A1-773DC976A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937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EBF8A51A-FEAA-A88F-7BD4-AE012C578B55}"/>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CB880836-B27D-452E-E2C0-69274B898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7EDEEDDA-DCB4-61C8-4FC4-445103AA13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52078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980BC53A-D270-ABD8-A9D5-705561783049}"/>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B41FDA0-207C-CE01-27A3-C473DF5E3F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8B6B8BC-89CF-1276-0DA5-5A04A38D81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04184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24401E0-5270-F8F2-DB42-7DB220C75A0C}"/>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EA56A6C-4A4D-D12A-7C40-B661A724EA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4F3E957-8B28-2D14-DB42-D982B855D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5938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F327DA9C-A76C-EE42-59B8-0B1C971D7DFD}"/>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0BC57488-6BDA-118F-B43E-3E570CDCB6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2FA75738-BDBD-A857-157C-13E1066003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259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689D2BA-5EC3-B160-2C65-121A615E6214}"/>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5C41AF30-A169-D40D-A47B-CA3487D690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8F66EA67-3F0D-1501-6414-FEF6DE6B5E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13792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bb05c9241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bb05c9241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bcf1f9ec5d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bcf1f9ec5d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bb05c92415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bb05c92415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2" name="Google Shape;12;p2"/>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5" name="Google Shape;15;p3"/>
          <p:cNvSpPr txBox="1">
            <a:spLocks noGrp="1"/>
          </p:cNvSpPr>
          <p:nvPr>
            <p:ph type="title"/>
          </p:nvPr>
        </p:nvSpPr>
        <p:spPr>
          <a:xfrm>
            <a:off x="4662275" y="0"/>
            <a:ext cx="44817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
        <p:nvSpPr>
          <p:cNvPr id="16" name="Google Shape;16;p3"/>
          <p:cNvSpPr txBox="1">
            <a:spLocks noGrp="1"/>
          </p:cNvSpPr>
          <p:nvPr>
            <p:ph type="title" idx="2"/>
          </p:nvPr>
        </p:nvSpPr>
        <p:spPr>
          <a:xfrm>
            <a:off x="0" y="0"/>
            <a:ext cx="44283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17" name="Google Shape;17;p3"/>
          <p:cNvCxnSpPr/>
          <p:nvPr/>
        </p:nvCxnSpPr>
        <p:spPr>
          <a:xfrm>
            <a:off x="4533925" y="94425"/>
            <a:ext cx="24000" cy="4852500"/>
          </a:xfrm>
          <a:prstGeom prst="straightConnector1">
            <a:avLst/>
          </a:prstGeom>
          <a:noFill/>
          <a:ln w="9525" cap="flat" cmpd="sng">
            <a:solidFill>
              <a:srgbClr val="FFA5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8" name="Google Shape;4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9" name="Google Shape;4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 name="Google Shape;5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3" name="Google Shape;5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sp>
        <p:nvSpPr>
          <p:cNvPr id="55" name="Google Shape;5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6" name="Google Shape;5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7" name="Google Shape;5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1">
            <a:alphaModFix/>
          </a:blip>
          <a:srcRect/>
          <a:stretch/>
        </p:blipFill>
        <p:spPr>
          <a:xfrm>
            <a:off x="0" y="4865050"/>
            <a:ext cx="1120900" cy="278450"/>
          </a:xfrm>
          <a:prstGeom prst="rect">
            <a:avLst/>
          </a:prstGeom>
          <a:noFill/>
          <a:ln w="9525" cap="flat" cmpd="sng">
            <a:solidFill>
              <a:srgbClr val="1F4690"/>
            </a:solidFill>
            <a:prstDash val="solid"/>
            <a:round/>
            <a:headEnd type="none" w="sm" len="sm"/>
            <a:tailEnd type="none" w="sm" len="sm"/>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3"/>
          <p:cNvSpPr txBox="1">
            <a:spLocks noGrp="1"/>
          </p:cNvSpPr>
          <p:nvPr>
            <p:ph type="ctrTitle" idx="4294967295"/>
          </p:nvPr>
        </p:nvSpPr>
        <p:spPr>
          <a:xfrm>
            <a:off x="311708" y="744575"/>
            <a:ext cx="8520600" cy="2052600"/>
          </a:xfrm>
          <a:prstGeom prst="rect">
            <a:avLst/>
          </a:prstGeom>
          <a:solidFill>
            <a:srgbClr val="1F4690"/>
          </a:solidFill>
        </p:spPr>
        <p:txBody>
          <a:bodyPr spcFirstLastPara="1" wrap="square" lIns="91425" tIns="91425" rIns="91425" bIns="91425" anchor="ctr" anchorCtr="0">
            <a:normAutofit/>
          </a:bodyPr>
          <a:lstStyle/>
          <a:p>
            <a:pPr marL="0" lvl="0" indent="0" algn="ctr" rtl="0">
              <a:spcBef>
                <a:spcPts val="0"/>
              </a:spcBef>
              <a:spcAft>
                <a:spcPts val="0"/>
              </a:spcAft>
              <a:buNone/>
            </a:pPr>
            <a:r>
              <a:rPr lang="en-GB" sz="4000" b="1" dirty="0">
                <a:solidFill>
                  <a:schemeClr val="lt1"/>
                </a:solidFill>
                <a:latin typeface="Calibri"/>
                <a:ea typeface="Calibri"/>
                <a:cs typeface="Calibri"/>
                <a:sym typeface="Calibri"/>
              </a:rPr>
              <a:t>{{</a:t>
            </a:r>
            <a:r>
              <a:rPr lang="en-GB" sz="4000" b="1" dirty="0" err="1">
                <a:solidFill>
                  <a:schemeClr val="lt1"/>
                </a:solidFill>
                <a:latin typeface="Calibri"/>
                <a:ea typeface="Calibri"/>
                <a:cs typeface="Calibri"/>
                <a:sym typeface="Calibri"/>
              </a:rPr>
              <a:t>company_name</a:t>
            </a:r>
            <a:r>
              <a:rPr lang="en-GB" sz="4000" b="1" dirty="0">
                <a:solidFill>
                  <a:schemeClr val="lt1"/>
                </a:solidFill>
                <a:latin typeface="Calibri"/>
                <a:ea typeface="Calibri"/>
                <a:cs typeface="Calibri"/>
                <a:sym typeface="Calibri"/>
              </a:rPr>
              <a:t>}}</a:t>
            </a:r>
            <a:endParaRPr sz="4000" b="1" dirty="0">
              <a:solidFill>
                <a:schemeClr val="lt1"/>
              </a:solidFill>
              <a:latin typeface="Calibri"/>
              <a:ea typeface="Calibri"/>
              <a:cs typeface="Calibri"/>
              <a:sym typeface="Calibri"/>
            </a:endParaRPr>
          </a:p>
        </p:txBody>
      </p:sp>
      <p:sp>
        <p:nvSpPr>
          <p:cNvPr id="65" name="Google Shape;65;p13"/>
          <p:cNvSpPr txBox="1">
            <a:spLocks noGrp="1"/>
          </p:cNvSpPr>
          <p:nvPr>
            <p:ph type="subTitle" idx="4294967295"/>
          </p:nvPr>
        </p:nvSpPr>
        <p:spPr>
          <a:xfrm>
            <a:off x="311700" y="2919175"/>
            <a:ext cx="8520600" cy="792600"/>
          </a:xfrm>
          <a:prstGeom prst="rect">
            <a:avLst/>
          </a:prstGeom>
          <a:solidFill>
            <a:srgbClr val="FFE5B4"/>
          </a:solidFill>
        </p:spPr>
        <p:txBody>
          <a:bodyPr spcFirstLastPara="1" wrap="square" lIns="91425" tIns="91425" rIns="91425" bIns="91425" anchor="ctr" anchorCtr="0">
            <a:normAutofit fontScale="92500" lnSpcReduction="20000"/>
          </a:bodyPr>
          <a:lstStyle/>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NSE:{{</a:t>
            </a:r>
            <a:r>
              <a:rPr lang="en-GB" sz="1375" b="1" dirty="0" err="1">
                <a:solidFill>
                  <a:schemeClr val="dk1"/>
                </a:solidFill>
                <a:latin typeface="Calibri"/>
                <a:ea typeface="Calibri"/>
                <a:cs typeface="Calibri"/>
                <a:sym typeface="Calibri"/>
              </a:rPr>
              <a:t>nse_symbol</a:t>
            </a:r>
            <a:r>
              <a:rPr lang="en-GB" sz="1375" b="1" dirty="0">
                <a:solidFill>
                  <a:schemeClr val="dk1"/>
                </a:solidFill>
                <a:latin typeface="Calibri"/>
                <a:ea typeface="Calibri"/>
                <a:cs typeface="Calibri"/>
                <a:sym typeface="Calibri"/>
              </a:rPr>
              <a:t>}} | BOM:{{</a:t>
            </a:r>
            <a:r>
              <a:rPr lang="en-GB" sz="1375" b="1" dirty="0" err="1">
                <a:solidFill>
                  <a:schemeClr val="dk1"/>
                </a:solidFill>
                <a:latin typeface="Calibri"/>
                <a:ea typeface="Calibri"/>
                <a:cs typeface="Calibri"/>
                <a:sym typeface="Calibri"/>
              </a:rPr>
              <a:t>bom_code</a:t>
            </a:r>
            <a:r>
              <a:rPr lang="en-GB" sz="1375" b="1" dirty="0">
                <a:solidFill>
                  <a:schemeClr val="dk1"/>
                </a:solidFill>
                <a:latin typeface="Calibri"/>
                <a:ea typeface="Calibri"/>
                <a:cs typeface="Calibri"/>
                <a:sym typeface="Calibri"/>
              </a:rPr>
              <a:t>}} | Rating: {{rating}}</a:t>
            </a:r>
          </a:p>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Date: {{</a:t>
            </a:r>
            <a:r>
              <a:rPr lang="en-GB" sz="1375" b="1" dirty="0" err="1">
                <a:solidFill>
                  <a:schemeClr val="dk1"/>
                </a:solidFill>
                <a:latin typeface="Calibri"/>
                <a:ea typeface="Calibri"/>
                <a:cs typeface="Calibri"/>
                <a:sym typeface="Calibri"/>
              </a:rPr>
              <a:t>today_date</a:t>
            </a:r>
            <a:r>
              <a:rPr lang="en-GB" sz="1375" b="1" dirty="0">
                <a:solidFill>
                  <a:schemeClr val="dk1"/>
                </a:solidFill>
                <a:latin typeface="Calibri"/>
                <a:ea typeface="Calibri"/>
                <a:cs typeface="Calibri"/>
                <a:sym typeface="Calibri"/>
              </a:rPr>
              <a:t>}}</a:t>
            </a:r>
            <a:endParaRPr sz="1375" b="1"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Company Background</a:t>
            </a:r>
            <a:endParaRPr dirty="0"/>
          </a:p>
        </p:txBody>
      </p:sp>
      <p:sp>
        <p:nvSpPr>
          <p:cNvPr id="103" name="Google Shape;103;p18"/>
          <p:cNvSpPr txBox="1"/>
          <p:nvPr/>
        </p:nvSpPr>
        <p:spPr>
          <a:xfrm>
            <a:off x="0" y="54360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1" algn="just"/>
            <a:r>
              <a:rPr lang="en-US" sz="1000" dirty="0">
                <a:solidFill>
                  <a:schemeClr val="dk1"/>
                </a:solidFill>
                <a:latin typeface="Calibri"/>
                <a:ea typeface="Calibri"/>
                <a:cs typeface="Calibri"/>
                <a:sym typeface="Calibri"/>
              </a:rPr>
              <a:t> {{</a:t>
            </a:r>
            <a:r>
              <a:rPr lang="en-US" sz="1000" dirty="0" err="1">
                <a:solidFill>
                  <a:schemeClr val="dk1"/>
                </a:solidFill>
                <a:latin typeface="Calibri"/>
                <a:ea typeface="Calibri"/>
                <a:cs typeface="Calibri"/>
                <a:sym typeface="Calibri"/>
              </a:rPr>
              <a:t>company_background</a:t>
            </a:r>
            <a:r>
              <a:rPr lang="en-US" sz="1000" dirty="0">
                <a:solidFill>
                  <a:schemeClr val="dk1"/>
                </a:solidFill>
                <a:latin typeface="Calibri"/>
                <a:ea typeface="Calibri"/>
                <a:cs typeface="Calibri"/>
                <a:sym typeface="Calibri"/>
              </a:rPr>
              <a:t>}}</a:t>
            </a: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sz="1000" dirty="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FAD0D60-5275-84AE-A01D-5C293117907D}"/>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789E8541-3656-D6AE-7758-C57E83AB017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Business Model Explanation</a:t>
            </a:r>
            <a:endParaRPr dirty="0"/>
          </a:p>
        </p:txBody>
      </p:sp>
      <p:sp>
        <p:nvSpPr>
          <p:cNvPr id="103" name="Google Shape;103;p18">
            <a:extLst>
              <a:ext uri="{FF2B5EF4-FFF2-40B4-BE49-F238E27FC236}">
                <a16:creationId xmlns:a16="http://schemas.microsoft.com/office/drawing/2014/main" id="{0B022806-FF18-A70B-0096-6E7E4CF88860}"/>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business_model</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96311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F690E7C3-0D46-8142-577A-0C5753B9DE32}"/>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7E19E58-FD14-45C9-C665-CC1CD4B6B25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Management Analysis</a:t>
            </a:r>
            <a:endParaRPr dirty="0"/>
          </a:p>
        </p:txBody>
      </p:sp>
      <p:sp>
        <p:nvSpPr>
          <p:cNvPr id="103" name="Google Shape;103;p18">
            <a:extLst>
              <a:ext uri="{FF2B5EF4-FFF2-40B4-BE49-F238E27FC236}">
                <a16:creationId xmlns:a16="http://schemas.microsoft.com/office/drawing/2014/main" id="{6BF73CCD-0EE9-D178-E0EE-DBE8BACE316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management_analysis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842382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83028637-C7E8-1027-CF6F-11A001994C95}"/>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3C72DCED-094C-9F6B-1B28-0C9FAC247A12}"/>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Industry Overview</a:t>
            </a:r>
            <a:endParaRPr dirty="0"/>
          </a:p>
        </p:txBody>
      </p:sp>
      <p:sp>
        <p:nvSpPr>
          <p:cNvPr id="103" name="Google Shape;103;p18">
            <a:extLst>
              <a:ext uri="{FF2B5EF4-FFF2-40B4-BE49-F238E27FC236}">
                <a16:creationId xmlns:a16="http://schemas.microsoft.com/office/drawing/2014/main" id="{3EF6F868-E6FA-528A-EB17-E7AA64837568}"/>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industry_overview</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1932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B9AD7384-8D9A-4E27-361F-1541B231D334}"/>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282A215E-AAE7-F4C1-216D-6AD0C7EB9D7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Key Industry Tailwinds</a:t>
            </a:r>
            <a:endParaRPr dirty="0"/>
          </a:p>
        </p:txBody>
      </p:sp>
      <p:sp>
        <p:nvSpPr>
          <p:cNvPr id="103" name="Google Shape;103;p18">
            <a:extLst>
              <a:ext uri="{FF2B5EF4-FFF2-40B4-BE49-F238E27FC236}">
                <a16:creationId xmlns:a16="http://schemas.microsoft.com/office/drawing/2014/main" id="{7E730C0C-A0CB-D1A8-865F-26DAB5B55E5C}"/>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industry_tailwinds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811773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EB4D1E24-8E50-6B9E-737F-93AE4CF63957}"/>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2F583F2-F833-28A7-9673-BBE9AD5961BA}"/>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Demand drivers</a:t>
            </a:r>
            <a:endParaRPr dirty="0"/>
          </a:p>
        </p:txBody>
      </p:sp>
      <p:sp>
        <p:nvSpPr>
          <p:cNvPr id="103" name="Google Shape;103;p18">
            <a:extLst>
              <a:ext uri="{FF2B5EF4-FFF2-40B4-BE49-F238E27FC236}">
                <a16:creationId xmlns:a16="http://schemas.microsoft.com/office/drawing/2014/main" id="{00A4DE28-F00E-19A8-D0C7-CB03E6163359}"/>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demand_drivers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618135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5369FFD1-328D-C386-CF68-92179F159FCF}"/>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CF2746A6-609C-ED62-DBA0-F63389FE81B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Industry Risks</a:t>
            </a:r>
            <a:endParaRPr dirty="0"/>
          </a:p>
        </p:txBody>
      </p:sp>
      <p:sp>
        <p:nvSpPr>
          <p:cNvPr id="103" name="Google Shape;103;p18">
            <a:extLst>
              <a:ext uri="{FF2B5EF4-FFF2-40B4-BE49-F238E27FC236}">
                <a16:creationId xmlns:a16="http://schemas.microsoft.com/office/drawing/2014/main" id="{4F3CD53B-0D34-3E85-C664-97E2B3F3E2A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industry_risk</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IN"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23098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Financials and Ratio Analysis</a:t>
            </a:r>
            <a:endParaRPr/>
          </a:p>
        </p:txBody>
      </p:sp>
      <p:sp>
        <p:nvSpPr>
          <p:cNvPr id="3" name="Title 2">
            <a:extLst>
              <a:ext uri="{FF2B5EF4-FFF2-40B4-BE49-F238E27FC236}">
                <a16:creationId xmlns:a16="http://schemas.microsoft.com/office/drawing/2014/main" id="{F9E735C5-A5DA-5348-B44B-71E3B9F63E9A}"/>
              </a:ext>
            </a:extLst>
          </p:cNvPr>
          <p:cNvSpPr>
            <a:spLocks noGrp="1"/>
          </p:cNvSpPr>
          <p:nvPr>
            <p:ph type="title"/>
          </p:nvPr>
        </p:nvSpPr>
        <p:spPr/>
        <p:txBody>
          <a:bodyPr/>
          <a:lstStyle/>
          <a:p>
            <a:endParaRPr lang="en-IN" dirty="0"/>
          </a:p>
        </p:txBody>
      </p:sp>
      <p:sp>
        <p:nvSpPr>
          <p:cNvPr id="5" name="Title 4">
            <a:extLst>
              <a:ext uri="{FF2B5EF4-FFF2-40B4-BE49-F238E27FC236}">
                <a16:creationId xmlns:a16="http://schemas.microsoft.com/office/drawing/2014/main" id="{78C8FD2B-7D8D-BFE6-9940-30B1DA00CBCF}"/>
              </a:ext>
            </a:extLst>
          </p:cNvPr>
          <p:cNvSpPr>
            <a:spLocks noGrp="1"/>
          </p:cNvSpPr>
          <p:nvPr>
            <p:ph type="title"/>
          </p:nvPr>
        </p:nvSpPr>
        <p:spPr/>
        <p:txBody>
          <a:bodyPr/>
          <a:lstStyle/>
          <a:p>
            <a:endParaRPr lang="en-IN" dirty="0"/>
          </a:p>
        </p:txBody>
      </p:sp>
      <p:sp>
        <p:nvSpPr>
          <p:cNvPr id="7" name="Title 6">
            <a:extLst>
              <a:ext uri="{FF2B5EF4-FFF2-40B4-BE49-F238E27FC236}">
                <a16:creationId xmlns:a16="http://schemas.microsoft.com/office/drawing/2014/main" id="{CEF2C673-0B9A-CDB6-EE2A-5CFAECCEA9F2}"/>
              </a:ext>
            </a:extLst>
          </p:cNvPr>
          <p:cNvSpPr>
            <a:spLocks noGrp="1"/>
          </p:cNvSpPr>
          <p:nvPr>
            <p:ph type="title"/>
          </p:nvPr>
        </p:nvSpPr>
        <p:spPr/>
        <p:txBody>
          <a:bodyPr/>
          <a:lstStyle/>
          <a:p>
            <a:endParaRPr lang="en-IN" dirty="0"/>
          </a:p>
        </p:txBody>
      </p:sp>
      <p:sp>
        <p:nvSpPr>
          <p:cNvPr id="9" name="Title 8">
            <a:extLst>
              <a:ext uri="{FF2B5EF4-FFF2-40B4-BE49-F238E27FC236}">
                <a16:creationId xmlns:a16="http://schemas.microsoft.com/office/drawing/2014/main" id="{090568D9-445C-CF1D-D517-A1B6B9682E50}"/>
              </a:ext>
            </a:extLst>
          </p:cNvPr>
          <p:cNvSpPr>
            <a:spLocks noGrp="1"/>
          </p:cNvSpPr>
          <p:nvPr>
            <p:ph type="title"/>
          </p:nvPr>
        </p:nvSpPr>
        <p:spPr/>
        <p:txBody>
          <a:bodyPr/>
          <a:lstStyle/>
          <a:p>
            <a:r>
              <a:rPr lang="en-IN" dirty="0"/>
              <a:t>Summary in Tables</a:t>
            </a:r>
          </a:p>
        </p:txBody>
      </p:sp>
      <p:sp>
        <p:nvSpPr>
          <p:cNvPr id="10" name="TextBox 9">
            <a:extLst>
              <a:ext uri="{FF2B5EF4-FFF2-40B4-BE49-F238E27FC236}">
                <a16:creationId xmlns:a16="http://schemas.microsoft.com/office/drawing/2014/main" id="{54263664-1DF1-772C-4528-73246E37C87E}"/>
              </a:ext>
            </a:extLst>
          </p:cNvPr>
          <p:cNvSpPr txBox="1"/>
          <p:nvPr/>
        </p:nvSpPr>
        <p:spPr>
          <a:xfrm>
            <a:off x="575733" y="1241778"/>
            <a:ext cx="1645002" cy="307777"/>
          </a:xfrm>
          <a:prstGeom prst="rect">
            <a:avLst/>
          </a:prstGeom>
          <a:noFill/>
        </p:spPr>
        <p:txBody>
          <a:bodyPr wrap="none" rtlCol="0">
            <a:spAutoFit/>
          </a:bodyPr>
          <a:lstStyle/>
          <a:p>
            <a:r>
              <a:rPr lang="en-IN" dirty="0"/>
              <a:t>{{</a:t>
            </a:r>
            <a:r>
              <a:rPr lang="en-IN" dirty="0" err="1"/>
              <a:t>summary_table</a:t>
            </a:r>
            <a:r>
              <a:rPr lang="en-IN"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8" name="Google Shape;118;p20"/>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Summary in charts!</a:t>
            </a:r>
            <a:endParaRPr/>
          </a:p>
        </p:txBody>
      </p:sp>
      <p:sp>
        <p:nvSpPr>
          <p:cNvPr id="2" name="TextBox 1">
            <a:extLst>
              <a:ext uri="{FF2B5EF4-FFF2-40B4-BE49-F238E27FC236}">
                <a16:creationId xmlns:a16="http://schemas.microsoft.com/office/drawing/2014/main" id="{A9D075EE-B486-8649-E192-9DEE2DDCE6A3}"/>
              </a:ext>
            </a:extLst>
          </p:cNvPr>
          <p:cNvSpPr txBox="1"/>
          <p:nvPr/>
        </p:nvSpPr>
        <p:spPr>
          <a:xfrm>
            <a:off x="2562578" y="1636889"/>
            <a:ext cx="1495922" cy="307777"/>
          </a:xfrm>
          <a:prstGeom prst="rect">
            <a:avLst/>
          </a:prstGeom>
          <a:noFill/>
        </p:spPr>
        <p:txBody>
          <a:bodyPr wrap="none" rtlCol="0">
            <a:spAutoFit/>
          </a:bodyPr>
          <a:lstStyle/>
          <a:p>
            <a:r>
              <a:rPr lang="en-IN" dirty="0"/>
              <a:t>{{</a:t>
            </a:r>
            <a:r>
              <a:rPr lang="en-IN"/>
              <a:t>chart_custom}}</a:t>
            </a:r>
            <a:endParaRPr lang="en-IN"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1"/>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Disclosure and Disclaimers</a:t>
            </a:r>
            <a:endParaRPr/>
          </a:p>
        </p:txBody>
      </p:sp>
      <p:sp>
        <p:nvSpPr>
          <p:cNvPr id="124" name="Google Shape;124;p21"/>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marR="1198245" lvl="0" indent="0" algn="just" rtl="0">
              <a:spcBef>
                <a:spcPts val="590"/>
              </a:spcBef>
              <a:spcAft>
                <a:spcPts val="0"/>
              </a:spcAft>
              <a:buNone/>
            </a:pPr>
            <a:r>
              <a:rPr lang="en-GB" sz="1000" b="1">
                <a:solidFill>
                  <a:srgbClr val="1F3864"/>
                </a:solidFill>
                <a:latin typeface="Calibri"/>
                <a:ea typeface="Calibri"/>
                <a:cs typeface="Calibri"/>
                <a:sym typeface="Calibri"/>
              </a:rPr>
              <a:t>About Us: </a:t>
            </a:r>
            <a:r>
              <a:rPr lang="en-GB" sz="1000">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sz="1000">
              <a:solidFill>
                <a:schemeClr val="dk1"/>
              </a:solidFill>
              <a:latin typeface="Calibri"/>
              <a:ea typeface="Calibri"/>
              <a:cs typeface="Calibri"/>
              <a:sym typeface="Calibri"/>
            </a:endParaRPr>
          </a:p>
          <a:p>
            <a:pPr marL="200660" marR="306070" lvl="0" indent="0" algn="just" rtl="0">
              <a:spcBef>
                <a:spcPts val="0"/>
              </a:spcBef>
              <a:spcAft>
                <a:spcPts val="0"/>
              </a:spcAft>
              <a:buNone/>
            </a:pPr>
            <a:r>
              <a:rPr lang="en-GB" sz="1000" b="1">
                <a:solidFill>
                  <a:srgbClr val="1F3864"/>
                </a:solidFill>
                <a:latin typeface="Calibri"/>
                <a:ea typeface="Calibri"/>
                <a:cs typeface="Calibri"/>
                <a:sym typeface="Calibri"/>
              </a:rPr>
              <a:t>Disciplinary history: </a:t>
            </a:r>
            <a:r>
              <a:rPr lang="en-GB" sz="1000">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b="1">
                <a:solidFill>
                  <a:srgbClr val="1F3864"/>
                </a:solidFill>
                <a:latin typeface="Calibri"/>
                <a:ea typeface="Calibri"/>
                <a:cs typeface="Calibri"/>
                <a:sym typeface="Calibri"/>
              </a:rPr>
              <a:t>Details of its associates: </a:t>
            </a:r>
            <a:r>
              <a:rPr lang="en-GB" sz="1000">
                <a:solidFill>
                  <a:schemeClr val="dk1"/>
                </a:solidFill>
                <a:latin typeface="Calibri"/>
                <a:ea typeface="Calibri"/>
                <a:cs typeface="Calibri"/>
                <a:sym typeface="Calibri"/>
              </a:rPr>
              <a:t>No associates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b="1">
                <a:solidFill>
                  <a:srgbClr val="1F3864"/>
                </a:solidFill>
                <a:latin typeface="Calibri"/>
                <a:ea typeface="Calibri"/>
                <a:cs typeface="Calibri"/>
                <a:sym typeface="Calibri"/>
              </a:rPr>
              <a:t>Disclosures with respect to Research and Recommendations Services</a:t>
            </a:r>
            <a:endParaRPr sz="1000" b="1">
              <a:solidFill>
                <a:schemeClr val="dk1"/>
              </a:solidFill>
              <a:latin typeface="Calibri"/>
              <a:ea typeface="Calibri"/>
              <a:cs typeface="Calibri"/>
              <a:sym typeface="Calibri"/>
            </a:endParaRPr>
          </a:p>
          <a:p>
            <a:pPr marL="200660" marR="343535" lvl="0" indent="0" algn="just" rtl="0">
              <a:spcBef>
                <a:spcPts val="5"/>
              </a:spcBef>
              <a:spcAft>
                <a:spcPts val="0"/>
              </a:spcAft>
              <a:buNone/>
            </a:pPr>
            <a:r>
              <a:rPr lang="en-GB" sz="1000">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sz="1000">
              <a:solidFill>
                <a:schemeClr val="dk1"/>
              </a:solidFill>
              <a:latin typeface="Calibri"/>
              <a:ea typeface="Calibri"/>
              <a:cs typeface="Calibri"/>
              <a:sym typeface="Calibri"/>
            </a:endParaRPr>
          </a:p>
          <a:p>
            <a:pPr marL="200660" marR="305435" lvl="0" indent="0" algn="just" rtl="0">
              <a:lnSpc>
                <a:spcPct val="98750"/>
              </a:lnSpc>
              <a:spcBef>
                <a:spcPts val="10"/>
              </a:spcBef>
              <a:spcAft>
                <a:spcPts val="0"/>
              </a:spcAft>
              <a:buNone/>
            </a:pPr>
            <a:r>
              <a:rPr lang="en-GB" sz="1000">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sz="1000">
              <a:solidFill>
                <a:schemeClr val="dk1"/>
              </a:solidFill>
              <a:latin typeface="Calibri"/>
              <a:ea typeface="Calibri"/>
              <a:cs typeface="Calibri"/>
              <a:sym typeface="Calibri"/>
            </a:endParaRPr>
          </a:p>
          <a:p>
            <a:pPr marL="200660" lvl="0" indent="0" algn="just" rtl="0">
              <a:spcBef>
                <a:spcPts val="10"/>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from the company in past 12 months.</a:t>
            </a:r>
            <a:endParaRPr sz="1000">
              <a:solidFill>
                <a:schemeClr val="dk1"/>
              </a:solidFill>
              <a:latin typeface="Calibri"/>
              <a:ea typeface="Calibri"/>
              <a:cs typeface="Calibri"/>
              <a:sym typeface="Calibri"/>
            </a:endParaRPr>
          </a:p>
          <a:p>
            <a:pPr marL="200660" marR="241300" lvl="0" indent="0" algn="just" rtl="0">
              <a:spcBef>
                <a:spcPts val="0"/>
              </a:spcBef>
              <a:spcAft>
                <a:spcPts val="0"/>
              </a:spcAft>
              <a:buNone/>
            </a:pPr>
            <a:r>
              <a:rPr lang="en-GB" sz="1000">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Analysts or its employee or its associates has not served as an officer, director, or employee of the subject company</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a:solidFill>
                  <a:schemeClr val="dk1"/>
                </a:solidFill>
                <a:latin typeface="Calibri"/>
                <a:ea typeface="Calibri"/>
                <a:cs typeface="Calibri"/>
                <a:sym typeface="Calibri"/>
              </a:rPr>
              <a:t>·Investment in securities market are subject to market risks. Read all the related documents carefully before investing</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p:txBody>
      </p:sp>
      <p:pic>
        <p:nvPicPr>
          <p:cNvPr id="125" name="Google Shape;125;p21" descr="A picture containing text, whiteboard&#10;&#10;Description automatically generated"/>
          <p:cNvPicPr preferRelativeResize="0"/>
          <p:nvPr/>
        </p:nvPicPr>
        <p:blipFill>
          <a:blip r:embed="rId3">
            <a:alphaModFix/>
          </a:blip>
          <a:stretch>
            <a:fillRect/>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208</TotalTime>
  <Words>557</Words>
  <Application>Microsoft Office PowerPoint</Application>
  <PresentationFormat>On-screen Show (16:9)</PresentationFormat>
  <Paragraphs>206</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Simple Light</vt:lpstr>
      <vt:lpstr>{{company_name}}</vt:lpstr>
      <vt:lpstr>Company Background</vt:lpstr>
      <vt:lpstr>Business Model Explanation</vt:lpstr>
      <vt:lpstr>Management Analysis</vt:lpstr>
      <vt:lpstr>Industry Overview</vt:lpstr>
      <vt:lpstr>Key Industry Tailwinds</vt:lpstr>
      <vt:lpstr>Demand drivers</vt:lpstr>
      <vt:lpstr>Industry Risks</vt:lpstr>
      <vt:lpstr>Financials and Ratio Analysis</vt:lpstr>
      <vt:lpstr>Summary in charts!</vt:lpstr>
      <vt:lpstr>Disclosure and Disclaimers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Kishankumar Yadav</dc:creator>
  <cp:lastModifiedBy>Kishankumar Yadav</cp:lastModifiedBy>
  <cp:revision>20</cp:revision>
  <dcterms:modified xsi:type="dcterms:W3CDTF">2026-02-08T18:26:15Z</dcterms:modified>
</cp:coreProperties>
</file>