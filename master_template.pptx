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57" r:id="rId3"/>
    <p:sldId id="258" r:id="rId4"/>
    <p:sldId id="261" r:id="rId5"/>
    <p:sldId id="266" r:id="rId6"/>
    <p:sldId id="269" r:id="rId7"/>
    <p:sldId id="265" r:id="rId8"/>
    <p:sldId id="270" r:id="rId9"/>
    <p:sldId id="271" r:id="rId10"/>
    <p:sldId id="272" r:id="rId11"/>
    <p:sldId id="262" r:id="rId12"/>
    <p:sldId id="263" r:id="rId13"/>
    <p:sldId id="264"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0" autoAdjust="0"/>
    <p:restoredTop sz="94660"/>
  </p:normalViewPr>
  <p:slideViewPr>
    <p:cSldViewPr snapToGrid="0">
      <p:cViewPr varScale="1">
        <p:scale>
          <a:sx n="85" d="100"/>
          <a:sy n="85" d="100"/>
        </p:scale>
        <p:origin x="492" y="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0" y="364"/>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b05c92415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b05c92415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bb05c9241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bb05c9241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39" name="Google Shape;39;p7"/>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40" name="Google Shape;40;p7"/>
          <p:cNvCxnSpPr/>
          <p:nvPr/>
        </p:nvCxnSpPr>
        <p:spPr>
          <a:xfrm>
            <a:off x="4563000" y="591725"/>
            <a:ext cx="27000" cy="4179000"/>
          </a:xfrm>
          <a:prstGeom prst="straightConnector1">
            <a:avLst/>
          </a:prstGeom>
          <a:noFill/>
          <a:ln w="9525" cap="flat" cmpd="sng">
            <a:solidFill>
              <a:srgbClr val="FFA500"/>
            </a:solidFill>
            <a:prstDash val="solid"/>
            <a:round/>
            <a:headEnd type="none" w="med" len="med"/>
            <a:tailEnd type="none" w="med" len="med"/>
          </a:ln>
        </p:spPr>
      </p:cxnSp>
      <p:sp>
        <p:nvSpPr>
          <p:cNvPr id="41" name="Google Shape;41;p7"/>
          <p:cNvSpPr txBox="1">
            <a:spLocks noGrp="1"/>
          </p:cNvSpPr>
          <p:nvPr>
            <p:ph type="title" idx="2"/>
          </p:nvPr>
        </p:nvSpPr>
        <p:spPr>
          <a:xfrm>
            <a:off x="55450" y="591725"/>
            <a:ext cx="4454100" cy="4179000"/>
          </a:xfrm>
          <a:prstGeom prst="rect">
            <a:avLst/>
          </a:prstGeom>
          <a:solidFill>
            <a:srgbClr val="FFE5B4"/>
          </a:solidFill>
        </p:spPr>
        <p:txBody>
          <a:bodyPr spcFirstLastPara="1" wrap="square" lIns="91425" tIns="91425" rIns="91425" bIns="91425" anchor="ctr" anchorCtr="0">
            <a:normAutofit/>
          </a:bodyPr>
          <a:lstStyle>
            <a:lvl1pPr lvl="0">
              <a:spcBef>
                <a:spcPts val="0"/>
              </a:spcBef>
              <a:spcAft>
                <a:spcPts val="0"/>
              </a:spcAft>
              <a:buSzPts val="1800"/>
              <a:buFont typeface="Calibri"/>
              <a:buNone/>
              <a:defRPr sz="1800">
                <a:latin typeface="Calibri"/>
                <a:ea typeface="Calibri"/>
                <a:cs typeface="Calibri"/>
                <a:sym typeface="Calibri"/>
              </a:defRPr>
            </a:lvl1pPr>
            <a:lvl2pPr lvl="1">
              <a:spcBef>
                <a:spcPts val="0"/>
              </a:spcBef>
              <a:spcAft>
                <a:spcPts val="0"/>
              </a:spcAft>
              <a:buSzPts val="1800"/>
              <a:buFont typeface="Calibri"/>
              <a:buNone/>
              <a:defRPr sz="1800">
                <a:latin typeface="Calibri"/>
                <a:ea typeface="Calibri"/>
                <a:cs typeface="Calibri"/>
                <a:sym typeface="Calibri"/>
              </a:defRPr>
            </a:lvl2pPr>
            <a:lvl3pPr lvl="2">
              <a:spcBef>
                <a:spcPts val="0"/>
              </a:spcBef>
              <a:spcAft>
                <a:spcPts val="0"/>
              </a:spcAft>
              <a:buSzPts val="1800"/>
              <a:buFont typeface="Calibri"/>
              <a:buNone/>
              <a:defRPr sz="1800">
                <a:latin typeface="Calibri"/>
                <a:ea typeface="Calibri"/>
                <a:cs typeface="Calibri"/>
                <a:sym typeface="Calibri"/>
              </a:defRPr>
            </a:lvl3pPr>
            <a:lvl4pPr lvl="3">
              <a:spcBef>
                <a:spcPts val="0"/>
              </a:spcBef>
              <a:spcAft>
                <a:spcPts val="0"/>
              </a:spcAft>
              <a:buSzPts val="1800"/>
              <a:buFont typeface="Calibri"/>
              <a:buNone/>
              <a:defRPr sz="1800">
                <a:latin typeface="Calibri"/>
                <a:ea typeface="Calibri"/>
                <a:cs typeface="Calibri"/>
                <a:sym typeface="Calibri"/>
              </a:defRPr>
            </a:lvl4pPr>
            <a:lvl5pPr lvl="4">
              <a:spcBef>
                <a:spcPts val="0"/>
              </a:spcBef>
              <a:spcAft>
                <a:spcPts val="0"/>
              </a:spcAft>
              <a:buSzPts val="1800"/>
              <a:buFont typeface="Calibri"/>
              <a:buNone/>
              <a:defRPr sz="1800">
                <a:latin typeface="Calibri"/>
                <a:ea typeface="Calibri"/>
                <a:cs typeface="Calibri"/>
                <a:sym typeface="Calibri"/>
              </a:defRPr>
            </a:lvl5pPr>
            <a:lvl6pPr lvl="5">
              <a:spcBef>
                <a:spcPts val="0"/>
              </a:spcBef>
              <a:spcAft>
                <a:spcPts val="0"/>
              </a:spcAft>
              <a:buSzPts val="1800"/>
              <a:buFont typeface="Calibri"/>
              <a:buNone/>
              <a:defRPr sz="1800">
                <a:latin typeface="Calibri"/>
                <a:ea typeface="Calibri"/>
                <a:cs typeface="Calibri"/>
                <a:sym typeface="Calibri"/>
              </a:defRPr>
            </a:lvl6pPr>
            <a:lvl7pPr lvl="6">
              <a:spcBef>
                <a:spcPts val="0"/>
              </a:spcBef>
              <a:spcAft>
                <a:spcPts val="0"/>
              </a:spcAft>
              <a:buSzPts val="1800"/>
              <a:buFont typeface="Calibri"/>
              <a:buNone/>
              <a:defRPr sz="1800">
                <a:latin typeface="Calibri"/>
                <a:ea typeface="Calibri"/>
                <a:cs typeface="Calibri"/>
                <a:sym typeface="Calibri"/>
              </a:defRPr>
            </a:lvl7pPr>
            <a:lvl8pPr lvl="7">
              <a:spcBef>
                <a:spcPts val="0"/>
              </a:spcBef>
              <a:spcAft>
                <a:spcPts val="0"/>
              </a:spcAft>
              <a:buSzPts val="1800"/>
              <a:buFont typeface="Calibri"/>
              <a:buNone/>
              <a:defRPr sz="1800">
                <a:latin typeface="Calibri"/>
                <a:ea typeface="Calibri"/>
                <a:cs typeface="Calibri"/>
                <a:sym typeface="Calibri"/>
              </a:defRPr>
            </a:lvl8pPr>
            <a:lvl9pPr lvl="8">
              <a:spcBef>
                <a:spcPts val="0"/>
              </a:spcBef>
              <a:spcAft>
                <a:spcPts val="0"/>
              </a:spcAft>
              <a:buSzPts val="1800"/>
              <a:buFont typeface="Calibri"/>
              <a:buNone/>
              <a:defRPr sz="1800">
                <a:latin typeface="Calibri"/>
                <a:ea typeface="Calibri"/>
                <a:cs typeface="Calibri"/>
                <a:sym typeface="Calibri"/>
              </a:defRPr>
            </a:lvl9pPr>
          </a:lstStyle>
          <a:p>
            <a:endParaRPr/>
          </a:p>
        </p:txBody>
      </p:sp>
    </p:spTree>
    <p:extLst>
      <p:ext uri="{BB962C8B-B14F-4D97-AF65-F5344CB8AC3E}">
        <p14:creationId xmlns:p14="http://schemas.microsoft.com/office/powerpoint/2010/main" val="18384521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2">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a:t>
            </a:r>
            <a:r>
              <a:rPr lang="en-GB" sz="1375" b="1">
                <a:solidFill>
                  <a:schemeClr val="dk1"/>
                </a:solidFill>
                <a:latin typeface="Calibri"/>
                <a:ea typeface="Calibri"/>
                <a:cs typeface="Calibri"/>
                <a:sym typeface="Calibri"/>
              </a:rPr>
              <a:t>{{recommendation}}</a:t>
            </a:r>
            <a:endParaRPr lang="en-GB" sz="1375" b="1" dirty="0">
              <a:solidFill>
                <a:schemeClr val="dk1"/>
              </a:solidFill>
              <a:latin typeface="Calibri"/>
              <a:ea typeface="Calibri"/>
              <a:cs typeface="Calibri"/>
              <a:sym typeface="Calibri"/>
            </a:endParaRP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Leader in compliant recycling with multi-metal growth optionality</a:t>
            </a:r>
            <a:endParaRPr dirty="0"/>
          </a:p>
        </p:txBody>
      </p:sp>
      <p:sp>
        <p:nvSpPr>
          <p:cNvPr id="71" name="Google Shape;71;p14"/>
          <p:cNvSpPr txBox="1">
            <a:spLocks noGrp="1"/>
          </p:cNvSpPr>
          <p:nvPr>
            <p:ph type="title" idx="2"/>
          </p:nvPr>
        </p:nvSpPr>
        <p:spPr>
          <a:xfrm>
            <a:off x="55450" y="604650"/>
            <a:ext cx="4454100" cy="4179000"/>
          </a:xfrm>
          <a:prstGeom prst="rect">
            <a:avLst/>
          </a:prstGeom>
        </p:spPr>
        <p:txBody>
          <a:bodyPr spcFirstLastPara="1" wrap="square" lIns="91425" tIns="91425" rIns="91425" bIns="91425" anchor="ctr" anchorCtr="0">
            <a:noAutofit/>
          </a:bodyPr>
          <a:lstStyle/>
          <a:p>
            <a:pPr marL="0" lvl="0" indent="0" algn="just" rtl="0">
              <a:spcBef>
                <a:spcPts val="0"/>
              </a:spcBef>
              <a:spcAft>
                <a:spcPts val="0"/>
              </a:spcAft>
              <a:buNone/>
            </a:pPr>
            <a:r>
              <a:rPr lang="en-GB" sz="1000" b="1" dirty="0"/>
              <a:t>- Market Positioning</a:t>
            </a:r>
            <a:r>
              <a:rPr lang="en-GB" sz="1000" dirty="0"/>
              <a:t>: {{</a:t>
            </a:r>
            <a:r>
              <a:rPr lang="en-GB" sz="1000" dirty="0" err="1"/>
              <a:t>market_positioning</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Financial Performance:</a:t>
            </a:r>
            <a:r>
              <a:rPr lang="en-GB" sz="1000" dirty="0"/>
              <a:t>.{{</a:t>
            </a:r>
            <a:r>
              <a:rPr lang="en-GB" sz="1000" dirty="0" err="1"/>
              <a:t>financial_performance</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Growth &amp; Outlook: {</a:t>
            </a:r>
            <a:r>
              <a:rPr lang="en-GB" sz="1000" dirty="0"/>
              <a:t>{</a:t>
            </a:r>
            <a:r>
              <a:rPr lang="en-GB" sz="1000" dirty="0" err="1"/>
              <a:t>grow_outlook</a:t>
            </a:r>
            <a:r>
              <a:rPr lang="en-GB" sz="1000" dirty="0"/>
              <a:t>}}</a:t>
            </a:r>
            <a:endParaRPr sz="1000" b="1" dirty="0"/>
          </a:p>
          <a:p>
            <a:pPr marL="0" lvl="0" indent="0" algn="just" rtl="0">
              <a:spcBef>
                <a:spcPts val="0"/>
              </a:spcBef>
              <a:spcAft>
                <a:spcPts val="0"/>
              </a:spcAft>
              <a:buClr>
                <a:schemeClr val="dk1"/>
              </a:buClr>
              <a:buSzPts val="1100"/>
              <a:buFont typeface="Arial"/>
              <a:buNone/>
            </a:pPr>
            <a:r>
              <a:rPr lang="en-GB" sz="1000" b="1" dirty="0"/>
              <a:t>- Valuation &amp; Recommendation:</a:t>
            </a:r>
            <a:r>
              <a:rPr lang="en-GB" sz="1000" dirty="0"/>
              <a:t> </a:t>
            </a:r>
            <a:r>
              <a:rPr lang="en-US" sz="1000" dirty="0"/>
              <a:t>{{</a:t>
            </a:r>
            <a:r>
              <a:rPr lang="en-US" sz="1000" dirty="0" err="1"/>
              <a:t>valuation_recommendation</a:t>
            </a:r>
            <a:r>
              <a:rPr lang="en-US" sz="1000" dirty="0"/>
              <a:t>}}</a:t>
            </a:r>
            <a:endParaRPr lang="en-US" sz="1000" b="1" dirty="0"/>
          </a:p>
          <a:p>
            <a:pPr marL="0" lvl="0" indent="0" algn="just" rtl="0">
              <a:spcBef>
                <a:spcPts val="0"/>
              </a:spcBef>
              <a:spcAft>
                <a:spcPts val="0"/>
              </a:spcAft>
              <a:buNone/>
            </a:pPr>
            <a:r>
              <a:rPr lang="en-US" sz="1000" b="1" dirty="0"/>
              <a:t>- Key Risks: </a:t>
            </a:r>
            <a:r>
              <a:rPr lang="en-US" sz="1000" dirty="0"/>
              <a:t>{{</a:t>
            </a:r>
            <a:r>
              <a:rPr lang="en-US" sz="1000" dirty="0" err="1"/>
              <a:t>key_risks</a:t>
            </a:r>
            <a:r>
              <a:rPr lang="en-US" sz="1000" dirty="0"/>
              <a:t>}}</a:t>
            </a:r>
          </a:p>
        </p:txBody>
      </p:sp>
      <p:graphicFrame>
        <p:nvGraphicFramePr>
          <p:cNvPr id="72" name="Google Shape;72;p14"/>
          <p:cNvGraphicFramePr/>
          <p:nvPr/>
        </p:nvGraphicFramePr>
        <p:xfrm>
          <a:off x="4661550" y="1975175"/>
          <a:ext cx="2300450" cy="2795525"/>
        </p:xfrm>
        <a:graphic>
          <a:graphicData uri="http://schemas.openxmlformats.org/drawingml/2006/table">
            <a:tbl>
              <a:tblPr>
                <a:noFill/>
              </a:tblPr>
              <a:tblGrid>
                <a:gridCol w="1150225">
                  <a:extLst>
                    <a:ext uri="{9D8B030D-6E8A-4147-A177-3AD203B41FA5}">
                      <a16:colId xmlns:a16="http://schemas.microsoft.com/office/drawing/2014/main" val="20000"/>
                    </a:ext>
                  </a:extLst>
                </a:gridCol>
                <a:gridCol w="1150225">
                  <a:extLst>
                    <a:ext uri="{9D8B030D-6E8A-4147-A177-3AD203B41FA5}">
                      <a16:colId xmlns:a16="http://schemas.microsoft.com/office/drawing/2014/main" val="20001"/>
                    </a:ext>
                  </a:extLst>
                </a:gridCol>
              </a:tblGrid>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0"/>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1"/>
                  </a:ext>
                </a:extLst>
              </a:tr>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2"/>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3"/>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4"/>
                  </a:ext>
                </a:extLst>
              </a:tr>
            </a:tbl>
          </a:graphicData>
        </a:graphic>
      </p:graphicFrame>
      <p:sp>
        <p:nvSpPr>
          <p:cNvPr id="73" name="Google Shape;73;p14"/>
          <p:cNvSpPr txBox="1"/>
          <p:nvPr/>
        </p:nvSpPr>
        <p:spPr>
          <a:xfrm>
            <a:off x="4653425" y="604650"/>
            <a:ext cx="4378500" cy="1324200"/>
          </a:xfrm>
          <a:prstGeom prst="rect">
            <a:avLst/>
          </a:prstGeom>
          <a:solidFill>
            <a:srgbClr val="FFE5B4"/>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100">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Leader in compliant recycling with multi-metal growth optionality</a:t>
            </a:r>
          </a:p>
        </p:txBody>
      </p:sp>
      <p:sp>
        <p:nvSpPr>
          <p:cNvPr id="81" name="Google Shape;81;p15"/>
          <p:cNvSpPr txBox="1">
            <a:spLocks noGrp="1"/>
          </p:cNvSpPr>
          <p:nvPr>
            <p:ph type="title" idx="2"/>
          </p:nvPr>
        </p:nvSpPr>
        <p:spPr>
          <a:xfrm>
            <a:off x="55450" y="591725"/>
            <a:ext cx="4454100" cy="4179000"/>
          </a:xfrm>
          <a:prstGeom prst="rect">
            <a:avLst/>
          </a:prstGeom>
        </p:spPr>
        <p:txBody>
          <a:bodyPr spcFirstLastPara="1" wrap="square" lIns="91425" tIns="91425" rIns="91425" bIns="91425" anchor="ctr" anchorCtr="0">
            <a:noAutofit/>
          </a:bodyPr>
          <a:lstStyle/>
          <a:p>
            <a:pPr marL="457200" lvl="0" indent="-292100" algn="just" rtl="0">
              <a:lnSpc>
                <a:spcPct val="115000"/>
              </a:lnSpc>
              <a:spcBef>
                <a:spcPts val="1200"/>
              </a:spcBef>
              <a:spcAft>
                <a:spcPts val="0"/>
              </a:spcAft>
              <a:buSzPts val="1000"/>
              <a:buChar char="❏"/>
            </a:pPr>
            <a:r>
              <a:rPr lang="en-IN" sz="1000" dirty="0"/>
              <a:t>{{</a:t>
            </a:r>
            <a:r>
              <a:rPr lang="en-IN" sz="1000" dirty="0" err="1"/>
              <a:t>company_insider</a:t>
            </a:r>
            <a:r>
              <a:rPr lang="en-IN" sz="1000" dirty="0"/>
              <a:t>}}</a:t>
            </a:r>
            <a:endParaRPr sz="1000" dirty="0"/>
          </a:p>
        </p:txBody>
      </p:sp>
      <p:sp>
        <p:nvSpPr>
          <p:cNvPr id="2" name="TextBox 1">
            <a:extLst>
              <a:ext uri="{FF2B5EF4-FFF2-40B4-BE49-F238E27FC236}">
                <a16:creationId xmlns:a16="http://schemas.microsoft.com/office/drawing/2014/main" id="{2343C578-3CC7-028C-0184-4F8F92B81388}"/>
              </a:ext>
            </a:extLst>
          </p:cNvPr>
          <p:cNvSpPr txBox="1"/>
          <p:nvPr/>
        </p:nvSpPr>
        <p:spPr>
          <a:xfrm>
            <a:off x="6001103" y="3409245"/>
            <a:ext cx="1885244" cy="307777"/>
          </a:xfrm>
          <a:prstGeom prst="rect">
            <a:avLst/>
          </a:prstGeom>
          <a:noFill/>
        </p:spPr>
        <p:txBody>
          <a:bodyPr wrap="square" rtlCol="0">
            <a:spAutoFit/>
          </a:bodyPr>
          <a:lstStyle/>
          <a:p>
            <a:r>
              <a:rPr lang="en-IN" dirty="0"/>
              <a:t>{{</a:t>
            </a:r>
            <a:r>
              <a:rPr lang="en-IN" dirty="0" err="1"/>
              <a:t>financial_table</a:t>
            </a:r>
            <a:r>
              <a:rPr lang="en-IN" dirty="0"/>
              <a:t>}}</a:t>
            </a:r>
          </a:p>
        </p:txBody>
      </p:sp>
      <p:sp>
        <p:nvSpPr>
          <p:cNvPr id="5" name="Rectangle 1">
            <a:extLst>
              <a:ext uri="{FF2B5EF4-FFF2-40B4-BE49-F238E27FC236}">
                <a16:creationId xmlns:a16="http://schemas.microsoft.com/office/drawing/2014/main" id="{929B1D0D-74F2-EE08-7405-386A10478C29}"/>
              </a:ext>
            </a:extLst>
          </p:cNvPr>
          <p:cNvSpPr>
            <a:spLocks noChangeArrowheads="1"/>
          </p:cNvSpPr>
          <p:nvPr/>
        </p:nvSpPr>
        <p:spPr bwMode="auto">
          <a:xfrm>
            <a:off x="2371725" y="14509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3" name="TextBox 2">
            <a:extLst>
              <a:ext uri="{FF2B5EF4-FFF2-40B4-BE49-F238E27FC236}">
                <a16:creationId xmlns:a16="http://schemas.microsoft.com/office/drawing/2014/main" id="{DC7AF995-F696-A6E3-D2A6-DE92AB47CE0E}"/>
              </a:ext>
            </a:extLst>
          </p:cNvPr>
          <p:cNvSpPr txBox="1"/>
          <p:nvPr/>
        </p:nvSpPr>
        <p:spPr>
          <a:xfrm>
            <a:off x="6169378" y="1224845"/>
            <a:ext cx="1885244" cy="307777"/>
          </a:xfrm>
          <a:prstGeom prst="rect">
            <a:avLst/>
          </a:prstGeom>
          <a:noFill/>
        </p:spPr>
        <p:txBody>
          <a:bodyPr wrap="square" rtlCol="0">
            <a:spAutoFit/>
          </a:bodyPr>
          <a:lstStyle/>
          <a:p>
            <a:r>
              <a:rPr lang="en-IN" dirty="0"/>
              <a:t>{{</a:t>
            </a:r>
            <a:r>
              <a:rPr lang="en-IN" dirty="0" err="1"/>
              <a:t>prize_chart</a:t>
            </a:r>
            <a:r>
              <a:rPr lang="en-IN" dirty="0"/>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Company Background</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Business Model Explanation</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Management Analysis</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Industry Overview</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Key Industry Tailwinds</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Demand drivers</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Industry Risks</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Summary in Tables</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Summary in charts!</a:t>
            </a:r>
            <a:endParaRPr/>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a:solidFill>
                  <a:srgbClr val="1F3864"/>
                </a:solidFill>
                <a:latin typeface="Calibri"/>
                <a:ea typeface="Calibri"/>
                <a:cs typeface="Calibri"/>
                <a:sym typeface="Calibri"/>
              </a:rPr>
              <a:t>About Us: </a:t>
            </a:r>
            <a:r>
              <a:rPr lang="en-GB" sz="100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a:solidFill>
                  <a:srgbClr val="1F3864"/>
                </a:solidFill>
                <a:latin typeface="Calibri"/>
                <a:ea typeface="Calibri"/>
                <a:cs typeface="Calibri"/>
                <a:sym typeface="Calibri"/>
              </a:rPr>
              <a:t>Disciplinary history: </a:t>
            </a:r>
            <a:r>
              <a:rPr lang="en-GB" sz="100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a:solidFill>
                  <a:srgbClr val="1F3864"/>
                </a:solidFill>
                <a:latin typeface="Calibri"/>
                <a:ea typeface="Calibri"/>
                <a:cs typeface="Calibri"/>
                <a:sym typeface="Calibri"/>
              </a:rPr>
              <a:t>Details of its associates: </a:t>
            </a:r>
            <a:r>
              <a:rPr lang="en-GB" sz="1000">
                <a:solidFill>
                  <a:schemeClr val="dk1"/>
                </a:solidFill>
                <a:latin typeface="Calibri"/>
                <a:ea typeface="Calibri"/>
                <a:cs typeface="Calibri"/>
                <a:sym typeface="Calibri"/>
              </a:rPr>
              <a:t>No associates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a:solidFill>
                  <a:srgbClr val="1F3864"/>
                </a:solidFill>
                <a:latin typeface="Calibri"/>
                <a:ea typeface="Calibri"/>
                <a:cs typeface="Calibri"/>
                <a:sym typeface="Calibri"/>
              </a:rPr>
              <a:t>Disclosures with respect to Research and Recommendations Services</a:t>
            </a:r>
            <a:endParaRPr sz="1000" b="1">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from the company in past 12 months.</a:t>
            </a:r>
            <a:endParaRPr sz="100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a:solidFill>
                  <a:schemeClr val="dk1"/>
                </a:solidFill>
                <a:latin typeface="Calibri"/>
                <a:ea typeface="Calibri"/>
                <a:cs typeface="Calibri"/>
                <a:sym typeface="Calibri"/>
              </a:rPr>
              <a:t>·Investment in securities market are subject to market risks. Read all the related documents carefully before investing</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735</TotalTime>
  <Words>634</Words>
  <Application>Microsoft Office PowerPoint</Application>
  <PresentationFormat>On-screen Show (16:9)</PresentationFormat>
  <Paragraphs>216</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Simple Light</vt:lpstr>
      <vt:lpstr>{{company_name}}</vt:lpstr>
      <vt:lpstr>Leader in compliant recycling with multi-metal growth optionality</vt:lpstr>
      <vt:lpstr>Leader in compliant recycling with multi-metal growth optionality</vt:lpstr>
      <vt:lpstr>Company Background</vt:lpstr>
      <vt:lpstr>Business Model Explanation</vt:lpstr>
      <vt:lpstr>Management Analysis</vt:lpstr>
      <vt:lpstr>Industry Overview</vt:lpstr>
      <vt:lpstr>Key Industry Tailwinds</vt:lpstr>
      <vt:lpstr>Demand drivers</vt:lpstr>
      <vt:lpstr>Industry Risks</vt:lpstr>
      <vt:lpstr>Financials and Ratio Analysis</vt:lpstr>
      <vt:lpstr>Summary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29</cp:revision>
  <dcterms:modified xsi:type="dcterms:W3CDTF">2026-02-17T08:58:26Z</dcterms:modified>
</cp:coreProperties>
</file>