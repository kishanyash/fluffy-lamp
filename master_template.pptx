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4"/>
  </p:notesMasterIdLst>
  <p:sldIdLst>
    <p:sldId id="256" r:id="rId2"/>
    <p:sldId id="257" r:id="rId3"/>
    <p:sldId id="261" r:id="rId4"/>
    <p:sldId id="266" r:id="rId5"/>
    <p:sldId id="269" r:id="rId6"/>
    <p:sldId id="265" r:id="rId7"/>
    <p:sldId id="270" r:id="rId8"/>
    <p:sldId id="271" r:id="rId9"/>
    <p:sldId id="272" r:id="rId10"/>
    <p:sldId id="262" r:id="rId11"/>
    <p:sldId id="263" r:id="rId12"/>
    <p:sldId id="264" r:id="rId1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64" autoAdjust="0"/>
    <p:restoredTop sz="94660"/>
  </p:normalViewPr>
  <p:slideViewPr>
    <p:cSldViewPr snapToGrid="0">
      <p:cViewPr>
        <p:scale>
          <a:sx n="100" d="100"/>
          <a:sy n="100" d="100"/>
        </p:scale>
        <p:origin x="540" y="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15" y="335"/>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Leader in compliant recycling with multi-metal growth optionality</a:t>
            </a:r>
            <a:endParaRPr dirty="0"/>
          </a:p>
        </p:txBody>
      </p:sp>
      <p:sp>
        <p:nvSpPr>
          <p:cNvPr id="71" name="Google Shape;71;p14"/>
          <p:cNvSpPr txBox="1">
            <a:spLocks noGrp="1"/>
          </p:cNvSpPr>
          <p:nvPr>
            <p:ph type="title" idx="2"/>
          </p:nvPr>
        </p:nvSpPr>
        <p:spPr>
          <a:xfrm>
            <a:off x="117900" y="627229"/>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cs_market_positioning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cs_financial_performance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cs_grow_outlook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cs_valuation_recommendation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cs_key_risks</a:t>
            </a:r>
            <a:r>
              <a:rPr lang="en-US" sz="1000" dirty="0"/>
              <a:t>}}</a:t>
            </a:r>
          </a:p>
        </p:txBody>
      </p:sp>
      <p:sp>
        <p:nvSpPr>
          <p:cNvPr id="2" name="TextBox 1">
            <a:extLst>
              <a:ext uri="{FF2B5EF4-FFF2-40B4-BE49-F238E27FC236}">
                <a16:creationId xmlns:a16="http://schemas.microsoft.com/office/drawing/2014/main" id="{2F0A3B68-3E6B-E8A7-C41E-A5EEBC6DF9E0}"/>
              </a:ext>
            </a:extLst>
          </p:cNvPr>
          <p:cNvSpPr txBox="1"/>
          <p:nvPr/>
        </p:nvSpPr>
        <p:spPr>
          <a:xfrm>
            <a:off x="6001103" y="3409245"/>
            <a:ext cx="1885244" cy="307777"/>
          </a:xfrm>
          <a:prstGeom prst="rect">
            <a:avLst/>
          </a:prstGeom>
          <a:noFill/>
        </p:spPr>
        <p:txBody>
          <a:bodyPr wrap="square" rtlCol="0">
            <a:spAutoFit/>
          </a:bodyPr>
          <a:lstStyle/>
          <a:p>
            <a:r>
              <a:rPr lang="en-IN" dirty="0"/>
              <a:t>{{</a:t>
            </a:r>
            <a:r>
              <a:rPr lang="en-IN" dirty="0" err="1"/>
              <a:t>financial_table</a:t>
            </a:r>
            <a:r>
              <a:rPr lang="en-IN" dirty="0"/>
              <a:t>}}</a:t>
            </a:r>
          </a:p>
        </p:txBody>
      </p:sp>
      <p:sp>
        <p:nvSpPr>
          <p:cNvPr id="3" name="TextBox 2">
            <a:extLst>
              <a:ext uri="{FF2B5EF4-FFF2-40B4-BE49-F238E27FC236}">
                <a16:creationId xmlns:a16="http://schemas.microsoft.com/office/drawing/2014/main" id="{BC38CDE2-69B9-4F61-D17A-A82F3C5D1384}"/>
              </a:ext>
            </a:extLst>
          </p:cNvPr>
          <p:cNvSpPr txBox="1"/>
          <p:nvPr/>
        </p:nvSpPr>
        <p:spPr>
          <a:xfrm>
            <a:off x="6169378" y="1224845"/>
            <a:ext cx="1885244" cy="307777"/>
          </a:xfrm>
          <a:prstGeom prst="rect">
            <a:avLst/>
          </a:prstGeom>
          <a:noFill/>
        </p:spPr>
        <p:txBody>
          <a:bodyPr wrap="square" rtlCol="0">
            <a:spAutoFit/>
          </a:bodyPr>
          <a:lstStyle/>
          <a:p>
            <a:r>
              <a:rPr lang="en-IN" dirty="0"/>
              <a:t>{{</a:t>
            </a:r>
            <a:r>
              <a:rPr lang="en-IN" dirty="0" err="1"/>
              <a:t>prize_chart</a:t>
            </a:r>
            <a:r>
              <a:rPr lang="en-IN"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Company_Background_h</a:t>
            </a:r>
            <a:r>
              <a:rPr lang="en-GB" dirty="0"/>
              <a:t>}}</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Business_Model_Explanation_h</a:t>
            </a:r>
            <a:r>
              <a:rPr lang="en-US" dirty="0"/>
              <a:t>}}</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Management_Analysis_h</a:t>
            </a:r>
            <a:r>
              <a:rPr lang="en-US" dirty="0"/>
              <a:t>}}</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Industry_Overview_h</a:t>
            </a:r>
            <a:r>
              <a:rPr lang="en-GB" dirty="0"/>
              <a:t>}}</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Key_Industry_Tailwinds_h</a:t>
            </a:r>
            <a:r>
              <a:rPr lang="en-GB" dirty="0"/>
              <a:t>}}</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Demand_drivers_h</a:t>
            </a:r>
            <a:r>
              <a:rPr lang="en-US" dirty="0"/>
              <a:t>}}</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Industry_Risks_h</a:t>
            </a:r>
            <a:r>
              <a:rPr lang="en-US" dirty="0"/>
              <a:t>}}</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Financials Summary</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Story in charts!</a:t>
            </a:r>
            <a:endParaRPr dirty="0"/>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70050" y="635494"/>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dirty="0">
                <a:solidFill>
                  <a:srgbClr val="1F3864"/>
                </a:solidFill>
                <a:latin typeface="Calibri"/>
                <a:ea typeface="Calibri"/>
                <a:cs typeface="Calibri"/>
                <a:sym typeface="Calibri"/>
              </a:rPr>
              <a:t>About Us: </a:t>
            </a:r>
            <a:r>
              <a:rPr lang="en-GB" sz="1000" dirty="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dirty="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dirty="0">
                <a:solidFill>
                  <a:srgbClr val="1F3864"/>
                </a:solidFill>
                <a:latin typeface="Calibri"/>
                <a:ea typeface="Calibri"/>
                <a:cs typeface="Calibri"/>
                <a:sym typeface="Calibri"/>
              </a:rPr>
              <a:t>Disciplinary history: </a:t>
            </a:r>
            <a:r>
              <a:rPr lang="en-GB" sz="1000" dirty="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dirty="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dirty="0">
                <a:solidFill>
                  <a:srgbClr val="1F3864"/>
                </a:solidFill>
                <a:latin typeface="Calibri"/>
                <a:ea typeface="Calibri"/>
                <a:cs typeface="Calibri"/>
                <a:sym typeface="Calibri"/>
              </a:rPr>
              <a:t>Details of its associates: </a:t>
            </a:r>
            <a:r>
              <a:rPr lang="en-GB" sz="1000" dirty="0">
                <a:solidFill>
                  <a:schemeClr val="dk1"/>
                </a:solidFill>
                <a:latin typeface="Calibri"/>
                <a:ea typeface="Calibri"/>
                <a:cs typeface="Calibri"/>
                <a:sym typeface="Calibri"/>
              </a:rPr>
              <a:t>No associates</a:t>
            </a: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dirty="0">
                <a:solidFill>
                  <a:srgbClr val="1F3864"/>
                </a:solidFill>
                <a:latin typeface="Calibri"/>
                <a:ea typeface="Calibri"/>
                <a:cs typeface="Calibri"/>
                <a:sym typeface="Calibri"/>
              </a:rPr>
              <a:t>Disclosures with respect to Research and Recommendations Services</a:t>
            </a:r>
            <a:endParaRPr sz="1000" b="1" dirty="0">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dirty="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dirty="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dirty="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dirty="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from the company in past 12 months.</a:t>
            </a:r>
            <a:endParaRPr sz="1000" dirty="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dirty="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dirty="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dirty="0">
                <a:solidFill>
                  <a:schemeClr val="dk1"/>
                </a:solidFill>
                <a:latin typeface="Calibri"/>
                <a:ea typeface="Calibri"/>
                <a:cs typeface="Calibri"/>
                <a:sym typeface="Calibri"/>
              </a:rPr>
              <a:t>·Investment in securities market are subject to market risks. Read all the related documents carefully before investing</a:t>
            </a: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969</TotalTime>
  <Words>667</Words>
  <Application>Microsoft Office PowerPoint</Application>
  <PresentationFormat>On-screen Show (16:9)</PresentationFormat>
  <Paragraphs>214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Simple Light</vt:lpstr>
      <vt:lpstr>{{company_name}}</vt:lpstr>
      <vt:lpstr>Leader in compliant recycling with multi-metal growth optionality</vt:lpstr>
      <vt:lpstr>{{Company_Background_h}}</vt:lpstr>
      <vt:lpstr>{{Business_Model_Explanation_h}}</vt:lpstr>
      <vt:lpstr>{{Management_Analysis_h}}</vt:lpstr>
      <vt:lpstr>{{Industry_Overview_h}}</vt:lpstr>
      <vt:lpstr>{{Key_Industry_Tailwinds_h}}</vt:lpstr>
      <vt:lpstr>{{Demand_drivers_h}}</vt:lpstr>
      <vt:lpstr>{{Industry_Risks_h}}</vt:lpstr>
      <vt:lpstr>Financials and Ratio Analysis</vt:lpstr>
      <vt:lpstr>Story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31</cp:revision>
  <dcterms:modified xsi:type="dcterms:W3CDTF">2026-02-19T05:53:00Z</dcterms:modified>
</cp:coreProperties>
</file>