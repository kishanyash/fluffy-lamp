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omments/comment1.xml" ContentType="application/vnd.openxmlformats-officedocument.presentationml.comment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5"/>
  </p:notesMasterIdLst>
  <p:sldIdLst>
    <p:sldId id="256" r:id="rId2"/>
    <p:sldId id="257" r:id="rId3"/>
    <p:sldId id="258" r:id="rId4"/>
    <p:sldId id="261" r:id="rId5"/>
    <p:sldId id="266" r:id="rId6"/>
    <p:sldId id="269" r:id="rId7"/>
    <p:sldId id="265" r:id="rId8"/>
    <p:sldId id="270" r:id="rId9"/>
    <p:sldId id="271" r:id="rId10"/>
    <p:sldId id="272" r:id="rId11"/>
    <p:sldId id="262" r:id="rId12"/>
    <p:sldId id="263" r:id="rId13"/>
    <p:sldId id="264" r:id="rId1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ikona Capital" initials=""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81D767D-80EB-4814-8269-C058A5CDB7B2}">
  <a:tblStyle styleId="{181D767D-80EB-4814-8269-C058A5CDB7B2}"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0" autoAdjust="0"/>
    <p:restoredTop sz="94660"/>
  </p:normalViewPr>
  <p:slideViewPr>
    <p:cSldViewPr snapToGrid="0">
      <p:cViewPr>
        <p:scale>
          <a:sx n="75" d="100"/>
          <a:sy n="75" d="100"/>
        </p:scale>
        <p:origin x="1176" y="234"/>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26-01-22T04:20:50.161" idx="1">
    <p:pos x="0" y="364"/>
    <p:text>sign add</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2" name="Google Shape;6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3bb05c92415_0_1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3bb05c92415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bb05c92415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bb05c92415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bb05c92415_0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3C190A2B-1082-DEE6-1257-B3CB6ADD7476}"/>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4CCDF7EE-888A-71B3-9AA2-AD5CBCF052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6F470D1D-EE18-743D-52A1-773DC976A35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459374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EBF8A51A-FEAA-A88F-7BD4-AE012C578B55}"/>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CB880836-B27D-452E-E2C0-69274B89871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7EDEEDDA-DCB4-61C8-4FC4-445103AA13C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6352078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980BC53A-D270-ABD8-A9D5-705561783049}"/>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B41FDA0-207C-CE01-27A3-C473DF5E3F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8B6B8BC-89CF-1276-0DA5-5A04A38D81F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9304184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24401E0-5270-F8F2-DB42-7DB220C75A0C}"/>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AEA56A6C-4A4D-D12A-7C40-B661A724EA9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B4F3E957-8B28-2D14-DB42-D982B855D72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0455938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F327DA9C-A76C-EE42-59B8-0B1C971D7DFD}"/>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0BC57488-6BDA-118F-B43E-3E570CDCB6B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2FA75738-BDBD-A857-157C-13E1066003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4272590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a:extLst>
            <a:ext uri="{FF2B5EF4-FFF2-40B4-BE49-F238E27FC236}">
              <a16:creationId xmlns:a16="http://schemas.microsoft.com/office/drawing/2014/main" id="{6689D2BA-5EC3-B160-2C65-121A615E6214}"/>
            </a:ext>
          </a:extLst>
        </p:cNvPr>
        <p:cNvGrpSpPr/>
        <p:nvPr/>
      </p:nvGrpSpPr>
      <p:grpSpPr>
        <a:xfrm>
          <a:off x="0" y="0"/>
          <a:ext cx="0" cy="0"/>
          <a:chOff x="0" y="0"/>
          <a:chExt cx="0" cy="0"/>
        </a:xfrm>
      </p:grpSpPr>
      <p:sp>
        <p:nvSpPr>
          <p:cNvPr id="99" name="Google Shape;99;g3bb05c92415_0_98:notes">
            <a:extLst>
              <a:ext uri="{FF2B5EF4-FFF2-40B4-BE49-F238E27FC236}">
                <a16:creationId xmlns:a16="http://schemas.microsoft.com/office/drawing/2014/main" id="{5C41AF30-A169-D40D-A47B-CA3487D690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bb05c92415_0_98:notes">
            <a:extLst>
              <a:ext uri="{FF2B5EF4-FFF2-40B4-BE49-F238E27FC236}">
                <a16:creationId xmlns:a16="http://schemas.microsoft.com/office/drawing/2014/main" id="{8F66EA67-3F0D-1501-6414-FEF6DE6B5EC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88137920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3bb05c9241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3bb05c9241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3bcf1f9ec5d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3bcf1f9ec5d_1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g3bb05c92415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1" name="Google Shape;121;g3bb05c92415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0"/>
        <p:cNvGrpSpPr/>
        <p:nvPr/>
      </p:nvGrpSpPr>
      <p:grpSpPr>
        <a:xfrm>
          <a:off x="0" y="0"/>
          <a:ext cx="0" cy="0"/>
          <a:chOff x="0" y="0"/>
          <a:chExt cx="0" cy="0"/>
        </a:xfrm>
      </p:grpSpPr>
      <p:sp>
        <p:nvSpPr>
          <p:cNvPr id="11" name="Google Shape;11;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2" name="Google Shape;12;p2"/>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15" name="Google Shape;15;p3"/>
          <p:cNvSpPr txBox="1">
            <a:spLocks noGrp="1"/>
          </p:cNvSpPr>
          <p:nvPr>
            <p:ph type="title"/>
          </p:nvPr>
        </p:nvSpPr>
        <p:spPr>
          <a:xfrm>
            <a:off x="4662275" y="0"/>
            <a:ext cx="44817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sp>
        <p:nvSpPr>
          <p:cNvPr id="16" name="Google Shape;16;p3"/>
          <p:cNvSpPr txBox="1">
            <a:spLocks noGrp="1"/>
          </p:cNvSpPr>
          <p:nvPr>
            <p:ph type="title" idx="2"/>
          </p:nvPr>
        </p:nvSpPr>
        <p:spPr>
          <a:xfrm>
            <a:off x="0" y="0"/>
            <a:ext cx="4428300" cy="5757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17" name="Google Shape;17;p3"/>
          <p:cNvCxnSpPr/>
          <p:nvPr/>
        </p:nvCxnSpPr>
        <p:spPr>
          <a:xfrm>
            <a:off x="4533925" y="94425"/>
            <a:ext cx="24000" cy="4852500"/>
          </a:xfrm>
          <a:prstGeom prst="straightConnector1">
            <a:avLst/>
          </a:prstGeom>
          <a:noFill/>
          <a:ln w="9525" cap="flat" cmpd="sng">
            <a:solidFill>
              <a:srgbClr val="FFA500"/>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1" name="Google Shape;3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2" name="Google Shape;3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4"/>
        <p:cNvGrpSpPr/>
        <p:nvPr/>
      </p:nvGrpSpPr>
      <p:grpSpPr>
        <a:xfrm>
          <a:off x="0" y="0"/>
          <a:ext cx="0" cy="0"/>
          <a:chOff x="0" y="0"/>
          <a:chExt cx="0" cy="0"/>
        </a:xfrm>
      </p:grpSpPr>
      <p:sp>
        <p:nvSpPr>
          <p:cNvPr id="35" name="Google Shape;35;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6" name="Google Shape;36;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4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8" name="Google Shape;4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49" name="Google Shape;4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 name="Google Shape;5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1"/>
        <p:cNvGrpSpPr/>
        <p:nvPr/>
      </p:nvGrpSpPr>
      <p:grpSpPr>
        <a:xfrm>
          <a:off x="0" y="0"/>
          <a:ext cx="0" cy="0"/>
          <a:chOff x="0" y="0"/>
          <a:chExt cx="0" cy="0"/>
        </a:xfrm>
      </p:grpSpPr>
      <p:sp>
        <p:nvSpPr>
          <p:cNvPr id="52" name="Google Shape;5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3" name="Google Shape;5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4"/>
        <p:cNvGrpSpPr/>
        <p:nvPr/>
      </p:nvGrpSpPr>
      <p:grpSpPr>
        <a:xfrm>
          <a:off x="0" y="0"/>
          <a:ext cx="0" cy="0"/>
          <a:chOff x="0" y="0"/>
          <a:chExt cx="0" cy="0"/>
        </a:xfrm>
      </p:grpSpPr>
      <p:sp>
        <p:nvSpPr>
          <p:cNvPr id="55" name="Google Shape;5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6" name="Google Shape;5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7" name="Google Shape;5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8"/>
        <p:cNvGrpSpPr/>
        <p:nvPr/>
      </p:nvGrpSpPr>
      <p:grpSpPr>
        <a:xfrm>
          <a:off x="0" y="0"/>
          <a:ext cx="0" cy="0"/>
          <a:chOff x="0" y="0"/>
          <a:chExt cx="0" cy="0"/>
        </a:xfrm>
      </p:grpSpPr>
      <p:sp>
        <p:nvSpPr>
          <p:cNvPr id="59" name="Google Shape;5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37"/>
        <p:cNvGrpSpPr/>
        <p:nvPr/>
      </p:nvGrpSpPr>
      <p:grpSpPr>
        <a:xfrm>
          <a:off x="0" y="0"/>
          <a:ext cx="0" cy="0"/>
          <a:chOff x="0" y="0"/>
          <a:chExt cx="0" cy="0"/>
        </a:xfrm>
      </p:grpSpPr>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GB"/>
              <a:t>‹#›</a:t>
            </a:fld>
            <a:endParaRPr/>
          </a:p>
        </p:txBody>
      </p:sp>
      <p:sp>
        <p:nvSpPr>
          <p:cNvPr id="39" name="Google Shape;39;p7"/>
          <p:cNvSpPr txBox="1">
            <a:spLocks noGrp="1"/>
          </p:cNvSpPr>
          <p:nvPr>
            <p:ph type="title"/>
          </p:nvPr>
        </p:nvSpPr>
        <p:spPr>
          <a:xfrm>
            <a:off x="0" y="0"/>
            <a:ext cx="9144000" cy="543600"/>
          </a:xfrm>
          <a:prstGeom prst="rect">
            <a:avLst/>
          </a:prstGeom>
          <a:solidFill>
            <a:srgbClr val="1F4690"/>
          </a:solidFill>
        </p:spPr>
        <p:txBody>
          <a:bodyPr spcFirstLastPara="1" wrap="square" lIns="91425" tIns="91425" rIns="91425" bIns="91425" anchor="ctr" anchorCtr="0">
            <a:normAutofit/>
          </a:bodyPr>
          <a:lstStyle>
            <a:lvl1pPr lvl="0"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1pPr>
            <a:lvl2pPr lvl="1"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2pPr>
            <a:lvl3pPr lvl="2"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3pPr>
            <a:lvl4pPr lvl="3"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4pPr>
            <a:lvl5pPr lvl="4"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5pPr>
            <a:lvl6pPr lvl="5"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6pPr>
            <a:lvl7pPr lvl="6"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7pPr>
            <a:lvl8pPr lvl="7"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8pPr>
            <a:lvl9pPr lvl="8" algn="ctr">
              <a:spcBef>
                <a:spcPts val="0"/>
              </a:spcBef>
              <a:spcAft>
                <a:spcPts val="0"/>
              </a:spcAft>
              <a:buClr>
                <a:schemeClr val="lt1"/>
              </a:buClr>
              <a:buSzPts val="2200"/>
              <a:buFont typeface="Calibri"/>
              <a:buNone/>
              <a:defRPr sz="2200" b="1">
                <a:solidFill>
                  <a:schemeClr val="lt1"/>
                </a:solidFill>
                <a:latin typeface="Calibri"/>
                <a:ea typeface="Calibri"/>
                <a:cs typeface="Calibri"/>
                <a:sym typeface="Calibri"/>
              </a:defRPr>
            </a:lvl9pPr>
          </a:lstStyle>
          <a:p>
            <a:endParaRPr/>
          </a:p>
        </p:txBody>
      </p:sp>
      <p:cxnSp>
        <p:nvCxnSpPr>
          <p:cNvPr id="40" name="Google Shape;40;p7"/>
          <p:cNvCxnSpPr/>
          <p:nvPr/>
        </p:nvCxnSpPr>
        <p:spPr>
          <a:xfrm>
            <a:off x="4563000" y="591725"/>
            <a:ext cx="27000" cy="4179000"/>
          </a:xfrm>
          <a:prstGeom prst="straightConnector1">
            <a:avLst/>
          </a:prstGeom>
          <a:noFill/>
          <a:ln w="9525" cap="flat" cmpd="sng">
            <a:solidFill>
              <a:srgbClr val="FFA500"/>
            </a:solidFill>
            <a:prstDash val="solid"/>
            <a:round/>
            <a:headEnd type="none" w="med" len="med"/>
            <a:tailEnd type="none" w="med" len="med"/>
          </a:ln>
        </p:spPr>
      </p:cxnSp>
      <p:sp>
        <p:nvSpPr>
          <p:cNvPr id="41" name="Google Shape;41;p7"/>
          <p:cNvSpPr txBox="1">
            <a:spLocks noGrp="1"/>
          </p:cNvSpPr>
          <p:nvPr>
            <p:ph type="title" idx="2"/>
          </p:nvPr>
        </p:nvSpPr>
        <p:spPr>
          <a:xfrm>
            <a:off x="55450" y="591725"/>
            <a:ext cx="4454100" cy="4179000"/>
          </a:xfrm>
          <a:prstGeom prst="rect">
            <a:avLst/>
          </a:prstGeom>
          <a:solidFill>
            <a:srgbClr val="FFE5B4"/>
          </a:solidFill>
        </p:spPr>
        <p:txBody>
          <a:bodyPr spcFirstLastPara="1" wrap="square" lIns="91425" tIns="91425" rIns="91425" bIns="91425" anchor="ctr" anchorCtr="0">
            <a:normAutofit/>
          </a:bodyPr>
          <a:lstStyle>
            <a:lvl1pPr lvl="0">
              <a:spcBef>
                <a:spcPts val="0"/>
              </a:spcBef>
              <a:spcAft>
                <a:spcPts val="0"/>
              </a:spcAft>
              <a:buSzPts val="1800"/>
              <a:buFont typeface="Calibri"/>
              <a:buNone/>
              <a:defRPr sz="1800">
                <a:latin typeface="Calibri"/>
                <a:ea typeface="Calibri"/>
                <a:cs typeface="Calibri"/>
                <a:sym typeface="Calibri"/>
              </a:defRPr>
            </a:lvl1pPr>
            <a:lvl2pPr lvl="1">
              <a:spcBef>
                <a:spcPts val="0"/>
              </a:spcBef>
              <a:spcAft>
                <a:spcPts val="0"/>
              </a:spcAft>
              <a:buSzPts val="1800"/>
              <a:buFont typeface="Calibri"/>
              <a:buNone/>
              <a:defRPr sz="1800">
                <a:latin typeface="Calibri"/>
                <a:ea typeface="Calibri"/>
                <a:cs typeface="Calibri"/>
                <a:sym typeface="Calibri"/>
              </a:defRPr>
            </a:lvl2pPr>
            <a:lvl3pPr lvl="2">
              <a:spcBef>
                <a:spcPts val="0"/>
              </a:spcBef>
              <a:spcAft>
                <a:spcPts val="0"/>
              </a:spcAft>
              <a:buSzPts val="1800"/>
              <a:buFont typeface="Calibri"/>
              <a:buNone/>
              <a:defRPr sz="1800">
                <a:latin typeface="Calibri"/>
                <a:ea typeface="Calibri"/>
                <a:cs typeface="Calibri"/>
                <a:sym typeface="Calibri"/>
              </a:defRPr>
            </a:lvl3pPr>
            <a:lvl4pPr lvl="3">
              <a:spcBef>
                <a:spcPts val="0"/>
              </a:spcBef>
              <a:spcAft>
                <a:spcPts val="0"/>
              </a:spcAft>
              <a:buSzPts val="1800"/>
              <a:buFont typeface="Calibri"/>
              <a:buNone/>
              <a:defRPr sz="1800">
                <a:latin typeface="Calibri"/>
                <a:ea typeface="Calibri"/>
                <a:cs typeface="Calibri"/>
                <a:sym typeface="Calibri"/>
              </a:defRPr>
            </a:lvl4pPr>
            <a:lvl5pPr lvl="4">
              <a:spcBef>
                <a:spcPts val="0"/>
              </a:spcBef>
              <a:spcAft>
                <a:spcPts val="0"/>
              </a:spcAft>
              <a:buSzPts val="1800"/>
              <a:buFont typeface="Calibri"/>
              <a:buNone/>
              <a:defRPr sz="1800">
                <a:latin typeface="Calibri"/>
                <a:ea typeface="Calibri"/>
                <a:cs typeface="Calibri"/>
                <a:sym typeface="Calibri"/>
              </a:defRPr>
            </a:lvl5pPr>
            <a:lvl6pPr lvl="5">
              <a:spcBef>
                <a:spcPts val="0"/>
              </a:spcBef>
              <a:spcAft>
                <a:spcPts val="0"/>
              </a:spcAft>
              <a:buSzPts val="1800"/>
              <a:buFont typeface="Calibri"/>
              <a:buNone/>
              <a:defRPr sz="1800">
                <a:latin typeface="Calibri"/>
                <a:ea typeface="Calibri"/>
                <a:cs typeface="Calibri"/>
                <a:sym typeface="Calibri"/>
              </a:defRPr>
            </a:lvl6pPr>
            <a:lvl7pPr lvl="6">
              <a:spcBef>
                <a:spcPts val="0"/>
              </a:spcBef>
              <a:spcAft>
                <a:spcPts val="0"/>
              </a:spcAft>
              <a:buSzPts val="1800"/>
              <a:buFont typeface="Calibri"/>
              <a:buNone/>
              <a:defRPr sz="1800">
                <a:latin typeface="Calibri"/>
                <a:ea typeface="Calibri"/>
                <a:cs typeface="Calibri"/>
                <a:sym typeface="Calibri"/>
              </a:defRPr>
            </a:lvl7pPr>
            <a:lvl8pPr lvl="7">
              <a:spcBef>
                <a:spcPts val="0"/>
              </a:spcBef>
              <a:spcAft>
                <a:spcPts val="0"/>
              </a:spcAft>
              <a:buSzPts val="1800"/>
              <a:buFont typeface="Calibri"/>
              <a:buNone/>
              <a:defRPr sz="1800">
                <a:latin typeface="Calibri"/>
                <a:ea typeface="Calibri"/>
                <a:cs typeface="Calibri"/>
                <a:sym typeface="Calibri"/>
              </a:defRPr>
            </a:lvl8pPr>
            <a:lvl9pPr lvl="8">
              <a:spcBef>
                <a:spcPts val="0"/>
              </a:spcBef>
              <a:spcAft>
                <a:spcPts val="0"/>
              </a:spcAft>
              <a:buSzPts val="1800"/>
              <a:buFont typeface="Calibri"/>
              <a:buNone/>
              <a:defRPr sz="1800">
                <a:latin typeface="Calibri"/>
                <a:ea typeface="Calibri"/>
                <a:cs typeface="Calibri"/>
                <a:sym typeface="Calibri"/>
              </a:defRPr>
            </a:lvl9pPr>
          </a:lstStyle>
          <a:p>
            <a:endParaRPr/>
          </a:p>
        </p:txBody>
      </p:sp>
    </p:spTree>
    <p:extLst>
      <p:ext uri="{BB962C8B-B14F-4D97-AF65-F5344CB8AC3E}">
        <p14:creationId xmlns:p14="http://schemas.microsoft.com/office/powerpoint/2010/main" val="18384521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GB"/>
              <a:t>‹#›</a:t>
            </a:fld>
            <a:endParaRPr/>
          </a:p>
        </p:txBody>
      </p:sp>
      <p:pic>
        <p:nvPicPr>
          <p:cNvPr id="9" name="Google Shape;9;p1"/>
          <p:cNvPicPr preferRelativeResize="0"/>
          <p:nvPr/>
        </p:nvPicPr>
        <p:blipFill rotWithShape="1">
          <a:blip r:embed="rId12">
            <a:alphaModFix/>
          </a:blip>
          <a:srcRect/>
          <a:stretch/>
        </p:blipFill>
        <p:spPr>
          <a:xfrm>
            <a:off x="0" y="4865050"/>
            <a:ext cx="1120900" cy="278450"/>
          </a:xfrm>
          <a:prstGeom prst="rect">
            <a:avLst/>
          </a:prstGeom>
          <a:noFill/>
          <a:ln w="9525" cap="flat" cmpd="sng">
            <a:solidFill>
              <a:srgbClr val="1F4690"/>
            </a:solidFill>
            <a:prstDash val="solid"/>
            <a:round/>
            <a:headEnd type="none" w="sm" len="sm"/>
            <a:tailEnd type="none" w="sm" len="sm"/>
          </a:ln>
        </p:spPr>
      </p:pic>
    </p:spTree>
  </p:cSld>
  <p:clrMap bg1="lt1" tx1="dk1" bg2="dk2" tx2="lt2" accent1="accent1" accent2="accent2" accent3="accent3" accent4="accent4" accent5="accent5" accent6="accent6" hlink="hlink" folHlink="folHlink"/>
  <p:sldLayoutIdLst>
    <p:sldLayoutId id="2147483648" r:id="rId1"/>
    <p:sldLayoutId id="2147483649" r:id="rId2"/>
    <p:sldLayoutId id="2147483651" r:id="rId3"/>
    <p:sldLayoutId id="2147483652" r:id="rId4"/>
    <p:sldLayoutId id="2147483654" r:id="rId5"/>
    <p:sldLayoutId id="2147483655" r:id="rId6"/>
    <p:sldLayoutId id="2147483656" r:id="rId7"/>
    <p:sldLayoutId id="2147483657" r:id="rId8"/>
    <p:sldLayoutId id="2147483658" r:id="rId9"/>
    <p:sldLayoutId id="214748366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omments" Target="../comments/commen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3"/>
          <p:cNvSpPr txBox="1">
            <a:spLocks noGrp="1"/>
          </p:cNvSpPr>
          <p:nvPr>
            <p:ph type="ctrTitle" idx="4294967295"/>
          </p:nvPr>
        </p:nvSpPr>
        <p:spPr>
          <a:xfrm>
            <a:off x="311708" y="744575"/>
            <a:ext cx="8520600" cy="2052600"/>
          </a:xfrm>
          <a:prstGeom prst="rect">
            <a:avLst/>
          </a:prstGeom>
          <a:solidFill>
            <a:srgbClr val="1F4690"/>
          </a:solidFill>
        </p:spPr>
        <p:txBody>
          <a:bodyPr spcFirstLastPara="1" wrap="square" lIns="91425" tIns="91425" rIns="91425" bIns="91425" anchor="ctr" anchorCtr="0">
            <a:normAutofit/>
          </a:bodyPr>
          <a:lstStyle/>
          <a:p>
            <a:pPr marL="0" lvl="0" indent="0" algn="ctr" rtl="0">
              <a:spcBef>
                <a:spcPts val="0"/>
              </a:spcBef>
              <a:spcAft>
                <a:spcPts val="0"/>
              </a:spcAft>
              <a:buNone/>
            </a:pPr>
            <a:r>
              <a:rPr lang="en-GB" sz="4000" b="1" dirty="0">
                <a:solidFill>
                  <a:schemeClr val="lt1"/>
                </a:solidFill>
                <a:latin typeface="Calibri"/>
                <a:ea typeface="Calibri"/>
                <a:cs typeface="Calibri"/>
                <a:sym typeface="Calibri"/>
              </a:rPr>
              <a:t>{{</a:t>
            </a:r>
            <a:r>
              <a:rPr lang="en-GB" sz="4000" b="1" dirty="0" err="1">
                <a:solidFill>
                  <a:schemeClr val="lt1"/>
                </a:solidFill>
                <a:latin typeface="Calibri"/>
                <a:ea typeface="Calibri"/>
                <a:cs typeface="Calibri"/>
                <a:sym typeface="Calibri"/>
              </a:rPr>
              <a:t>company_name</a:t>
            </a:r>
            <a:r>
              <a:rPr lang="en-GB" sz="4000" b="1" dirty="0">
                <a:solidFill>
                  <a:schemeClr val="lt1"/>
                </a:solidFill>
                <a:latin typeface="Calibri"/>
                <a:ea typeface="Calibri"/>
                <a:cs typeface="Calibri"/>
                <a:sym typeface="Calibri"/>
              </a:rPr>
              <a:t>}}</a:t>
            </a:r>
            <a:endParaRPr sz="4000" b="1" dirty="0">
              <a:solidFill>
                <a:schemeClr val="lt1"/>
              </a:solidFill>
              <a:latin typeface="Calibri"/>
              <a:ea typeface="Calibri"/>
              <a:cs typeface="Calibri"/>
              <a:sym typeface="Calibri"/>
            </a:endParaRPr>
          </a:p>
        </p:txBody>
      </p:sp>
      <p:sp>
        <p:nvSpPr>
          <p:cNvPr id="65" name="Google Shape;65;p13"/>
          <p:cNvSpPr txBox="1">
            <a:spLocks noGrp="1"/>
          </p:cNvSpPr>
          <p:nvPr>
            <p:ph type="subTitle" idx="4294967295"/>
          </p:nvPr>
        </p:nvSpPr>
        <p:spPr>
          <a:xfrm>
            <a:off x="311700" y="2919175"/>
            <a:ext cx="8520600" cy="792600"/>
          </a:xfrm>
          <a:prstGeom prst="rect">
            <a:avLst/>
          </a:prstGeom>
          <a:solidFill>
            <a:srgbClr val="FFE5B4"/>
          </a:solidFill>
        </p:spPr>
        <p:txBody>
          <a:bodyPr spcFirstLastPara="1" wrap="square" lIns="91425" tIns="91425" rIns="91425" bIns="91425" anchor="ctr" anchorCtr="0">
            <a:normAutofit fontScale="92500" lnSpcReduction="20000"/>
          </a:bodyPr>
          <a:lstStyle/>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NSE:{{</a:t>
            </a:r>
            <a:r>
              <a:rPr lang="en-GB" sz="1375" b="1" dirty="0" err="1">
                <a:solidFill>
                  <a:schemeClr val="dk1"/>
                </a:solidFill>
                <a:latin typeface="Calibri"/>
                <a:ea typeface="Calibri"/>
                <a:cs typeface="Calibri"/>
                <a:sym typeface="Calibri"/>
              </a:rPr>
              <a:t>nse_symbol</a:t>
            </a:r>
            <a:r>
              <a:rPr lang="en-GB" sz="1375" b="1" dirty="0">
                <a:solidFill>
                  <a:schemeClr val="dk1"/>
                </a:solidFill>
                <a:latin typeface="Calibri"/>
                <a:ea typeface="Calibri"/>
                <a:cs typeface="Calibri"/>
                <a:sym typeface="Calibri"/>
              </a:rPr>
              <a:t>}} | BOM:{{</a:t>
            </a:r>
            <a:r>
              <a:rPr lang="en-GB" sz="1375" b="1" dirty="0" err="1">
                <a:solidFill>
                  <a:schemeClr val="dk1"/>
                </a:solidFill>
                <a:latin typeface="Calibri"/>
                <a:ea typeface="Calibri"/>
                <a:cs typeface="Calibri"/>
                <a:sym typeface="Calibri"/>
              </a:rPr>
              <a:t>bom_code</a:t>
            </a:r>
            <a:r>
              <a:rPr lang="en-GB" sz="1375" b="1" dirty="0">
                <a:solidFill>
                  <a:schemeClr val="dk1"/>
                </a:solidFill>
                <a:latin typeface="Calibri"/>
                <a:ea typeface="Calibri"/>
                <a:cs typeface="Calibri"/>
                <a:sym typeface="Calibri"/>
              </a:rPr>
              <a:t>}} | Rating: </a:t>
            </a:r>
            <a:r>
              <a:rPr lang="en-GB" sz="1375" b="1">
                <a:solidFill>
                  <a:schemeClr val="dk1"/>
                </a:solidFill>
                <a:latin typeface="Calibri"/>
                <a:ea typeface="Calibri"/>
                <a:cs typeface="Calibri"/>
                <a:sym typeface="Calibri"/>
              </a:rPr>
              <a:t>{{recommendation}}</a:t>
            </a:r>
            <a:endParaRPr lang="en-GB" sz="1375" b="1" dirty="0">
              <a:solidFill>
                <a:schemeClr val="dk1"/>
              </a:solidFill>
              <a:latin typeface="Calibri"/>
              <a:ea typeface="Calibri"/>
              <a:cs typeface="Calibri"/>
              <a:sym typeface="Calibri"/>
            </a:endParaRPr>
          </a:p>
          <a:p>
            <a:pPr marL="0" lvl="0" indent="0" algn="ctr" rtl="0">
              <a:lnSpc>
                <a:spcPct val="95000"/>
              </a:lnSpc>
              <a:spcBef>
                <a:spcPts val="0"/>
              </a:spcBef>
              <a:spcAft>
                <a:spcPts val="1200"/>
              </a:spcAft>
              <a:buSzPts val="688"/>
              <a:buNone/>
            </a:pPr>
            <a:r>
              <a:rPr lang="en-GB" sz="1375" b="1" dirty="0">
                <a:solidFill>
                  <a:schemeClr val="dk1"/>
                </a:solidFill>
                <a:latin typeface="Calibri"/>
                <a:ea typeface="Calibri"/>
                <a:cs typeface="Calibri"/>
                <a:sym typeface="Calibri"/>
              </a:rPr>
              <a:t>Date: {{</a:t>
            </a:r>
            <a:r>
              <a:rPr lang="en-GB" sz="1375" b="1" dirty="0" err="1">
                <a:solidFill>
                  <a:schemeClr val="dk1"/>
                </a:solidFill>
                <a:latin typeface="Calibri"/>
                <a:ea typeface="Calibri"/>
                <a:cs typeface="Calibri"/>
                <a:sym typeface="Calibri"/>
              </a:rPr>
              <a:t>today_date</a:t>
            </a:r>
            <a:r>
              <a:rPr lang="en-GB" sz="1375" b="1" dirty="0">
                <a:solidFill>
                  <a:schemeClr val="dk1"/>
                </a:solidFill>
                <a:latin typeface="Calibri"/>
                <a:ea typeface="Calibri"/>
                <a:cs typeface="Calibri"/>
                <a:sym typeface="Calibri"/>
              </a:rPr>
              <a:t>}}</a:t>
            </a:r>
            <a:endParaRPr sz="1375" b="1" dirty="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4"/>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Leader in compliant recycling with multi-metal growth optionality</a:t>
            </a:r>
            <a:endParaRPr dirty="0"/>
          </a:p>
        </p:txBody>
      </p:sp>
      <p:sp>
        <p:nvSpPr>
          <p:cNvPr id="71" name="Google Shape;71;p14"/>
          <p:cNvSpPr txBox="1">
            <a:spLocks noGrp="1"/>
          </p:cNvSpPr>
          <p:nvPr>
            <p:ph type="title" idx="2"/>
          </p:nvPr>
        </p:nvSpPr>
        <p:spPr>
          <a:xfrm>
            <a:off x="55450" y="604650"/>
            <a:ext cx="4454100" cy="4179000"/>
          </a:xfrm>
          <a:prstGeom prst="rect">
            <a:avLst/>
          </a:prstGeom>
        </p:spPr>
        <p:txBody>
          <a:bodyPr spcFirstLastPara="1" wrap="square" lIns="91425" tIns="91425" rIns="91425" bIns="91425" anchor="ctr" anchorCtr="0">
            <a:noAutofit/>
          </a:bodyPr>
          <a:lstStyle/>
          <a:p>
            <a:pPr marL="0" lvl="0" indent="0" algn="just" rtl="0">
              <a:spcBef>
                <a:spcPts val="0"/>
              </a:spcBef>
              <a:spcAft>
                <a:spcPts val="0"/>
              </a:spcAft>
              <a:buNone/>
            </a:pPr>
            <a:r>
              <a:rPr lang="en-GB" sz="1000" b="1" dirty="0"/>
              <a:t>- Market Positioning</a:t>
            </a:r>
            <a:r>
              <a:rPr lang="en-GB" sz="1000" dirty="0"/>
              <a:t>: {{</a:t>
            </a:r>
            <a:r>
              <a:rPr lang="en-GB" sz="1000" dirty="0" err="1"/>
              <a:t>market_positioning</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Financial Performance:</a:t>
            </a:r>
            <a:r>
              <a:rPr lang="en-GB" sz="1000" dirty="0"/>
              <a:t>.{{</a:t>
            </a:r>
            <a:r>
              <a:rPr lang="en-GB" sz="1000" dirty="0" err="1"/>
              <a:t>financial_performance</a:t>
            </a:r>
            <a:r>
              <a:rPr lang="en-GB" sz="1000" dirty="0"/>
              <a:t>}}</a:t>
            </a:r>
            <a:endParaRPr sz="1000" dirty="0"/>
          </a:p>
          <a:p>
            <a:pPr marL="0" lvl="0" indent="0" algn="just" rtl="0">
              <a:spcBef>
                <a:spcPts val="0"/>
              </a:spcBef>
              <a:spcAft>
                <a:spcPts val="0"/>
              </a:spcAft>
              <a:buClr>
                <a:schemeClr val="dk1"/>
              </a:buClr>
              <a:buSzPts val="1100"/>
              <a:buFont typeface="Arial"/>
              <a:buNone/>
            </a:pPr>
            <a:r>
              <a:rPr lang="en-GB" sz="1000" b="1" dirty="0"/>
              <a:t>- Growth &amp; Outlook: {</a:t>
            </a:r>
            <a:r>
              <a:rPr lang="en-GB" sz="1000" dirty="0"/>
              <a:t>{</a:t>
            </a:r>
            <a:r>
              <a:rPr lang="en-GB" sz="1000" dirty="0" err="1"/>
              <a:t>grow_outlook</a:t>
            </a:r>
            <a:r>
              <a:rPr lang="en-GB" sz="1000" dirty="0"/>
              <a:t>}}</a:t>
            </a:r>
            <a:endParaRPr sz="1000" b="1" dirty="0"/>
          </a:p>
          <a:p>
            <a:pPr marL="0" lvl="0" indent="0" algn="just" rtl="0">
              <a:spcBef>
                <a:spcPts val="0"/>
              </a:spcBef>
              <a:spcAft>
                <a:spcPts val="0"/>
              </a:spcAft>
              <a:buClr>
                <a:schemeClr val="dk1"/>
              </a:buClr>
              <a:buSzPts val="1100"/>
              <a:buFont typeface="Arial"/>
              <a:buNone/>
            </a:pPr>
            <a:r>
              <a:rPr lang="en-GB" sz="1000" b="1" dirty="0"/>
              <a:t>- Valuation &amp; Recommendation:</a:t>
            </a:r>
            <a:r>
              <a:rPr lang="en-GB" sz="1000" dirty="0"/>
              <a:t> </a:t>
            </a:r>
            <a:r>
              <a:rPr lang="en-US" sz="1000" dirty="0"/>
              <a:t>{{</a:t>
            </a:r>
            <a:r>
              <a:rPr lang="en-US" sz="1000" dirty="0" err="1"/>
              <a:t>valuation_recommendation</a:t>
            </a:r>
            <a:r>
              <a:rPr lang="en-US" sz="1000" dirty="0"/>
              <a:t>}}</a:t>
            </a:r>
            <a:endParaRPr lang="en-US" sz="1000" b="1" dirty="0"/>
          </a:p>
          <a:p>
            <a:pPr marL="0" lvl="0" indent="0" algn="just" rtl="0">
              <a:spcBef>
                <a:spcPts val="0"/>
              </a:spcBef>
              <a:spcAft>
                <a:spcPts val="0"/>
              </a:spcAft>
              <a:buNone/>
            </a:pPr>
            <a:r>
              <a:rPr lang="en-US" sz="1000" b="1" dirty="0"/>
              <a:t>- Key Risks: </a:t>
            </a:r>
            <a:r>
              <a:rPr lang="en-US" sz="1000" dirty="0"/>
              <a:t>{{</a:t>
            </a:r>
            <a:r>
              <a:rPr lang="en-US" sz="1000" dirty="0" err="1"/>
              <a:t>key_risks</a:t>
            </a:r>
            <a:r>
              <a:rPr lang="en-US" sz="1000" dirty="0"/>
              <a:t>}}</a:t>
            </a:r>
          </a:p>
        </p:txBody>
      </p:sp>
      <p:graphicFrame>
        <p:nvGraphicFramePr>
          <p:cNvPr id="72" name="Google Shape;72;p14"/>
          <p:cNvGraphicFramePr/>
          <p:nvPr/>
        </p:nvGraphicFramePr>
        <p:xfrm>
          <a:off x="4661550" y="1975175"/>
          <a:ext cx="2300450" cy="2795525"/>
        </p:xfrm>
        <a:graphic>
          <a:graphicData uri="http://schemas.openxmlformats.org/drawingml/2006/table">
            <a:tbl>
              <a:tblPr>
                <a:noFill/>
              </a:tblPr>
              <a:tblGrid>
                <a:gridCol w="1150225">
                  <a:extLst>
                    <a:ext uri="{9D8B030D-6E8A-4147-A177-3AD203B41FA5}">
                      <a16:colId xmlns:a16="http://schemas.microsoft.com/office/drawing/2014/main" val="20000"/>
                    </a:ext>
                  </a:extLst>
                </a:gridCol>
                <a:gridCol w="1150225">
                  <a:extLst>
                    <a:ext uri="{9D8B030D-6E8A-4147-A177-3AD203B41FA5}">
                      <a16:colId xmlns:a16="http://schemas.microsoft.com/office/drawing/2014/main" val="20001"/>
                    </a:ext>
                  </a:extLst>
                </a:gridCol>
              </a:tblGrid>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0"/>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1"/>
                  </a:ext>
                </a:extLst>
              </a:tr>
              <a:tr h="57227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2"/>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3"/>
                  </a:ext>
                </a:extLst>
              </a:tr>
              <a:tr h="550325">
                <a:tc>
                  <a:txBody>
                    <a:bodyPr/>
                    <a:lstStyle/>
                    <a:p>
                      <a:pPr marL="0" lvl="0" indent="0" algn="l" rtl="0">
                        <a:spcBef>
                          <a:spcPts val="0"/>
                        </a:spcBef>
                        <a:spcAft>
                          <a:spcPts val="0"/>
                        </a:spcAft>
                        <a:buNone/>
                      </a:pPr>
                      <a:endParaRPr/>
                    </a:p>
                  </a:txBody>
                  <a:tcPr marL="91425" marR="91425" marT="91425" marB="91425"/>
                </a:tc>
                <a:tc>
                  <a:txBody>
                    <a:bodyPr/>
                    <a:lstStyle/>
                    <a:p>
                      <a:pPr marL="0" lvl="0" indent="0" algn="l" rtl="0">
                        <a:spcBef>
                          <a:spcPts val="0"/>
                        </a:spcBef>
                        <a:spcAft>
                          <a:spcPts val="0"/>
                        </a:spcAft>
                        <a:buNone/>
                      </a:pPr>
                      <a:endParaRPr/>
                    </a:p>
                  </a:txBody>
                  <a:tcPr marL="91425" marR="91425" marT="91425" marB="91425"/>
                </a:tc>
                <a:extLst>
                  <a:ext uri="{0D108BD9-81ED-4DB2-BD59-A6C34878D82A}">
                    <a16:rowId xmlns:a16="http://schemas.microsoft.com/office/drawing/2014/main" val="10004"/>
                  </a:ext>
                </a:extLst>
              </a:tr>
            </a:tbl>
          </a:graphicData>
        </a:graphic>
      </p:graphicFrame>
      <p:sp>
        <p:nvSpPr>
          <p:cNvPr id="73" name="Google Shape;73;p14"/>
          <p:cNvSpPr txBox="1"/>
          <p:nvPr/>
        </p:nvSpPr>
        <p:spPr>
          <a:xfrm>
            <a:off x="4653425" y="604650"/>
            <a:ext cx="4378500" cy="1324200"/>
          </a:xfrm>
          <a:prstGeom prst="rect">
            <a:avLst/>
          </a:prstGeom>
          <a:solidFill>
            <a:srgbClr val="FFE5B4"/>
          </a:solid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100">
              <a:solidFill>
                <a:schemeClr val="dk2"/>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Leader in compliant recycling with multi-metal growth optionality</a:t>
            </a:r>
          </a:p>
        </p:txBody>
      </p:sp>
      <p:graphicFrame>
        <p:nvGraphicFramePr>
          <p:cNvPr id="79" name="Google Shape;79;p15"/>
          <p:cNvGraphicFramePr/>
          <p:nvPr/>
        </p:nvGraphicFramePr>
        <p:xfrm>
          <a:off x="4659225" y="1950725"/>
          <a:ext cx="4419375" cy="2742900"/>
        </p:xfrm>
        <a:graphic>
          <a:graphicData uri="http://schemas.openxmlformats.org/drawingml/2006/table">
            <a:tbl>
              <a:tblPr>
                <a:noFill/>
              </a:tblPr>
              <a:tblGrid>
                <a:gridCol w="1776500">
                  <a:extLst>
                    <a:ext uri="{9D8B030D-6E8A-4147-A177-3AD203B41FA5}">
                      <a16:colId xmlns:a16="http://schemas.microsoft.com/office/drawing/2014/main" val="20000"/>
                    </a:ext>
                  </a:extLst>
                </a:gridCol>
                <a:gridCol w="528575">
                  <a:extLst>
                    <a:ext uri="{9D8B030D-6E8A-4147-A177-3AD203B41FA5}">
                      <a16:colId xmlns:a16="http://schemas.microsoft.com/office/drawing/2014/main" val="20001"/>
                    </a:ext>
                  </a:extLst>
                </a:gridCol>
                <a:gridCol w="528575">
                  <a:extLst>
                    <a:ext uri="{9D8B030D-6E8A-4147-A177-3AD203B41FA5}">
                      <a16:colId xmlns:a16="http://schemas.microsoft.com/office/drawing/2014/main" val="20002"/>
                    </a:ext>
                  </a:extLst>
                </a:gridCol>
                <a:gridCol w="528575">
                  <a:extLst>
                    <a:ext uri="{9D8B030D-6E8A-4147-A177-3AD203B41FA5}">
                      <a16:colId xmlns:a16="http://schemas.microsoft.com/office/drawing/2014/main" val="20003"/>
                    </a:ext>
                  </a:extLst>
                </a:gridCol>
                <a:gridCol w="528575">
                  <a:extLst>
                    <a:ext uri="{9D8B030D-6E8A-4147-A177-3AD203B41FA5}">
                      <a16:colId xmlns:a16="http://schemas.microsoft.com/office/drawing/2014/main" val="20004"/>
                    </a:ext>
                  </a:extLst>
                </a:gridCol>
                <a:gridCol w="528575">
                  <a:extLst>
                    <a:ext uri="{9D8B030D-6E8A-4147-A177-3AD203B41FA5}">
                      <a16:colId xmlns:a16="http://schemas.microsoft.com/office/drawing/2014/main" val="20005"/>
                    </a:ext>
                  </a:extLst>
                </a:gridCol>
              </a:tblGrid>
              <a:tr h="217150">
                <a:tc>
                  <a:txBody>
                    <a:bodyPr/>
                    <a:lstStyle/>
                    <a:p>
                      <a:pPr marL="0" lvl="0" indent="0" algn="l" rtl="0">
                        <a:spcBef>
                          <a:spcPts val="0"/>
                        </a:spcBef>
                        <a:spcAft>
                          <a:spcPts val="0"/>
                        </a:spcAft>
                        <a:buNone/>
                      </a:pPr>
                      <a:r>
                        <a:rPr lang="en-GB" sz="600" b="1">
                          <a:solidFill>
                            <a:schemeClr val="lt1"/>
                          </a:solidFill>
                          <a:latin typeface="Calibri"/>
                          <a:ea typeface="Calibri"/>
                          <a:cs typeface="Calibri"/>
                          <a:sym typeface="Calibri"/>
                        </a:rPr>
                        <a:t>Particulars</a:t>
                      </a:r>
                      <a:endParaRPr sz="600" b="1">
                        <a:solidFill>
                          <a:schemeClr val="lt1"/>
                        </a:solidFill>
                        <a:latin typeface="Calibri"/>
                        <a:ea typeface="Calibri"/>
                        <a:cs typeface="Calibri"/>
                        <a:sym typeface="Calibri"/>
                      </a:endParaRPr>
                    </a:p>
                  </a:txBody>
                  <a:tcPr marL="91425" marR="91425" marT="91425" marB="91425">
                    <a:solidFill>
                      <a:srgbClr val="1F4690"/>
                    </a:solidFill>
                  </a:tcPr>
                </a:tc>
                <a:tc>
                  <a:txBody>
                    <a:bodyPr/>
                    <a:lstStyle/>
                    <a:p>
                      <a:pPr marL="0" lvl="0" indent="0" algn="r" rtl="0">
                        <a:spcBef>
                          <a:spcPts val="0"/>
                        </a:spcBef>
                        <a:spcAft>
                          <a:spcPts val="0"/>
                        </a:spcAft>
                        <a:buNone/>
                      </a:pPr>
                      <a:r>
                        <a:rPr lang="en-GB" sz="600" b="1">
                          <a:solidFill>
                            <a:schemeClr val="lt1"/>
                          </a:solidFill>
                          <a:latin typeface="Calibri"/>
                          <a:ea typeface="Calibri"/>
                          <a:cs typeface="Calibri"/>
                          <a:sym typeface="Calibri"/>
                        </a:rPr>
                        <a:t>FY24A</a:t>
                      </a:r>
                      <a:endParaRPr sz="600" b="1">
                        <a:solidFill>
                          <a:schemeClr val="lt1"/>
                        </a:solidFill>
                        <a:latin typeface="Calibri"/>
                        <a:ea typeface="Calibri"/>
                        <a:cs typeface="Calibri"/>
                        <a:sym typeface="Calibri"/>
                      </a:endParaRPr>
                    </a:p>
                  </a:txBody>
                  <a:tcPr marL="91425" marR="91425" marT="91425" marB="91425" anchor="ctr">
                    <a:solidFill>
                      <a:srgbClr val="1F4690"/>
                    </a:solidFill>
                  </a:tcPr>
                </a:tc>
                <a:tc>
                  <a:txBody>
                    <a:bodyPr/>
                    <a:lstStyle/>
                    <a:p>
                      <a:pPr marL="0" lvl="0" indent="0" algn="r" rtl="0">
                        <a:spcBef>
                          <a:spcPts val="0"/>
                        </a:spcBef>
                        <a:spcAft>
                          <a:spcPts val="0"/>
                        </a:spcAft>
                        <a:buNone/>
                      </a:pPr>
                      <a:r>
                        <a:rPr lang="en-GB" sz="600" b="1">
                          <a:solidFill>
                            <a:schemeClr val="lt1"/>
                          </a:solidFill>
                          <a:latin typeface="Calibri"/>
                          <a:ea typeface="Calibri"/>
                          <a:cs typeface="Calibri"/>
                          <a:sym typeface="Calibri"/>
                        </a:rPr>
                        <a:t>FY25A</a:t>
                      </a:r>
                      <a:endParaRPr sz="600" b="1">
                        <a:solidFill>
                          <a:schemeClr val="lt1"/>
                        </a:solidFill>
                        <a:latin typeface="Calibri"/>
                        <a:ea typeface="Calibri"/>
                        <a:cs typeface="Calibri"/>
                        <a:sym typeface="Calibri"/>
                      </a:endParaRPr>
                    </a:p>
                  </a:txBody>
                  <a:tcPr marL="91425" marR="91425" marT="91425" marB="91425" anchor="ctr">
                    <a:solidFill>
                      <a:srgbClr val="1F4690"/>
                    </a:solidFill>
                  </a:tcPr>
                </a:tc>
                <a:tc>
                  <a:txBody>
                    <a:bodyPr/>
                    <a:lstStyle/>
                    <a:p>
                      <a:pPr marL="0" lvl="0" indent="0" algn="r" rtl="0">
                        <a:spcBef>
                          <a:spcPts val="0"/>
                        </a:spcBef>
                        <a:spcAft>
                          <a:spcPts val="0"/>
                        </a:spcAft>
                        <a:buNone/>
                      </a:pPr>
                      <a:r>
                        <a:rPr lang="en-GB" sz="600" b="1">
                          <a:solidFill>
                            <a:schemeClr val="lt1"/>
                          </a:solidFill>
                          <a:latin typeface="Calibri"/>
                          <a:ea typeface="Calibri"/>
                          <a:cs typeface="Calibri"/>
                          <a:sym typeface="Calibri"/>
                        </a:rPr>
                        <a:t>FY26E</a:t>
                      </a:r>
                      <a:endParaRPr sz="600" b="1">
                        <a:solidFill>
                          <a:schemeClr val="lt1"/>
                        </a:solidFill>
                        <a:latin typeface="Calibri"/>
                        <a:ea typeface="Calibri"/>
                        <a:cs typeface="Calibri"/>
                        <a:sym typeface="Calibri"/>
                      </a:endParaRPr>
                    </a:p>
                  </a:txBody>
                  <a:tcPr marL="91425" marR="91425" marT="91425" marB="91425" anchor="ctr">
                    <a:solidFill>
                      <a:srgbClr val="1F4690"/>
                    </a:solidFill>
                  </a:tcPr>
                </a:tc>
                <a:tc>
                  <a:txBody>
                    <a:bodyPr/>
                    <a:lstStyle/>
                    <a:p>
                      <a:pPr marL="0" lvl="0" indent="0" algn="r" rtl="0">
                        <a:spcBef>
                          <a:spcPts val="0"/>
                        </a:spcBef>
                        <a:spcAft>
                          <a:spcPts val="0"/>
                        </a:spcAft>
                        <a:buNone/>
                      </a:pPr>
                      <a:r>
                        <a:rPr lang="en-GB" sz="600" b="1">
                          <a:solidFill>
                            <a:schemeClr val="lt1"/>
                          </a:solidFill>
                          <a:latin typeface="Calibri"/>
                          <a:ea typeface="Calibri"/>
                          <a:cs typeface="Calibri"/>
                          <a:sym typeface="Calibri"/>
                        </a:rPr>
                        <a:t>FY27E</a:t>
                      </a:r>
                      <a:endParaRPr sz="600" b="1">
                        <a:solidFill>
                          <a:schemeClr val="lt1"/>
                        </a:solidFill>
                        <a:latin typeface="Calibri"/>
                        <a:ea typeface="Calibri"/>
                        <a:cs typeface="Calibri"/>
                        <a:sym typeface="Calibri"/>
                      </a:endParaRPr>
                    </a:p>
                  </a:txBody>
                  <a:tcPr marL="91425" marR="91425" marT="91425" marB="91425" anchor="ctr">
                    <a:solidFill>
                      <a:srgbClr val="1F4690"/>
                    </a:solidFill>
                  </a:tcPr>
                </a:tc>
                <a:tc>
                  <a:txBody>
                    <a:bodyPr/>
                    <a:lstStyle/>
                    <a:p>
                      <a:pPr marL="0" lvl="0" indent="0" algn="r" rtl="0">
                        <a:spcBef>
                          <a:spcPts val="0"/>
                        </a:spcBef>
                        <a:spcAft>
                          <a:spcPts val="0"/>
                        </a:spcAft>
                        <a:buNone/>
                      </a:pPr>
                      <a:r>
                        <a:rPr lang="en-GB" sz="600" b="1">
                          <a:solidFill>
                            <a:schemeClr val="lt1"/>
                          </a:solidFill>
                          <a:latin typeface="Calibri"/>
                          <a:ea typeface="Calibri"/>
                          <a:cs typeface="Calibri"/>
                          <a:sym typeface="Calibri"/>
                        </a:rPr>
                        <a:t>FY28E</a:t>
                      </a:r>
                      <a:endParaRPr sz="600" b="1">
                        <a:solidFill>
                          <a:schemeClr val="lt1"/>
                        </a:solidFill>
                        <a:latin typeface="Calibri"/>
                        <a:ea typeface="Calibri"/>
                        <a:cs typeface="Calibri"/>
                        <a:sym typeface="Calibri"/>
                      </a:endParaRPr>
                    </a:p>
                  </a:txBody>
                  <a:tcPr marL="91425" marR="91425" marT="91425" marB="91425" anchor="ctr">
                    <a:solidFill>
                      <a:srgbClr val="1F4690"/>
                    </a:solidFill>
                  </a:tcPr>
                </a:tc>
                <a:extLst>
                  <a:ext uri="{0D108BD9-81ED-4DB2-BD59-A6C34878D82A}">
                    <a16:rowId xmlns:a16="http://schemas.microsoft.com/office/drawing/2014/main" val="10000"/>
                  </a:ext>
                </a:extLst>
              </a:tr>
              <a:tr h="241275">
                <a:tc>
                  <a:txBody>
                    <a:bodyPr/>
                    <a:lstStyle/>
                    <a:p>
                      <a:pPr marL="0" lvl="0" indent="0" algn="l" rtl="0">
                        <a:spcBef>
                          <a:spcPts val="0"/>
                        </a:spcBef>
                        <a:spcAft>
                          <a:spcPts val="0"/>
                        </a:spcAft>
                        <a:buNone/>
                      </a:pPr>
                      <a:r>
                        <a:rPr lang="en-GB" sz="600" dirty="0">
                          <a:latin typeface="Calibri"/>
                          <a:ea typeface="Calibri"/>
                          <a:cs typeface="Calibri"/>
                          <a:sym typeface="Calibri"/>
                        </a:rPr>
                        <a:t>Sales</a:t>
                      </a:r>
                      <a:endParaRPr sz="600" dirty="0">
                        <a:latin typeface="Calibri"/>
                        <a:ea typeface="Calibri"/>
                        <a:cs typeface="Calibri"/>
                        <a:sym typeface="Calibri"/>
                      </a:endParaRPr>
                    </a:p>
                  </a:txBody>
                  <a:tcPr marL="91425" marR="91425" marT="91425" marB="91425"/>
                </a:tc>
                <a:tc>
                  <a:txBody>
                    <a:bodyPr/>
                    <a:lstStyle/>
                    <a:p>
                      <a:pPr marL="0" lvl="0" indent="0" algn="r" rtl="0">
                        <a:spcBef>
                          <a:spcPts val="0"/>
                        </a:spcBef>
                        <a:spcAft>
                          <a:spcPts val="0"/>
                        </a:spcAft>
                        <a:buNone/>
                      </a:pPr>
                      <a:r>
                        <a:rPr lang="en-GB" sz="600" dirty="0">
                          <a:latin typeface="Calibri"/>
                          <a:ea typeface="Calibri"/>
                          <a:cs typeface="Calibri"/>
                          <a:sym typeface="Calibri"/>
                        </a:rPr>
                        <a:t>3161</a:t>
                      </a:r>
                      <a:endParaRPr sz="600" dirty="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3869</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4516</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5901</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7184</a:t>
                      </a:r>
                      <a:endParaRPr sz="600">
                        <a:latin typeface="Calibri"/>
                        <a:ea typeface="Calibri"/>
                        <a:cs typeface="Calibri"/>
                        <a:sym typeface="Calibri"/>
                      </a:endParaRPr>
                    </a:p>
                  </a:txBody>
                  <a:tcPr marL="91425" marR="91425" marT="91425" marB="91425" anchor="ctr"/>
                </a:tc>
                <a:extLst>
                  <a:ext uri="{0D108BD9-81ED-4DB2-BD59-A6C34878D82A}">
                    <a16:rowId xmlns:a16="http://schemas.microsoft.com/office/drawing/2014/main" val="10001"/>
                  </a:ext>
                </a:extLst>
              </a:tr>
              <a:tr h="241275">
                <a:tc>
                  <a:txBody>
                    <a:bodyPr/>
                    <a:lstStyle/>
                    <a:p>
                      <a:pPr marL="0" lvl="0" indent="0" algn="l" rtl="0">
                        <a:spcBef>
                          <a:spcPts val="0"/>
                        </a:spcBef>
                        <a:spcAft>
                          <a:spcPts val="0"/>
                        </a:spcAft>
                        <a:buNone/>
                      </a:pPr>
                      <a:r>
                        <a:rPr lang="en-GB" sz="600" dirty="0">
                          <a:latin typeface="Calibri"/>
                          <a:ea typeface="Calibri"/>
                          <a:cs typeface="Calibri"/>
                          <a:sym typeface="Calibri"/>
                        </a:rPr>
                        <a:t>YoY% growth</a:t>
                      </a:r>
                      <a:endParaRPr sz="600" dirty="0">
                        <a:latin typeface="Calibri"/>
                        <a:ea typeface="Calibri"/>
                        <a:cs typeface="Calibri"/>
                        <a:sym typeface="Calibri"/>
                      </a:endParaRPr>
                    </a:p>
                  </a:txBody>
                  <a:tcPr marL="91425" marR="91425" marT="91425" marB="91425">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12.9</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22.4</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16.7</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30.7</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21.8</a:t>
                      </a:r>
                      <a:endParaRPr sz="600">
                        <a:latin typeface="Calibri"/>
                        <a:ea typeface="Calibri"/>
                        <a:cs typeface="Calibri"/>
                        <a:sym typeface="Calibri"/>
                      </a:endParaRPr>
                    </a:p>
                  </a:txBody>
                  <a:tcPr marL="91425" marR="91425" marT="91425" marB="91425" anchor="ctr">
                    <a:solidFill>
                      <a:srgbClr val="FFE5B4"/>
                    </a:solidFill>
                  </a:tcPr>
                </a:tc>
                <a:extLst>
                  <a:ext uri="{0D108BD9-81ED-4DB2-BD59-A6C34878D82A}">
                    <a16:rowId xmlns:a16="http://schemas.microsoft.com/office/drawing/2014/main" val="10002"/>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EBITDA</a:t>
                      </a:r>
                      <a:endParaRPr sz="600">
                        <a:latin typeface="Calibri"/>
                        <a:ea typeface="Calibri"/>
                        <a:cs typeface="Calibri"/>
                        <a:sym typeface="Calibri"/>
                      </a:endParaRPr>
                    </a:p>
                  </a:txBody>
                  <a:tcPr marL="91425" marR="91425" marT="91425" marB="91425"/>
                </a:tc>
                <a:tc>
                  <a:txBody>
                    <a:bodyPr/>
                    <a:lstStyle/>
                    <a:p>
                      <a:pPr marL="0" lvl="0" indent="0" algn="r" rtl="0">
                        <a:spcBef>
                          <a:spcPts val="0"/>
                        </a:spcBef>
                        <a:spcAft>
                          <a:spcPts val="0"/>
                        </a:spcAft>
                        <a:buNone/>
                      </a:pPr>
                      <a:r>
                        <a:rPr lang="en-GB" sz="600">
                          <a:latin typeface="Calibri"/>
                          <a:ea typeface="Calibri"/>
                          <a:cs typeface="Calibri"/>
                          <a:sym typeface="Calibri"/>
                        </a:rPr>
                        <a:t>284</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324</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474</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596</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740</a:t>
                      </a:r>
                      <a:endParaRPr sz="600">
                        <a:latin typeface="Calibri"/>
                        <a:ea typeface="Calibri"/>
                        <a:cs typeface="Calibri"/>
                        <a:sym typeface="Calibri"/>
                      </a:endParaRPr>
                    </a:p>
                  </a:txBody>
                  <a:tcPr marL="91425" marR="91425" marT="91425" marB="91425" anchor="ctr"/>
                </a:tc>
                <a:extLst>
                  <a:ext uri="{0D108BD9-81ED-4DB2-BD59-A6C34878D82A}">
                    <a16:rowId xmlns:a16="http://schemas.microsoft.com/office/drawing/2014/main" val="10003"/>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 Margin</a:t>
                      </a:r>
                      <a:endParaRPr sz="600">
                        <a:latin typeface="Calibri"/>
                        <a:ea typeface="Calibri"/>
                        <a:cs typeface="Calibri"/>
                        <a:sym typeface="Calibri"/>
                      </a:endParaRPr>
                    </a:p>
                  </a:txBody>
                  <a:tcPr marL="91425" marR="91425" marT="91425" marB="91425">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9.0</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8.4</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10.5</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10.1</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10.3</a:t>
                      </a:r>
                      <a:endParaRPr sz="600">
                        <a:latin typeface="Calibri"/>
                        <a:ea typeface="Calibri"/>
                        <a:cs typeface="Calibri"/>
                        <a:sym typeface="Calibri"/>
                      </a:endParaRPr>
                    </a:p>
                  </a:txBody>
                  <a:tcPr marL="91425" marR="91425" marT="91425" marB="91425" anchor="ctr">
                    <a:solidFill>
                      <a:srgbClr val="FFE5B4"/>
                    </a:solidFill>
                  </a:tcPr>
                </a:tc>
                <a:extLst>
                  <a:ext uri="{0D108BD9-81ED-4DB2-BD59-A6C34878D82A}">
                    <a16:rowId xmlns:a16="http://schemas.microsoft.com/office/drawing/2014/main" val="10004"/>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YoY% growth</a:t>
                      </a:r>
                      <a:endParaRPr sz="600">
                        <a:latin typeface="Calibri"/>
                        <a:ea typeface="Calibri"/>
                        <a:cs typeface="Calibri"/>
                        <a:sym typeface="Calibri"/>
                      </a:endParaRPr>
                    </a:p>
                  </a:txBody>
                  <a:tcPr marL="91425" marR="91425" marT="91425" marB="91425"/>
                </a:tc>
                <a:tc>
                  <a:txBody>
                    <a:bodyPr/>
                    <a:lstStyle/>
                    <a:p>
                      <a:pPr marL="0" lvl="0" indent="0" algn="r" rtl="0">
                        <a:spcBef>
                          <a:spcPts val="0"/>
                        </a:spcBef>
                        <a:spcAft>
                          <a:spcPts val="0"/>
                        </a:spcAft>
                        <a:buNone/>
                      </a:pPr>
                      <a:r>
                        <a:rPr lang="en-GB" sz="600">
                          <a:latin typeface="Calibri"/>
                          <a:ea typeface="Calibri"/>
                          <a:cs typeface="Calibri"/>
                          <a:sym typeface="Calibri"/>
                        </a:rPr>
                        <a:t>43.5</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14.3</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46.1</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25.8</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24.1</a:t>
                      </a:r>
                      <a:endParaRPr sz="600">
                        <a:latin typeface="Calibri"/>
                        <a:ea typeface="Calibri"/>
                        <a:cs typeface="Calibri"/>
                        <a:sym typeface="Calibri"/>
                      </a:endParaRPr>
                    </a:p>
                  </a:txBody>
                  <a:tcPr marL="91425" marR="91425" marT="91425" marB="91425" anchor="ctr"/>
                </a:tc>
                <a:extLst>
                  <a:ext uri="{0D108BD9-81ED-4DB2-BD59-A6C34878D82A}">
                    <a16:rowId xmlns:a16="http://schemas.microsoft.com/office/drawing/2014/main" val="10005"/>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PAT</a:t>
                      </a:r>
                      <a:endParaRPr sz="600">
                        <a:latin typeface="Calibri"/>
                        <a:ea typeface="Calibri"/>
                        <a:cs typeface="Calibri"/>
                        <a:sym typeface="Calibri"/>
                      </a:endParaRPr>
                    </a:p>
                  </a:txBody>
                  <a:tcPr marL="91425" marR="91425" marT="91425" marB="91425">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242</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313</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404</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491</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574</a:t>
                      </a:r>
                      <a:endParaRPr sz="600">
                        <a:latin typeface="Calibri"/>
                        <a:ea typeface="Calibri"/>
                        <a:cs typeface="Calibri"/>
                        <a:sym typeface="Calibri"/>
                      </a:endParaRPr>
                    </a:p>
                  </a:txBody>
                  <a:tcPr marL="91425" marR="91425" marT="91425" marB="91425" anchor="ctr">
                    <a:solidFill>
                      <a:srgbClr val="FFE5B4"/>
                    </a:solidFill>
                  </a:tcPr>
                </a:tc>
                <a:extLst>
                  <a:ext uri="{0D108BD9-81ED-4DB2-BD59-A6C34878D82A}">
                    <a16:rowId xmlns:a16="http://schemas.microsoft.com/office/drawing/2014/main" val="10006"/>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YoY% growth</a:t>
                      </a:r>
                      <a:endParaRPr sz="600">
                        <a:latin typeface="Calibri"/>
                        <a:ea typeface="Calibri"/>
                        <a:cs typeface="Calibri"/>
                        <a:sym typeface="Calibri"/>
                      </a:endParaRPr>
                    </a:p>
                  </a:txBody>
                  <a:tcPr marL="91425" marR="91425" marT="91425" marB="91425"/>
                </a:tc>
                <a:tc>
                  <a:txBody>
                    <a:bodyPr/>
                    <a:lstStyle/>
                    <a:p>
                      <a:pPr marL="0" lvl="0" indent="0" algn="r" rtl="0">
                        <a:spcBef>
                          <a:spcPts val="0"/>
                        </a:spcBef>
                        <a:spcAft>
                          <a:spcPts val="0"/>
                        </a:spcAft>
                        <a:buNone/>
                      </a:pPr>
                      <a:r>
                        <a:rPr lang="en-GB" sz="600" dirty="0">
                          <a:latin typeface="Calibri"/>
                          <a:ea typeface="Calibri"/>
                          <a:cs typeface="Calibri"/>
                          <a:sym typeface="Calibri"/>
                        </a:rPr>
                        <a:t>18.7</a:t>
                      </a:r>
                      <a:endParaRPr sz="600" dirty="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29.1</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29</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21.7</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16.9</a:t>
                      </a:r>
                      <a:endParaRPr sz="600">
                        <a:latin typeface="Calibri"/>
                        <a:ea typeface="Calibri"/>
                        <a:cs typeface="Calibri"/>
                        <a:sym typeface="Calibri"/>
                      </a:endParaRPr>
                    </a:p>
                  </a:txBody>
                  <a:tcPr marL="91425" marR="91425" marT="91425" marB="91425" anchor="ctr"/>
                </a:tc>
                <a:extLst>
                  <a:ext uri="{0D108BD9-81ED-4DB2-BD59-A6C34878D82A}">
                    <a16:rowId xmlns:a16="http://schemas.microsoft.com/office/drawing/2014/main" val="10007"/>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P/E</a:t>
                      </a:r>
                      <a:endParaRPr sz="600">
                        <a:latin typeface="Calibri"/>
                        <a:ea typeface="Calibri"/>
                        <a:cs typeface="Calibri"/>
                        <a:sym typeface="Calibri"/>
                      </a:endParaRPr>
                    </a:p>
                  </a:txBody>
                  <a:tcPr marL="91425" marR="91425" marT="91425" marB="91425">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45</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37</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28</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23</a:t>
                      </a:r>
                      <a:endParaRPr sz="600">
                        <a:latin typeface="Calibri"/>
                        <a:ea typeface="Calibri"/>
                        <a:cs typeface="Calibri"/>
                        <a:sym typeface="Calibri"/>
                      </a:endParaRPr>
                    </a:p>
                  </a:txBody>
                  <a:tcPr marL="91425" marR="91425" marT="91425" marB="91425" anchor="ctr">
                    <a:solidFill>
                      <a:srgbClr val="FFE5B4"/>
                    </a:solidFill>
                  </a:tcPr>
                </a:tc>
                <a:tc>
                  <a:txBody>
                    <a:bodyPr/>
                    <a:lstStyle/>
                    <a:p>
                      <a:pPr marL="0" lvl="0" indent="0" algn="r" rtl="0">
                        <a:spcBef>
                          <a:spcPts val="0"/>
                        </a:spcBef>
                        <a:spcAft>
                          <a:spcPts val="0"/>
                        </a:spcAft>
                        <a:buNone/>
                      </a:pPr>
                      <a:r>
                        <a:rPr lang="en-GB" sz="600">
                          <a:latin typeface="Calibri"/>
                          <a:ea typeface="Calibri"/>
                          <a:cs typeface="Calibri"/>
                          <a:sym typeface="Calibri"/>
                        </a:rPr>
                        <a:t>21</a:t>
                      </a:r>
                      <a:endParaRPr sz="600">
                        <a:latin typeface="Calibri"/>
                        <a:ea typeface="Calibri"/>
                        <a:cs typeface="Calibri"/>
                        <a:sym typeface="Calibri"/>
                      </a:endParaRPr>
                    </a:p>
                  </a:txBody>
                  <a:tcPr marL="91425" marR="91425" marT="91425" marB="91425" anchor="ctr">
                    <a:solidFill>
                      <a:srgbClr val="FFE5B4"/>
                    </a:solidFill>
                  </a:tcPr>
                </a:tc>
                <a:extLst>
                  <a:ext uri="{0D108BD9-81ED-4DB2-BD59-A6C34878D82A}">
                    <a16:rowId xmlns:a16="http://schemas.microsoft.com/office/drawing/2014/main" val="10008"/>
                  </a:ext>
                </a:extLst>
              </a:tr>
              <a:tr h="241275">
                <a:tc>
                  <a:txBody>
                    <a:bodyPr/>
                    <a:lstStyle/>
                    <a:p>
                      <a:pPr marL="0" lvl="0" indent="0" algn="l" rtl="0">
                        <a:spcBef>
                          <a:spcPts val="0"/>
                        </a:spcBef>
                        <a:spcAft>
                          <a:spcPts val="0"/>
                        </a:spcAft>
                        <a:buNone/>
                      </a:pPr>
                      <a:r>
                        <a:rPr lang="en-GB" sz="600">
                          <a:latin typeface="Calibri"/>
                          <a:ea typeface="Calibri"/>
                          <a:cs typeface="Calibri"/>
                          <a:sym typeface="Calibri"/>
                        </a:rPr>
                        <a:t>P/B</a:t>
                      </a:r>
                      <a:endParaRPr sz="600">
                        <a:latin typeface="Calibri"/>
                        <a:ea typeface="Calibri"/>
                        <a:cs typeface="Calibri"/>
                        <a:sym typeface="Calibri"/>
                      </a:endParaRPr>
                    </a:p>
                  </a:txBody>
                  <a:tcPr marL="91425" marR="91425" marT="91425" marB="91425"/>
                </a:tc>
                <a:tc>
                  <a:txBody>
                    <a:bodyPr/>
                    <a:lstStyle/>
                    <a:p>
                      <a:pPr marL="0" lvl="0" indent="0" algn="r" rtl="0">
                        <a:spcBef>
                          <a:spcPts val="0"/>
                        </a:spcBef>
                        <a:spcAft>
                          <a:spcPts val="0"/>
                        </a:spcAft>
                        <a:buNone/>
                      </a:pPr>
                      <a:r>
                        <a:rPr lang="en-GB" sz="600">
                          <a:latin typeface="Calibri"/>
                          <a:ea typeface="Calibri"/>
                          <a:cs typeface="Calibri"/>
                          <a:sym typeface="Calibri"/>
                        </a:rPr>
                        <a:t>14.0</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5.6</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4.8</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a:latin typeface="Calibri"/>
                          <a:ea typeface="Calibri"/>
                          <a:cs typeface="Calibri"/>
                          <a:sym typeface="Calibri"/>
                        </a:rPr>
                        <a:t>4.1</a:t>
                      </a:r>
                      <a:endParaRPr sz="600">
                        <a:latin typeface="Calibri"/>
                        <a:ea typeface="Calibri"/>
                        <a:cs typeface="Calibri"/>
                        <a:sym typeface="Calibri"/>
                      </a:endParaRPr>
                    </a:p>
                  </a:txBody>
                  <a:tcPr marL="91425" marR="91425" marT="91425" marB="91425" anchor="ctr"/>
                </a:tc>
                <a:tc>
                  <a:txBody>
                    <a:bodyPr/>
                    <a:lstStyle/>
                    <a:p>
                      <a:pPr marL="0" lvl="0" indent="0" algn="r" rtl="0">
                        <a:spcBef>
                          <a:spcPts val="0"/>
                        </a:spcBef>
                        <a:spcAft>
                          <a:spcPts val="0"/>
                        </a:spcAft>
                        <a:buNone/>
                      </a:pPr>
                      <a:r>
                        <a:rPr lang="en-GB" sz="600" dirty="0">
                          <a:latin typeface="Calibri"/>
                          <a:ea typeface="Calibri"/>
                          <a:cs typeface="Calibri"/>
                          <a:sym typeface="Calibri"/>
                        </a:rPr>
                        <a:t>3.5</a:t>
                      </a:r>
                      <a:endParaRPr sz="600" dirty="0">
                        <a:latin typeface="Calibri"/>
                        <a:ea typeface="Calibri"/>
                        <a:cs typeface="Calibri"/>
                        <a:sym typeface="Calibri"/>
                      </a:endParaRPr>
                    </a:p>
                  </a:txBody>
                  <a:tcPr marL="91425" marR="91425" marT="91425" marB="91425" anchor="ctr"/>
                </a:tc>
                <a:extLst>
                  <a:ext uri="{0D108BD9-81ED-4DB2-BD59-A6C34878D82A}">
                    <a16:rowId xmlns:a16="http://schemas.microsoft.com/office/drawing/2014/main" val="10009"/>
                  </a:ext>
                </a:extLst>
              </a:tr>
            </a:tbl>
          </a:graphicData>
        </a:graphic>
      </p:graphicFrame>
      <p:sp>
        <p:nvSpPr>
          <p:cNvPr id="81" name="Google Shape;81;p15"/>
          <p:cNvSpPr txBox="1">
            <a:spLocks noGrp="1"/>
          </p:cNvSpPr>
          <p:nvPr>
            <p:ph type="title" idx="2"/>
          </p:nvPr>
        </p:nvSpPr>
        <p:spPr>
          <a:xfrm>
            <a:off x="55450" y="591725"/>
            <a:ext cx="4454100" cy="4179000"/>
          </a:xfrm>
          <a:prstGeom prst="rect">
            <a:avLst/>
          </a:prstGeom>
        </p:spPr>
        <p:txBody>
          <a:bodyPr spcFirstLastPara="1" wrap="square" lIns="91425" tIns="91425" rIns="91425" bIns="91425" anchor="ctr" anchorCtr="0">
            <a:noAutofit/>
          </a:bodyPr>
          <a:lstStyle/>
          <a:p>
            <a:pPr marL="457200" lvl="0" indent="-292100" algn="just" rtl="0">
              <a:lnSpc>
                <a:spcPct val="115000"/>
              </a:lnSpc>
              <a:spcBef>
                <a:spcPts val="1200"/>
              </a:spcBef>
              <a:spcAft>
                <a:spcPts val="0"/>
              </a:spcAft>
              <a:buSzPts val="1000"/>
              <a:buChar char="❏"/>
            </a:pPr>
            <a:r>
              <a:rPr lang="en-IN" sz="1000"/>
              <a:t>{{</a:t>
            </a:r>
            <a:r>
              <a:rPr lang="en-IN" sz="1000" dirty="0" err="1"/>
              <a:t>company_insider</a:t>
            </a:r>
            <a:r>
              <a:rPr lang="en-IN" sz="1000" dirty="0"/>
              <a:t>}}</a:t>
            </a:r>
            <a:endParaRPr sz="1000" dirty="0"/>
          </a:p>
        </p:txBody>
      </p:sp>
      <p:sp>
        <p:nvSpPr>
          <p:cNvPr id="2" name="TextBox 1">
            <a:extLst>
              <a:ext uri="{FF2B5EF4-FFF2-40B4-BE49-F238E27FC236}">
                <a16:creationId xmlns:a16="http://schemas.microsoft.com/office/drawing/2014/main" id="{2343C578-3CC7-028C-0184-4F8F92B81388}"/>
              </a:ext>
            </a:extLst>
          </p:cNvPr>
          <p:cNvSpPr txBox="1"/>
          <p:nvPr/>
        </p:nvSpPr>
        <p:spPr>
          <a:xfrm>
            <a:off x="5926667" y="1061156"/>
            <a:ext cx="1885244" cy="307777"/>
          </a:xfrm>
          <a:prstGeom prst="rect">
            <a:avLst/>
          </a:prstGeom>
          <a:noFill/>
        </p:spPr>
        <p:txBody>
          <a:bodyPr wrap="square" rtlCol="0">
            <a:spAutoFit/>
          </a:bodyPr>
          <a:lstStyle/>
          <a:p>
            <a:r>
              <a:rPr lang="en-IN" dirty="0"/>
              <a:t>{{</a:t>
            </a:r>
            <a:r>
              <a:rPr lang="en-IN" dirty="0" err="1"/>
              <a:t>prize_chart</a:t>
            </a:r>
            <a:r>
              <a:rPr lang="en-IN" dirty="0"/>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18"/>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Company Background</a:t>
            </a:r>
            <a:endParaRPr dirty="0"/>
          </a:p>
        </p:txBody>
      </p:sp>
      <p:sp>
        <p:nvSpPr>
          <p:cNvPr id="103" name="Google Shape;103;p18"/>
          <p:cNvSpPr txBox="1"/>
          <p:nvPr/>
        </p:nvSpPr>
        <p:spPr>
          <a:xfrm>
            <a:off x="0" y="54360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1" algn="just"/>
            <a:r>
              <a:rPr lang="en-US" sz="1000" dirty="0">
                <a:solidFill>
                  <a:schemeClr val="dk1"/>
                </a:solidFill>
                <a:latin typeface="Calibri"/>
                <a:ea typeface="Calibri"/>
                <a:cs typeface="Calibri"/>
                <a:sym typeface="Calibri"/>
              </a:rPr>
              <a:t> {{</a:t>
            </a:r>
            <a:r>
              <a:rPr lang="en-US" sz="1000" dirty="0" err="1">
                <a:solidFill>
                  <a:schemeClr val="dk1"/>
                </a:solidFill>
                <a:latin typeface="Calibri"/>
                <a:ea typeface="Calibri"/>
                <a:cs typeface="Calibri"/>
                <a:sym typeface="Calibri"/>
              </a:rPr>
              <a:t>company_background</a:t>
            </a:r>
            <a:r>
              <a:rPr lang="en-US" sz="1000" dirty="0">
                <a:solidFill>
                  <a:schemeClr val="dk1"/>
                </a:solidFill>
                <a:latin typeface="Calibri"/>
                <a:ea typeface="Calibri"/>
                <a:cs typeface="Calibri"/>
                <a:sym typeface="Calibri"/>
              </a:rPr>
              <a:t>}}</a:t>
            </a: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lang="en-US" sz="1000" dirty="0">
              <a:solidFill>
                <a:schemeClr val="dk1"/>
              </a:solidFill>
              <a:latin typeface="Calibri"/>
              <a:ea typeface="Calibri"/>
              <a:cs typeface="Calibri"/>
              <a:sym typeface="Calibri"/>
            </a:endParaRPr>
          </a:p>
          <a:p>
            <a:pPr marL="200660" lvl="1" algn="just"/>
            <a:endParaRPr sz="1000" dirty="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0FAD0D60-5275-84AE-A01D-5C293117907D}"/>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789E8541-3656-D6AE-7758-C57E83AB017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Business Model Explanation</a:t>
            </a:r>
            <a:endParaRPr dirty="0"/>
          </a:p>
        </p:txBody>
      </p:sp>
      <p:sp>
        <p:nvSpPr>
          <p:cNvPr id="103" name="Google Shape;103;p18">
            <a:extLst>
              <a:ext uri="{FF2B5EF4-FFF2-40B4-BE49-F238E27FC236}">
                <a16:creationId xmlns:a16="http://schemas.microsoft.com/office/drawing/2014/main" id="{0B022806-FF18-A70B-0096-6E7E4CF88860}"/>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business_model</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96311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F690E7C3-0D46-8142-577A-0C5753B9DE32}"/>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7E19E58-FD14-45C9-C665-CC1CD4B6B258}"/>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Management Analysis</a:t>
            </a:r>
            <a:endParaRPr dirty="0"/>
          </a:p>
        </p:txBody>
      </p:sp>
      <p:sp>
        <p:nvSpPr>
          <p:cNvPr id="103" name="Google Shape;103;p18">
            <a:extLst>
              <a:ext uri="{FF2B5EF4-FFF2-40B4-BE49-F238E27FC236}">
                <a16:creationId xmlns:a16="http://schemas.microsoft.com/office/drawing/2014/main" id="{6BF73CCD-0EE9-D178-E0EE-DBE8BACE316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management_analysis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8842382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83028637-C7E8-1027-CF6F-11A001994C95}"/>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3C72DCED-094C-9F6B-1B28-0C9FAC247A12}"/>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Industry Overview</a:t>
            </a:r>
            <a:endParaRPr dirty="0"/>
          </a:p>
        </p:txBody>
      </p:sp>
      <p:sp>
        <p:nvSpPr>
          <p:cNvPr id="103" name="Google Shape;103;p18">
            <a:extLst>
              <a:ext uri="{FF2B5EF4-FFF2-40B4-BE49-F238E27FC236}">
                <a16:creationId xmlns:a16="http://schemas.microsoft.com/office/drawing/2014/main" id="{3EF6F868-E6FA-528A-EB17-E7AA64837568}"/>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industry_overview</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771932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B9AD7384-8D9A-4E27-361F-1541B231D334}"/>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282A215E-AAE7-F4C1-216D-6AD0C7EB9D7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dirty="0"/>
              <a:t>Key Industry Tailwinds</a:t>
            </a:r>
            <a:endParaRPr dirty="0"/>
          </a:p>
        </p:txBody>
      </p:sp>
      <p:sp>
        <p:nvSpPr>
          <p:cNvPr id="103" name="Google Shape;103;p18">
            <a:extLst>
              <a:ext uri="{FF2B5EF4-FFF2-40B4-BE49-F238E27FC236}">
                <a16:creationId xmlns:a16="http://schemas.microsoft.com/office/drawing/2014/main" id="{7E730C0C-A0CB-D1A8-865F-26DAB5B55E5C}"/>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industry_tailwinds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811773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EB4D1E24-8E50-6B9E-737F-93AE4CF63957}"/>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A2F583F2-F833-28A7-9673-BBE9AD5961BA}"/>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Demand drivers</a:t>
            </a:r>
            <a:endParaRPr dirty="0"/>
          </a:p>
        </p:txBody>
      </p:sp>
      <p:sp>
        <p:nvSpPr>
          <p:cNvPr id="103" name="Google Shape;103;p18">
            <a:extLst>
              <a:ext uri="{FF2B5EF4-FFF2-40B4-BE49-F238E27FC236}">
                <a16:creationId xmlns:a16="http://schemas.microsoft.com/office/drawing/2014/main" id="{00A4DE28-F00E-19A8-D0C7-CB03E6163359}"/>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demand_drivers</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96181355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1">
          <a:extLst>
            <a:ext uri="{FF2B5EF4-FFF2-40B4-BE49-F238E27FC236}">
              <a16:creationId xmlns:a16="http://schemas.microsoft.com/office/drawing/2014/main" id="{5369FFD1-328D-C386-CF68-92179F159FCF}"/>
            </a:ext>
          </a:extLst>
        </p:cNvPr>
        <p:cNvGrpSpPr/>
        <p:nvPr/>
      </p:nvGrpSpPr>
      <p:grpSpPr>
        <a:xfrm>
          <a:off x="0" y="0"/>
          <a:ext cx="0" cy="0"/>
          <a:chOff x="0" y="0"/>
          <a:chExt cx="0" cy="0"/>
        </a:xfrm>
      </p:grpSpPr>
      <p:sp>
        <p:nvSpPr>
          <p:cNvPr id="102" name="Google Shape;102;p18">
            <a:extLst>
              <a:ext uri="{FF2B5EF4-FFF2-40B4-BE49-F238E27FC236}">
                <a16:creationId xmlns:a16="http://schemas.microsoft.com/office/drawing/2014/main" id="{CF2746A6-609C-ED62-DBA0-F63389FE81BD}"/>
              </a:ext>
            </a:extLst>
          </p:cNvPr>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US" dirty="0"/>
              <a:t>Industry Risks</a:t>
            </a:r>
            <a:endParaRPr dirty="0"/>
          </a:p>
        </p:txBody>
      </p:sp>
      <p:sp>
        <p:nvSpPr>
          <p:cNvPr id="103" name="Google Shape;103;p18">
            <a:extLst>
              <a:ext uri="{FF2B5EF4-FFF2-40B4-BE49-F238E27FC236}">
                <a16:creationId xmlns:a16="http://schemas.microsoft.com/office/drawing/2014/main" id="{4F3CD53B-0D34-3E85-C664-97E2B3F3E2AB}"/>
              </a:ext>
            </a:extLst>
          </p:cNvPr>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lvl="0" indent="0" algn="just" rtl="0">
              <a:spcBef>
                <a:spcPts val="0"/>
              </a:spcBef>
              <a:spcAft>
                <a:spcPts val="0"/>
              </a:spcAft>
              <a:buNone/>
            </a:pPr>
            <a:r>
              <a:rPr lang="en-US" sz="1000" dirty="0">
                <a:solidFill>
                  <a:schemeClr val="dk1"/>
                </a:solidFill>
                <a:latin typeface="Calibri"/>
                <a:ea typeface="Calibri"/>
                <a:cs typeface="Calibri"/>
                <a:sym typeface="Calibri"/>
              </a:rPr>
              <a:t>{{</a:t>
            </a:r>
            <a:r>
              <a:rPr lang="en-US" sz="1000" dirty="0" err="1">
                <a:solidFill>
                  <a:schemeClr val="dk1"/>
                </a:solidFill>
                <a:latin typeface="Calibri"/>
                <a:ea typeface="Calibri"/>
                <a:cs typeface="Calibri"/>
                <a:sym typeface="Calibri"/>
              </a:rPr>
              <a:t>industry_risk</a:t>
            </a:r>
            <a:r>
              <a:rPr lang="en-US" sz="1000" dirty="0">
                <a:solidFill>
                  <a:schemeClr val="dk1"/>
                </a:solidFill>
                <a:latin typeface="Calibri"/>
                <a:ea typeface="Calibri"/>
                <a:cs typeface="Calibri"/>
                <a:sym typeface="Calibri"/>
              </a:rPr>
              <a:t>}}</a:t>
            </a: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US" sz="1000" dirty="0">
              <a:solidFill>
                <a:schemeClr val="dk1"/>
              </a:solidFill>
              <a:latin typeface="Calibri"/>
              <a:ea typeface="Calibri"/>
              <a:cs typeface="Calibri"/>
              <a:sym typeface="Calibri"/>
            </a:endParaRPr>
          </a:p>
          <a:p>
            <a:pPr marL="200660" lvl="0" indent="0" algn="just" rtl="0">
              <a:spcBef>
                <a:spcPts val="0"/>
              </a:spcBef>
              <a:spcAft>
                <a:spcPts val="0"/>
              </a:spcAft>
              <a:buNone/>
            </a:pPr>
            <a:endParaRPr lang="en-IN" sz="1000" dirty="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023098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Financials and Ratio Analysis</a:t>
            </a:r>
            <a:endParaRPr/>
          </a:p>
        </p:txBody>
      </p:sp>
      <p:sp>
        <p:nvSpPr>
          <p:cNvPr id="3" name="Title 2">
            <a:extLst>
              <a:ext uri="{FF2B5EF4-FFF2-40B4-BE49-F238E27FC236}">
                <a16:creationId xmlns:a16="http://schemas.microsoft.com/office/drawing/2014/main" id="{F9E735C5-A5DA-5348-B44B-71E3B9F63E9A}"/>
              </a:ext>
            </a:extLst>
          </p:cNvPr>
          <p:cNvSpPr>
            <a:spLocks noGrp="1"/>
          </p:cNvSpPr>
          <p:nvPr>
            <p:ph type="title"/>
          </p:nvPr>
        </p:nvSpPr>
        <p:spPr/>
        <p:txBody>
          <a:bodyPr/>
          <a:lstStyle/>
          <a:p>
            <a:endParaRPr lang="en-IN" dirty="0"/>
          </a:p>
        </p:txBody>
      </p:sp>
      <p:sp>
        <p:nvSpPr>
          <p:cNvPr id="5" name="Title 4">
            <a:extLst>
              <a:ext uri="{FF2B5EF4-FFF2-40B4-BE49-F238E27FC236}">
                <a16:creationId xmlns:a16="http://schemas.microsoft.com/office/drawing/2014/main" id="{78C8FD2B-7D8D-BFE6-9940-30B1DA00CBCF}"/>
              </a:ext>
            </a:extLst>
          </p:cNvPr>
          <p:cNvSpPr>
            <a:spLocks noGrp="1"/>
          </p:cNvSpPr>
          <p:nvPr>
            <p:ph type="title"/>
          </p:nvPr>
        </p:nvSpPr>
        <p:spPr/>
        <p:txBody>
          <a:bodyPr/>
          <a:lstStyle/>
          <a:p>
            <a:endParaRPr lang="en-IN" dirty="0"/>
          </a:p>
        </p:txBody>
      </p:sp>
      <p:sp>
        <p:nvSpPr>
          <p:cNvPr id="7" name="Title 6">
            <a:extLst>
              <a:ext uri="{FF2B5EF4-FFF2-40B4-BE49-F238E27FC236}">
                <a16:creationId xmlns:a16="http://schemas.microsoft.com/office/drawing/2014/main" id="{CEF2C673-0B9A-CDB6-EE2A-5CFAECCEA9F2}"/>
              </a:ext>
            </a:extLst>
          </p:cNvPr>
          <p:cNvSpPr>
            <a:spLocks noGrp="1"/>
          </p:cNvSpPr>
          <p:nvPr>
            <p:ph type="title"/>
          </p:nvPr>
        </p:nvSpPr>
        <p:spPr/>
        <p:txBody>
          <a:bodyPr/>
          <a:lstStyle/>
          <a:p>
            <a:endParaRPr lang="en-IN" dirty="0"/>
          </a:p>
        </p:txBody>
      </p:sp>
      <p:sp>
        <p:nvSpPr>
          <p:cNvPr id="9" name="Title 8">
            <a:extLst>
              <a:ext uri="{FF2B5EF4-FFF2-40B4-BE49-F238E27FC236}">
                <a16:creationId xmlns:a16="http://schemas.microsoft.com/office/drawing/2014/main" id="{090568D9-445C-CF1D-D517-A1B6B9682E50}"/>
              </a:ext>
            </a:extLst>
          </p:cNvPr>
          <p:cNvSpPr>
            <a:spLocks noGrp="1"/>
          </p:cNvSpPr>
          <p:nvPr>
            <p:ph type="title"/>
          </p:nvPr>
        </p:nvSpPr>
        <p:spPr/>
        <p:txBody>
          <a:bodyPr/>
          <a:lstStyle/>
          <a:p>
            <a:r>
              <a:rPr lang="en-IN" dirty="0"/>
              <a:t>Summary in Tables</a:t>
            </a:r>
          </a:p>
        </p:txBody>
      </p:sp>
      <p:sp>
        <p:nvSpPr>
          <p:cNvPr id="10" name="TextBox 9">
            <a:extLst>
              <a:ext uri="{FF2B5EF4-FFF2-40B4-BE49-F238E27FC236}">
                <a16:creationId xmlns:a16="http://schemas.microsoft.com/office/drawing/2014/main" id="{54263664-1DF1-772C-4528-73246E37C87E}"/>
              </a:ext>
            </a:extLst>
          </p:cNvPr>
          <p:cNvSpPr txBox="1"/>
          <p:nvPr/>
        </p:nvSpPr>
        <p:spPr>
          <a:xfrm>
            <a:off x="575733" y="1241778"/>
            <a:ext cx="1645002" cy="307777"/>
          </a:xfrm>
          <a:prstGeom prst="rect">
            <a:avLst/>
          </a:prstGeom>
          <a:noFill/>
        </p:spPr>
        <p:txBody>
          <a:bodyPr wrap="none" rtlCol="0">
            <a:spAutoFit/>
          </a:bodyPr>
          <a:lstStyle/>
          <a:p>
            <a:r>
              <a:rPr lang="en-IN" dirty="0"/>
              <a:t>{{</a:t>
            </a:r>
            <a:r>
              <a:rPr lang="en-IN" dirty="0" err="1"/>
              <a:t>summary_table</a:t>
            </a:r>
            <a:r>
              <a:rPr lang="en-IN"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8" name="Google Shape;118;p20"/>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Summary in charts!</a:t>
            </a:r>
            <a:endParaRPr/>
          </a:p>
        </p:txBody>
      </p:sp>
      <p:sp>
        <p:nvSpPr>
          <p:cNvPr id="2" name="TextBox 1">
            <a:extLst>
              <a:ext uri="{FF2B5EF4-FFF2-40B4-BE49-F238E27FC236}">
                <a16:creationId xmlns:a16="http://schemas.microsoft.com/office/drawing/2014/main" id="{A9D075EE-B486-8649-E192-9DEE2DDCE6A3}"/>
              </a:ext>
            </a:extLst>
          </p:cNvPr>
          <p:cNvSpPr txBox="1"/>
          <p:nvPr/>
        </p:nvSpPr>
        <p:spPr>
          <a:xfrm>
            <a:off x="2562578" y="1636889"/>
            <a:ext cx="1495922" cy="307777"/>
          </a:xfrm>
          <a:prstGeom prst="rect">
            <a:avLst/>
          </a:prstGeom>
          <a:noFill/>
        </p:spPr>
        <p:txBody>
          <a:bodyPr wrap="none" rtlCol="0">
            <a:spAutoFit/>
          </a:bodyPr>
          <a:lstStyle/>
          <a:p>
            <a:r>
              <a:rPr lang="en-IN" dirty="0"/>
              <a:t>{{</a:t>
            </a:r>
            <a:r>
              <a:rPr lang="en-IN"/>
              <a:t>chart_custom}}</a:t>
            </a:r>
            <a:endParaRPr lang="en-IN"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2"/>
        <p:cNvGrpSpPr/>
        <p:nvPr/>
      </p:nvGrpSpPr>
      <p:grpSpPr>
        <a:xfrm>
          <a:off x="0" y="0"/>
          <a:ext cx="0" cy="0"/>
          <a:chOff x="0" y="0"/>
          <a:chExt cx="0" cy="0"/>
        </a:xfrm>
      </p:grpSpPr>
      <p:sp>
        <p:nvSpPr>
          <p:cNvPr id="123" name="Google Shape;123;p21"/>
          <p:cNvSpPr txBox="1">
            <a:spLocks noGrp="1"/>
          </p:cNvSpPr>
          <p:nvPr>
            <p:ph type="title"/>
          </p:nvPr>
        </p:nvSpPr>
        <p:spPr>
          <a:xfrm>
            <a:off x="0" y="0"/>
            <a:ext cx="9144000" cy="543600"/>
          </a:xfrm>
          <a:prstGeom prst="rect">
            <a:avLst/>
          </a:prstGeom>
        </p:spPr>
        <p:txBody>
          <a:bodyPr spcFirstLastPara="1" wrap="square" lIns="91425" tIns="91425" rIns="91425" bIns="91425" anchor="ctr" anchorCtr="0">
            <a:normAutofit/>
          </a:bodyPr>
          <a:lstStyle/>
          <a:p>
            <a:pPr marL="0" lvl="0" indent="0" algn="ctr" rtl="0">
              <a:spcBef>
                <a:spcPts val="0"/>
              </a:spcBef>
              <a:spcAft>
                <a:spcPts val="0"/>
              </a:spcAft>
              <a:buNone/>
            </a:pPr>
            <a:r>
              <a:rPr lang="en-GB"/>
              <a:t>Disclosure and Disclaimers</a:t>
            </a:r>
            <a:endParaRPr/>
          </a:p>
        </p:txBody>
      </p:sp>
      <p:sp>
        <p:nvSpPr>
          <p:cNvPr id="124" name="Google Shape;124;p21"/>
          <p:cNvSpPr txBox="1"/>
          <p:nvPr/>
        </p:nvSpPr>
        <p:spPr>
          <a:xfrm>
            <a:off x="0" y="579050"/>
            <a:ext cx="9003900" cy="4224300"/>
          </a:xfrm>
          <a:prstGeom prst="rect">
            <a:avLst/>
          </a:prstGeom>
          <a:solidFill>
            <a:srgbClr val="FFE5B4"/>
          </a:solidFill>
          <a:ln>
            <a:noFill/>
          </a:ln>
        </p:spPr>
        <p:txBody>
          <a:bodyPr spcFirstLastPara="1" wrap="square" lIns="91425" tIns="91425" rIns="91425" bIns="91425" anchor="ctr" anchorCtr="0">
            <a:noAutofit/>
          </a:bodyPr>
          <a:lstStyle/>
          <a:p>
            <a:pPr marL="200660" marR="1198245" lvl="0" indent="0" algn="just" rtl="0">
              <a:spcBef>
                <a:spcPts val="590"/>
              </a:spcBef>
              <a:spcAft>
                <a:spcPts val="0"/>
              </a:spcAft>
              <a:buNone/>
            </a:pPr>
            <a:r>
              <a:rPr lang="en-GB" sz="1000" b="1">
                <a:solidFill>
                  <a:srgbClr val="1F3864"/>
                </a:solidFill>
                <a:latin typeface="Calibri"/>
                <a:ea typeface="Calibri"/>
                <a:cs typeface="Calibri"/>
                <a:sym typeface="Calibri"/>
              </a:rPr>
              <a:t>About Us: </a:t>
            </a:r>
            <a:r>
              <a:rPr lang="en-GB" sz="1000">
                <a:solidFill>
                  <a:schemeClr val="dk1"/>
                </a:solidFill>
                <a:latin typeface="Calibri"/>
                <a:ea typeface="Calibri"/>
                <a:cs typeface="Calibri"/>
                <a:sym typeface="Calibri"/>
              </a:rPr>
              <a:t>Research Analyst is registered with SEBI as Research Analyst with Registration No. INH000009807. The firm got its registration on June 13, 2022, and is engaged in research services.</a:t>
            </a:r>
            <a:endParaRPr sz="1000">
              <a:solidFill>
                <a:schemeClr val="dk1"/>
              </a:solidFill>
              <a:latin typeface="Calibri"/>
              <a:ea typeface="Calibri"/>
              <a:cs typeface="Calibri"/>
              <a:sym typeface="Calibri"/>
            </a:endParaRPr>
          </a:p>
          <a:p>
            <a:pPr marL="200660" marR="306070" lvl="0" indent="0" algn="just" rtl="0">
              <a:spcBef>
                <a:spcPts val="0"/>
              </a:spcBef>
              <a:spcAft>
                <a:spcPts val="0"/>
              </a:spcAft>
              <a:buNone/>
            </a:pPr>
            <a:r>
              <a:rPr lang="en-GB" sz="1000" b="1">
                <a:solidFill>
                  <a:srgbClr val="1F3864"/>
                </a:solidFill>
                <a:latin typeface="Calibri"/>
                <a:ea typeface="Calibri"/>
                <a:cs typeface="Calibri"/>
                <a:sym typeface="Calibri"/>
              </a:rPr>
              <a:t>Disciplinary history: </a:t>
            </a:r>
            <a:r>
              <a:rPr lang="en-GB" sz="1000">
                <a:solidFill>
                  <a:schemeClr val="dk1"/>
                </a:solidFill>
                <a:latin typeface="Calibri"/>
                <a:ea typeface="Calibri"/>
                <a:cs typeface="Calibri"/>
                <a:sym typeface="Calibri"/>
              </a:rPr>
              <a:t>No penalties / directions have been issued by SEBI under the SEBI Act or Regulations made there under. There are no pending material litigations or legal proceedings, findings of inspections or investigations for which action has been taken or initiated by any regulatory authority.</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b="1">
                <a:solidFill>
                  <a:srgbClr val="1F3864"/>
                </a:solidFill>
                <a:latin typeface="Calibri"/>
                <a:ea typeface="Calibri"/>
                <a:cs typeface="Calibri"/>
                <a:sym typeface="Calibri"/>
              </a:rPr>
              <a:t>Details of its associates: </a:t>
            </a:r>
            <a:r>
              <a:rPr lang="en-GB" sz="1000">
                <a:solidFill>
                  <a:schemeClr val="dk1"/>
                </a:solidFill>
                <a:latin typeface="Calibri"/>
                <a:ea typeface="Calibri"/>
                <a:cs typeface="Calibri"/>
                <a:sym typeface="Calibri"/>
              </a:rPr>
              <a:t>No associates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b="1">
                <a:solidFill>
                  <a:srgbClr val="1F3864"/>
                </a:solidFill>
                <a:latin typeface="Calibri"/>
                <a:ea typeface="Calibri"/>
                <a:cs typeface="Calibri"/>
                <a:sym typeface="Calibri"/>
              </a:rPr>
              <a:t>Disclosures with respect to Research and Recommendations Services</a:t>
            </a:r>
            <a:endParaRPr sz="1000" b="1">
              <a:solidFill>
                <a:schemeClr val="dk1"/>
              </a:solidFill>
              <a:latin typeface="Calibri"/>
              <a:ea typeface="Calibri"/>
              <a:cs typeface="Calibri"/>
              <a:sym typeface="Calibri"/>
            </a:endParaRPr>
          </a:p>
          <a:p>
            <a:pPr marL="200660" marR="343535" lvl="0" indent="0" algn="just" rtl="0">
              <a:spcBef>
                <a:spcPts val="5"/>
              </a:spcBef>
              <a:spcAft>
                <a:spcPts val="0"/>
              </a:spcAft>
              <a:buNone/>
            </a:pPr>
            <a:r>
              <a:rPr lang="en-GB" sz="1000">
                <a:solidFill>
                  <a:schemeClr val="dk1"/>
                </a:solidFill>
                <a:latin typeface="Calibri"/>
                <a:ea typeface="Calibri"/>
                <a:cs typeface="Calibri"/>
                <a:sym typeface="Calibri"/>
              </a:rPr>
              <a:t>·Research Analyst may have financial interest or actual / beneficial ownership in the securities recommended in its personal portfolio. Details of the same may be referred through the disclosures made at the time of recommendation.</a:t>
            </a:r>
            <a:endParaRPr sz="1000">
              <a:solidFill>
                <a:schemeClr val="dk1"/>
              </a:solidFill>
              <a:latin typeface="Calibri"/>
              <a:ea typeface="Calibri"/>
              <a:cs typeface="Calibri"/>
              <a:sym typeface="Calibri"/>
            </a:endParaRPr>
          </a:p>
          <a:p>
            <a:pPr marL="200660" marR="305435" lvl="0" indent="0" algn="just" rtl="0">
              <a:lnSpc>
                <a:spcPct val="98750"/>
              </a:lnSpc>
              <a:spcBef>
                <a:spcPts val="10"/>
              </a:spcBef>
              <a:spcAft>
                <a:spcPts val="0"/>
              </a:spcAft>
              <a:buNone/>
            </a:pPr>
            <a:r>
              <a:rPr lang="en-GB" sz="1000">
                <a:solidFill>
                  <a:schemeClr val="dk1"/>
                </a:solidFill>
                <a:latin typeface="Calibri"/>
                <a:ea typeface="Calibri"/>
                <a:cs typeface="Calibri"/>
                <a:sym typeface="Calibri"/>
              </a:rPr>
              <a:t>·There are no actual or potential conflicts of interest arising from any connection to or association with any issuer of products/ securities, including any material information or facts that might compromise its objectivity independence in the carrying on of Research Analyst services. Such conflict of interest shall be disclosed to the client as and when they arise.</a:t>
            </a:r>
            <a:endParaRPr sz="1000">
              <a:solidFill>
                <a:schemeClr val="dk1"/>
              </a:solidFill>
              <a:latin typeface="Calibri"/>
              <a:ea typeface="Calibri"/>
              <a:cs typeface="Calibri"/>
              <a:sym typeface="Calibri"/>
            </a:endParaRPr>
          </a:p>
          <a:p>
            <a:pPr marL="200660" lvl="0" indent="0" algn="just" rtl="0">
              <a:spcBef>
                <a:spcPts val="10"/>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from the company in past 12 months.</a:t>
            </a:r>
            <a:endParaRPr sz="1000">
              <a:solidFill>
                <a:schemeClr val="dk1"/>
              </a:solidFill>
              <a:latin typeface="Calibri"/>
              <a:ea typeface="Calibri"/>
              <a:cs typeface="Calibri"/>
              <a:sym typeface="Calibri"/>
            </a:endParaRPr>
          </a:p>
          <a:p>
            <a:pPr marL="200660" marR="241300" lvl="0" indent="0" algn="just" rtl="0">
              <a:spcBef>
                <a:spcPts val="0"/>
              </a:spcBef>
              <a:spcAft>
                <a:spcPts val="0"/>
              </a:spcAft>
              <a:buNone/>
            </a:pPr>
            <a:r>
              <a:rPr lang="en-GB" sz="1000">
                <a:solidFill>
                  <a:schemeClr val="dk1"/>
                </a:solidFill>
                <a:latin typeface="Calibri"/>
                <a:ea typeface="Calibri"/>
                <a:cs typeface="Calibri"/>
                <a:sym typeface="Calibri"/>
              </a:rPr>
              <a:t>·Research Analyst or its employee or its associates have not managed or co-managed the public offering of Subject company in past 12 months.</a:t>
            </a:r>
            <a:endParaRPr sz="1000">
              <a:solidFill>
                <a:schemeClr val="dk1"/>
              </a:solidFill>
              <a:latin typeface="Calibri"/>
              <a:ea typeface="Calibri"/>
              <a:cs typeface="Calibri"/>
              <a:sym typeface="Calibri"/>
            </a:endParaRPr>
          </a:p>
          <a:p>
            <a:pPr marL="200660" lvl="0" indent="0" algn="just" rtl="0">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investment banking or merchant banking of brokerage services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for products or services other than above from the subject company in past 12 months.</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 or its employee or its associates have not received any compensation or other benefits from the Subject Company or 3rd party in connection with the research report/ recommendation.</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·The subject company was not a client of Research Analyst or its employee or its associates during twelve months preceding the date of distribution of the research report and recommendation services provided.</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·Research Analysts or its employee or its associates has not served as an officer, director, or employee of the subject company</a:t>
            </a:r>
            <a:endParaRPr sz="1000">
              <a:solidFill>
                <a:schemeClr val="dk1"/>
              </a:solidFill>
              <a:latin typeface="Calibri"/>
              <a:ea typeface="Calibri"/>
              <a:cs typeface="Calibri"/>
              <a:sym typeface="Calibri"/>
            </a:endParaRPr>
          </a:p>
          <a:p>
            <a:pPr marL="200660" marR="0" lvl="0" indent="0" algn="just" rtl="0">
              <a:lnSpc>
                <a:spcPct val="100000"/>
              </a:lnSpc>
              <a:spcBef>
                <a:spcPts val="5"/>
              </a:spcBef>
              <a:spcAft>
                <a:spcPts val="0"/>
              </a:spcAft>
              <a:buNone/>
            </a:pPr>
            <a:r>
              <a:rPr lang="en-GB" sz="1000">
                <a:solidFill>
                  <a:schemeClr val="dk1"/>
                </a:solidFill>
                <a:latin typeface="Calibri"/>
                <a:ea typeface="Calibri"/>
                <a:cs typeface="Calibri"/>
                <a:sym typeface="Calibri"/>
              </a:rPr>
              <a:t>·Registration granted by SEBI, membership of BASL and certification from NISM in no way guarantee performance of the Intermediary or provide any assurance of returns to investors.</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r>
              <a:rPr lang="en-GB" sz="1000">
                <a:solidFill>
                  <a:schemeClr val="dk1"/>
                </a:solidFill>
                <a:latin typeface="Calibri"/>
                <a:ea typeface="Calibri"/>
                <a:cs typeface="Calibri"/>
                <a:sym typeface="Calibri"/>
              </a:rPr>
              <a:t>·Investment in securities market are subject to market risks. Read all the related documents carefully before investing</a:t>
            </a: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a:p>
            <a:pPr marL="200660" lvl="0" indent="0" algn="just" rtl="0">
              <a:spcBef>
                <a:spcPts val="0"/>
              </a:spcBef>
              <a:spcAft>
                <a:spcPts val="0"/>
              </a:spcAft>
              <a:buNone/>
            </a:pPr>
            <a:endParaRPr sz="1000">
              <a:solidFill>
                <a:schemeClr val="dk1"/>
              </a:solidFill>
              <a:latin typeface="Calibri"/>
              <a:ea typeface="Calibri"/>
              <a:cs typeface="Calibri"/>
              <a:sym typeface="Calibri"/>
            </a:endParaRPr>
          </a:p>
        </p:txBody>
      </p:sp>
      <p:pic>
        <p:nvPicPr>
          <p:cNvPr id="125" name="Google Shape;125;p21" descr="A picture containing text, whiteboard&#10;&#10;Description automatically generated"/>
          <p:cNvPicPr preferRelativeResize="0"/>
          <p:nvPr/>
        </p:nvPicPr>
        <p:blipFill>
          <a:blip r:embed="rId3">
            <a:alphaModFix/>
          </a:blip>
          <a:stretch>
            <a:fillRect/>
          </a:stretch>
        </p:blipFill>
        <p:spPr>
          <a:xfrm>
            <a:off x="7927191" y="4243438"/>
            <a:ext cx="855125" cy="491875"/>
          </a:xfrm>
          <a:prstGeom prst="rect">
            <a:avLst/>
          </a:prstGeom>
          <a:noFill/>
          <a:ln>
            <a:noFill/>
          </a:ln>
        </p:spPr>
      </p:pic>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267</TotalTime>
  <Words>700</Words>
  <Application>Microsoft Office PowerPoint</Application>
  <PresentationFormat>On-screen Show (16:9)</PresentationFormat>
  <Paragraphs>275</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Simple Light</vt:lpstr>
      <vt:lpstr>{{company_name}}</vt:lpstr>
      <vt:lpstr>Leader in compliant recycling with multi-metal growth optionality</vt:lpstr>
      <vt:lpstr>Leader in compliant recycling with multi-metal growth optionality</vt:lpstr>
      <vt:lpstr>Company Background</vt:lpstr>
      <vt:lpstr>Business Model Explanation</vt:lpstr>
      <vt:lpstr>Management Analysis</vt:lpstr>
      <vt:lpstr>Industry Overview</vt:lpstr>
      <vt:lpstr>Key Industry Tailwinds</vt:lpstr>
      <vt:lpstr>Demand drivers</vt:lpstr>
      <vt:lpstr>Industry Risks</vt:lpstr>
      <vt:lpstr>Financials and Ratio Analysis</vt:lpstr>
      <vt:lpstr>Summary in charts!</vt:lpstr>
      <vt:lpstr>Disclosure and Disclaimers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Kishankumar Yadav</dc:creator>
  <cp:lastModifiedBy>Kishankumar Yadav</cp:lastModifiedBy>
  <cp:revision>25</cp:revision>
  <dcterms:modified xsi:type="dcterms:W3CDTF">2026-02-14T07:10:55Z</dcterms:modified>
</cp:coreProperties>
</file>