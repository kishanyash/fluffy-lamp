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omments/comment1.xml" ContentType="application/vnd.openxmlformats-officedocument.presentationml.comment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5"/>
  </p:notesMasterIdLst>
  <p:sldIdLst>
    <p:sldId id="256" r:id="rId2"/>
    <p:sldId id="257" r:id="rId3"/>
    <p:sldId id="258" r:id="rId4"/>
    <p:sldId id="261" r:id="rId5"/>
    <p:sldId id="266" r:id="rId6"/>
    <p:sldId id="269" r:id="rId7"/>
    <p:sldId id="265" r:id="rId8"/>
    <p:sldId id="270" r:id="rId9"/>
    <p:sldId id="271" r:id="rId10"/>
    <p:sldId id="272" r:id="rId11"/>
    <p:sldId id="262" r:id="rId12"/>
    <p:sldId id="263" r:id="rId13"/>
    <p:sldId id="264" r:id="rId1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Tikona Capital" initials=""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181D767D-80EB-4814-8269-C058A5CDB7B2}">
  <a:tblStyle styleId="{181D767D-80EB-4814-8269-C058A5CDB7B2}"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60" autoAdjust="0"/>
    <p:restoredTop sz="94660"/>
  </p:normalViewPr>
  <p:slideViewPr>
    <p:cSldViewPr snapToGrid="0">
      <p:cViewPr>
        <p:scale>
          <a:sx n="100" d="100"/>
          <a:sy n="100" d="100"/>
        </p:scale>
        <p:origin x="78" y="-420"/>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commentAuthors" Target="commentAuthors.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omments/comment1.xml><?xml version="1.0" encoding="utf-8"?>
<p:cmLst xmlns:a="http://schemas.openxmlformats.org/drawingml/2006/main" xmlns:r="http://schemas.openxmlformats.org/officeDocument/2006/relationships" xmlns:p="http://schemas.openxmlformats.org/presentationml/2006/main">
  <p:cm authorId="0" dt="2026-01-22T04:20:50.161" idx="1">
    <p:pos x="0" y="364"/>
    <p:text>sign add</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p:cNvGrpSpPr/>
        <p:nvPr/>
      </p:nvGrpSpPr>
      <p:grpSpPr>
        <a:xfrm>
          <a:off x="0" y="0"/>
          <a:ext cx="0" cy="0"/>
          <a:chOff x="0" y="0"/>
          <a:chExt cx="0" cy="0"/>
        </a:xfrm>
      </p:grpSpPr>
      <p:sp>
        <p:nvSpPr>
          <p:cNvPr id="61" name="Google Shape;6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
        <p:cNvGrpSpPr/>
        <p:nvPr/>
      </p:nvGrpSpPr>
      <p:grpSpPr>
        <a:xfrm>
          <a:off x="0" y="0"/>
          <a:ext cx="0" cy="0"/>
          <a:chOff x="0" y="0"/>
          <a:chExt cx="0" cy="0"/>
        </a:xfrm>
      </p:grpSpPr>
      <p:sp>
        <p:nvSpPr>
          <p:cNvPr id="67" name="Google Shape;67;g3bb05c92415_0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 name="Google Shape;68;g3bb05c92415_0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3bb05c92415_0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3bb05c92415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g3bb05c92415_0_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3C190A2B-1082-DEE6-1257-B3CB6ADD7476}"/>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4CCDF7EE-888A-71B3-9AA2-AD5CBCF052E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6F470D1D-EE18-743D-52A1-773DC976A3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459374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EBF8A51A-FEAA-A88F-7BD4-AE012C578B55}"/>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CB880836-B27D-452E-E2C0-69274B89871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7EDEEDDA-DCB4-61C8-4FC4-445103AA13C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352078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980BC53A-D270-ABD8-A9D5-705561783049}"/>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AB41FDA0-207C-CE01-27A3-C473DF5E3F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B8B6B8BC-89CF-1276-0DA5-5A04A38D81F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304184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624401E0-5270-F8F2-DB42-7DB220C75A0C}"/>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AEA56A6C-4A4D-D12A-7C40-B661A724EA9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B4F3E957-8B28-2D14-DB42-D982B855D72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4559382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F327DA9C-A76C-EE42-59B8-0B1C971D7DFD}"/>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0BC57488-6BDA-118F-B43E-3E570CDCB6B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2FA75738-BDBD-A857-157C-13E1066003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427259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6689D2BA-5EC3-B160-2C65-121A615E6214}"/>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5C41AF30-A169-D40D-A47B-CA3487D690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8F66EA67-3F0D-1501-6414-FEF6DE6B5EC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8137920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3bb05c92415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3bb05c92415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3bcf1f9ec5d_1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 name="Google Shape;115;g3bcf1f9ec5d_1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g3bb05c92415_0_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 name="Google Shape;121;g3bb05c92415_0_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
        <p:nvSpPr>
          <p:cNvPr id="11" name="Google Shape;11;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
        <p:nvSpPr>
          <p:cNvPr id="12" name="Google Shape;12;p2"/>
          <p:cNvSpPr txBox="1">
            <a:spLocks noGrp="1"/>
          </p:cNvSpPr>
          <p:nvPr>
            <p:ph type="title"/>
          </p:nvPr>
        </p:nvSpPr>
        <p:spPr>
          <a:xfrm>
            <a:off x="0" y="0"/>
            <a:ext cx="9144000" cy="543600"/>
          </a:xfrm>
          <a:prstGeom prst="rect">
            <a:avLst/>
          </a:prstGeom>
          <a:solidFill>
            <a:srgbClr val="1F4690"/>
          </a:solidFill>
        </p:spPr>
        <p:txBody>
          <a:bodyPr spcFirstLastPara="1" wrap="square" lIns="91425" tIns="91425" rIns="91425" bIns="91425" anchor="ctr" anchorCtr="0">
            <a:normAutofit/>
          </a:bodyPr>
          <a:lstStyle>
            <a:lvl1pPr lvl="0"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1pPr>
            <a:lvl2pPr lvl="1"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2pPr>
            <a:lvl3pPr lvl="2"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3pPr>
            <a:lvl4pPr lvl="3"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4pPr>
            <a:lvl5pPr lvl="4"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5pPr>
            <a:lvl6pPr lvl="5"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6pPr>
            <a:lvl7pPr lvl="6"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7pPr>
            <a:lvl8pPr lvl="7"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8pPr>
            <a:lvl9pPr lvl="8"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
        <p:nvSpPr>
          <p:cNvPr id="15" name="Google Shape;15;p3"/>
          <p:cNvSpPr txBox="1">
            <a:spLocks noGrp="1"/>
          </p:cNvSpPr>
          <p:nvPr>
            <p:ph type="title"/>
          </p:nvPr>
        </p:nvSpPr>
        <p:spPr>
          <a:xfrm>
            <a:off x="4662275" y="0"/>
            <a:ext cx="4481700" cy="575700"/>
          </a:xfrm>
          <a:prstGeom prst="rect">
            <a:avLst/>
          </a:prstGeom>
          <a:solidFill>
            <a:srgbClr val="1F4690"/>
          </a:solidFill>
        </p:spPr>
        <p:txBody>
          <a:bodyPr spcFirstLastPara="1" wrap="square" lIns="91425" tIns="91425" rIns="91425" bIns="91425" anchor="ctr" anchorCtr="0">
            <a:normAutofit/>
          </a:bodyPr>
          <a:lstStyle>
            <a:lvl1pPr lvl="0"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1pPr>
            <a:lvl2pPr lvl="1"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2pPr>
            <a:lvl3pPr lvl="2"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3pPr>
            <a:lvl4pPr lvl="3"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4pPr>
            <a:lvl5pPr lvl="4"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5pPr>
            <a:lvl6pPr lvl="5"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6pPr>
            <a:lvl7pPr lvl="6"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7pPr>
            <a:lvl8pPr lvl="7"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8pPr>
            <a:lvl9pPr lvl="8"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9pPr>
          </a:lstStyle>
          <a:p>
            <a:endParaRPr/>
          </a:p>
        </p:txBody>
      </p:sp>
      <p:sp>
        <p:nvSpPr>
          <p:cNvPr id="16" name="Google Shape;16;p3"/>
          <p:cNvSpPr txBox="1">
            <a:spLocks noGrp="1"/>
          </p:cNvSpPr>
          <p:nvPr>
            <p:ph type="title" idx="2"/>
          </p:nvPr>
        </p:nvSpPr>
        <p:spPr>
          <a:xfrm>
            <a:off x="0" y="0"/>
            <a:ext cx="4428300" cy="575700"/>
          </a:xfrm>
          <a:prstGeom prst="rect">
            <a:avLst/>
          </a:prstGeom>
          <a:solidFill>
            <a:srgbClr val="1F4690"/>
          </a:solidFill>
        </p:spPr>
        <p:txBody>
          <a:bodyPr spcFirstLastPara="1" wrap="square" lIns="91425" tIns="91425" rIns="91425" bIns="91425" anchor="ctr" anchorCtr="0">
            <a:normAutofit/>
          </a:bodyPr>
          <a:lstStyle>
            <a:lvl1pPr lvl="0"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1pPr>
            <a:lvl2pPr lvl="1"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2pPr>
            <a:lvl3pPr lvl="2"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3pPr>
            <a:lvl4pPr lvl="3"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4pPr>
            <a:lvl5pPr lvl="4"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5pPr>
            <a:lvl6pPr lvl="5"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6pPr>
            <a:lvl7pPr lvl="6"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7pPr>
            <a:lvl8pPr lvl="7"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8pPr>
            <a:lvl9pPr lvl="8"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9pPr>
          </a:lstStyle>
          <a:p>
            <a:endParaRPr/>
          </a:p>
        </p:txBody>
      </p:sp>
      <p:cxnSp>
        <p:nvCxnSpPr>
          <p:cNvPr id="17" name="Google Shape;17;p3"/>
          <p:cNvCxnSpPr/>
          <p:nvPr/>
        </p:nvCxnSpPr>
        <p:spPr>
          <a:xfrm>
            <a:off x="4533925" y="94425"/>
            <a:ext cx="24000" cy="4852500"/>
          </a:xfrm>
          <a:prstGeom prst="straightConnector1">
            <a:avLst/>
          </a:prstGeom>
          <a:noFill/>
          <a:ln w="9525" cap="flat" cmpd="sng">
            <a:solidFill>
              <a:srgbClr val="FFA500"/>
            </a:solidFill>
            <a:prstDash val="solid"/>
            <a:round/>
            <a:headEnd type="none" w="med" len="med"/>
            <a:tailEnd type="none" w="med" len="med"/>
          </a:ln>
        </p:spPr>
      </p:cxn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1" name="Google Shape;31;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2" name="Google Shape;32;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3" name="Google Shape;33;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4"/>
        <p:cNvGrpSpPr/>
        <p:nvPr/>
      </p:nvGrpSpPr>
      <p:grpSpPr>
        <a:xfrm>
          <a:off x="0" y="0"/>
          <a:ext cx="0" cy="0"/>
          <a:chOff x="0" y="0"/>
          <a:chExt cx="0" cy="0"/>
        </a:xfrm>
      </p:grpSpPr>
      <p:sp>
        <p:nvSpPr>
          <p:cNvPr id="35" name="Google Shape;35;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6" name="Google Shape;36;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2"/>
        <p:cNvGrpSpPr/>
        <p:nvPr/>
      </p:nvGrpSpPr>
      <p:grpSpPr>
        <a:xfrm>
          <a:off x="0" y="0"/>
          <a:ext cx="0" cy="0"/>
          <a:chOff x="0" y="0"/>
          <a:chExt cx="0" cy="0"/>
        </a:xfrm>
      </p:grpSpPr>
      <p:sp>
        <p:nvSpPr>
          <p:cNvPr id="43" name="Google Shape;4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4" name="Google Shape;4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5"/>
        <p:cNvGrpSpPr/>
        <p:nvPr/>
      </p:nvGrpSpPr>
      <p:grpSpPr>
        <a:xfrm>
          <a:off x="0" y="0"/>
          <a:ext cx="0" cy="0"/>
          <a:chOff x="0" y="0"/>
          <a:chExt cx="0" cy="0"/>
        </a:xfrm>
      </p:grpSpPr>
      <p:sp>
        <p:nvSpPr>
          <p:cNvPr id="46" name="Google Shape;4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8" name="Google Shape;4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9" name="Google Shape;4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50" name="Google Shape;5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1"/>
        <p:cNvGrpSpPr/>
        <p:nvPr/>
      </p:nvGrpSpPr>
      <p:grpSpPr>
        <a:xfrm>
          <a:off x="0" y="0"/>
          <a:ext cx="0" cy="0"/>
          <a:chOff x="0" y="0"/>
          <a:chExt cx="0" cy="0"/>
        </a:xfrm>
      </p:grpSpPr>
      <p:sp>
        <p:nvSpPr>
          <p:cNvPr id="52" name="Google Shape;5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53" name="Google Shape;5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4"/>
        <p:cNvGrpSpPr/>
        <p:nvPr/>
      </p:nvGrpSpPr>
      <p:grpSpPr>
        <a:xfrm>
          <a:off x="0" y="0"/>
          <a:ext cx="0" cy="0"/>
          <a:chOff x="0" y="0"/>
          <a:chExt cx="0" cy="0"/>
        </a:xfrm>
      </p:grpSpPr>
      <p:sp>
        <p:nvSpPr>
          <p:cNvPr id="55" name="Google Shape;5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6" name="Google Shape;5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7" name="Google Shape;5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8"/>
        <p:cNvGrpSpPr/>
        <p:nvPr/>
      </p:nvGrpSpPr>
      <p:grpSpPr>
        <a:xfrm>
          <a:off x="0" y="0"/>
          <a:ext cx="0" cy="0"/>
          <a:chOff x="0" y="0"/>
          <a:chExt cx="0" cy="0"/>
        </a:xfrm>
      </p:grpSpPr>
      <p:sp>
        <p:nvSpPr>
          <p:cNvPr id="59" name="Google Shape;5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37"/>
        <p:cNvGrpSpPr/>
        <p:nvPr/>
      </p:nvGrpSpPr>
      <p:grpSpPr>
        <a:xfrm>
          <a:off x="0" y="0"/>
          <a:ext cx="0" cy="0"/>
          <a:chOff x="0" y="0"/>
          <a:chExt cx="0" cy="0"/>
        </a:xfrm>
      </p:grpSpPr>
      <p:sp>
        <p:nvSpPr>
          <p:cNvPr id="38" name="Google Shape;38;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
        <p:nvSpPr>
          <p:cNvPr id="39" name="Google Shape;39;p7"/>
          <p:cNvSpPr txBox="1">
            <a:spLocks noGrp="1"/>
          </p:cNvSpPr>
          <p:nvPr>
            <p:ph type="title"/>
          </p:nvPr>
        </p:nvSpPr>
        <p:spPr>
          <a:xfrm>
            <a:off x="0" y="0"/>
            <a:ext cx="9144000" cy="543600"/>
          </a:xfrm>
          <a:prstGeom prst="rect">
            <a:avLst/>
          </a:prstGeom>
          <a:solidFill>
            <a:srgbClr val="1F4690"/>
          </a:solidFill>
        </p:spPr>
        <p:txBody>
          <a:bodyPr spcFirstLastPara="1" wrap="square" lIns="91425" tIns="91425" rIns="91425" bIns="91425" anchor="ctr" anchorCtr="0">
            <a:normAutofit/>
          </a:bodyPr>
          <a:lstStyle>
            <a:lvl1pPr lvl="0"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1pPr>
            <a:lvl2pPr lvl="1"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2pPr>
            <a:lvl3pPr lvl="2"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3pPr>
            <a:lvl4pPr lvl="3"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4pPr>
            <a:lvl5pPr lvl="4"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5pPr>
            <a:lvl6pPr lvl="5"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6pPr>
            <a:lvl7pPr lvl="6"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7pPr>
            <a:lvl8pPr lvl="7"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8pPr>
            <a:lvl9pPr lvl="8"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9pPr>
          </a:lstStyle>
          <a:p>
            <a:endParaRPr/>
          </a:p>
        </p:txBody>
      </p:sp>
      <p:cxnSp>
        <p:nvCxnSpPr>
          <p:cNvPr id="40" name="Google Shape;40;p7"/>
          <p:cNvCxnSpPr/>
          <p:nvPr/>
        </p:nvCxnSpPr>
        <p:spPr>
          <a:xfrm>
            <a:off x="4563000" y="591725"/>
            <a:ext cx="27000" cy="4179000"/>
          </a:xfrm>
          <a:prstGeom prst="straightConnector1">
            <a:avLst/>
          </a:prstGeom>
          <a:noFill/>
          <a:ln w="9525" cap="flat" cmpd="sng">
            <a:solidFill>
              <a:srgbClr val="FFA500"/>
            </a:solidFill>
            <a:prstDash val="solid"/>
            <a:round/>
            <a:headEnd type="none" w="med" len="med"/>
            <a:tailEnd type="none" w="med" len="med"/>
          </a:ln>
        </p:spPr>
      </p:cxnSp>
      <p:sp>
        <p:nvSpPr>
          <p:cNvPr id="41" name="Google Shape;41;p7"/>
          <p:cNvSpPr txBox="1">
            <a:spLocks noGrp="1"/>
          </p:cNvSpPr>
          <p:nvPr>
            <p:ph type="title" idx="2"/>
          </p:nvPr>
        </p:nvSpPr>
        <p:spPr>
          <a:xfrm>
            <a:off x="55450" y="591725"/>
            <a:ext cx="4454100" cy="4179000"/>
          </a:xfrm>
          <a:prstGeom prst="rect">
            <a:avLst/>
          </a:prstGeom>
          <a:solidFill>
            <a:srgbClr val="FFE5B4"/>
          </a:solidFill>
        </p:spPr>
        <p:txBody>
          <a:bodyPr spcFirstLastPara="1" wrap="square" lIns="91425" tIns="91425" rIns="91425" bIns="91425" anchor="ctr" anchorCtr="0">
            <a:normAutofit/>
          </a:bodyPr>
          <a:lstStyle>
            <a:lvl1pPr lvl="0">
              <a:spcBef>
                <a:spcPts val="0"/>
              </a:spcBef>
              <a:spcAft>
                <a:spcPts val="0"/>
              </a:spcAft>
              <a:buSzPts val="1800"/>
              <a:buFont typeface="Calibri"/>
              <a:buNone/>
              <a:defRPr sz="1800">
                <a:latin typeface="Calibri"/>
                <a:ea typeface="Calibri"/>
                <a:cs typeface="Calibri"/>
                <a:sym typeface="Calibri"/>
              </a:defRPr>
            </a:lvl1pPr>
            <a:lvl2pPr lvl="1">
              <a:spcBef>
                <a:spcPts val="0"/>
              </a:spcBef>
              <a:spcAft>
                <a:spcPts val="0"/>
              </a:spcAft>
              <a:buSzPts val="1800"/>
              <a:buFont typeface="Calibri"/>
              <a:buNone/>
              <a:defRPr sz="1800">
                <a:latin typeface="Calibri"/>
                <a:ea typeface="Calibri"/>
                <a:cs typeface="Calibri"/>
                <a:sym typeface="Calibri"/>
              </a:defRPr>
            </a:lvl2pPr>
            <a:lvl3pPr lvl="2">
              <a:spcBef>
                <a:spcPts val="0"/>
              </a:spcBef>
              <a:spcAft>
                <a:spcPts val="0"/>
              </a:spcAft>
              <a:buSzPts val="1800"/>
              <a:buFont typeface="Calibri"/>
              <a:buNone/>
              <a:defRPr sz="1800">
                <a:latin typeface="Calibri"/>
                <a:ea typeface="Calibri"/>
                <a:cs typeface="Calibri"/>
                <a:sym typeface="Calibri"/>
              </a:defRPr>
            </a:lvl3pPr>
            <a:lvl4pPr lvl="3">
              <a:spcBef>
                <a:spcPts val="0"/>
              </a:spcBef>
              <a:spcAft>
                <a:spcPts val="0"/>
              </a:spcAft>
              <a:buSzPts val="1800"/>
              <a:buFont typeface="Calibri"/>
              <a:buNone/>
              <a:defRPr sz="1800">
                <a:latin typeface="Calibri"/>
                <a:ea typeface="Calibri"/>
                <a:cs typeface="Calibri"/>
                <a:sym typeface="Calibri"/>
              </a:defRPr>
            </a:lvl4pPr>
            <a:lvl5pPr lvl="4">
              <a:spcBef>
                <a:spcPts val="0"/>
              </a:spcBef>
              <a:spcAft>
                <a:spcPts val="0"/>
              </a:spcAft>
              <a:buSzPts val="1800"/>
              <a:buFont typeface="Calibri"/>
              <a:buNone/>
              <a:defRPr sz="1800">
                <a:latin typeface="Calibri"/>
                <a:ea typeface="Calibri"/>
                <a:cs typeface="Calibri"/>
                <a:sym typeface="Calibri"/>
              </a:defRPr>
            </a:lvl5pPr>
            <a:lvl6pPr lvl="5">
              <a:spcBef>
                <a:spcPts val="0"/>
              </a:spcBef>
              <a:spcAft>
                <a:spcPts val="0"/>
              </a:spcAft>
              <a:buSzPts val="1800"/>
              <a:buFont typeface="Calibri"/>
              <a:buNone/>
              <a:defRPr sz="1800">
                <a:latin typeface="Calibri"/>
                <a:ea typeface="Calibri"/>
                <a:cs typeface="Calibri"/>
                <a:sym typeface="Calibri"/>
              </a:defRPr>
            </a:lvl6pPr>
            <a:lvl7pPr lvl="6">
              <a:spcBef>
                <a:spcPts val="0"/>
              </a:spcBef>
              <a:spcAft>
                <a:spcPts val="0"/>
              </a:spcAft>
              <a:buSzPts val="1800"/>
              <a:buFont typeface="Calibri"/>
              <a:buNone/>
              <a:defRPr sz="1800">
                <a:latin typeface="Calibri"/>
                <a:ea typeface="Calibri"/>
                <a:cs typeface="Calibri"/>
                <a:sym typeface="Calibri"/>
              </a:defRPr>
            </a:lvl7pPr>
            <a:lvl8pPr lvl="7">
              <a:spcBef>
                <a:spcPts val="0"/>
              </a:spcBef>
              <a:spcAft>
                <a:spcPts val="0"/>
              </a:spcAft>
              <a:buSzPts val="1800"/>
              <a:buFont typeface="Calibri"/>
              <a:buNone/>
              <a:defRPr sz="1800">
                <a:latin typeface="Calibri"/>
                <a:ea typeface="Calibri"/>
                <a:cs typeface="Calibri"/>
                <a:sym typeface="Calibri"/>
              </a:defRPr>
            </a:lvl8pPr>
            <a:lvl9pPr lvl="8">
              <a:spcBef>
                <a:spcPts val="0"/>
              </a:spcBef>
              <a:spcAft>
                <a:spcPts val="0"/>
              </a:spcAft>
              <a:buSzPts val="1800"/>
              <a:buFont typeface="Calibri"/>
              <a:buNone/>
              <a:defRPr sz="1800">
                <a:latin typeface="Calibri"/>
                <a:ea typeface="Calibri"/>
                <a:cs typeface="Calibri"/>
                <a:sym typeface="Calibri"/>
              </a:defRPr>
            </a:lvl9pPr>
          </a:lstStyle>
          <a:p>
            <a:endParaRPr/>
          </a:p>
        </p:txBody>
      </p:sp>
    </p:spTree>
    <p:extLst>
      <p:ext uri="{BB962C8B-B14F-4D97-AF65-F5344CB8AC3E}">
        <p14:creationId xmlns:p14="http://schemas.microsoft.com/office/powerpoint/2010/main" val="18384521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t>‹#›</a:t>
            </a:fld>
            <a:endParaRPr/>
          </a:p>
        </p:txBody>
      </p:sp>
      <p:pic>
        <p:nvPicPr>
          <p:cNvPr id="9" name="Google Shape;9;p1"/>
          <p:cNvPicPr preferRelativeResize="0"/>
          <p:nvPr/>
        </p:nvPicPr>
        <p:blipFill rotWithShape="1">
          <a:blip r:embed="rId12">
            <a:alphaModFix/>
          </a:blip>
          <a:srcRect/>
          <a:stretch/>
        </p:blipFill>
        <p:spPr>
          <a:xfrm>
            <a:off x="0" y="4865050"/>
            <a:ext cx="1120900" cy="278450"/>
          </a:xfrm>
          <a:prstGeom prst="rect">
            <a:avLst/>
          </a:prstGeom>
          <a:noFill/>
          <a:ln w="9525" cap="flat" cmpd="sng">
            <a:solidFill>
              <a:srgbClr val="1F4690"/>
            </a:solidFill>
            <a:prstDash val="solid"/>
            <a:round/>
            <a:headEnd type="none" w="sm" len="sm"/>
            <a:tailEnd type="none" w="sm" len="sm"/>
          </a:ln>
        </p:spPr>
      </p:pic>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4" r:id="rId5"/>
    <p:sldLayoutId id="2147483655" r:id="rId6"/>
    <p:sldLayoutId id="2147483656" r:id="rId7"/>
    <p:sldLayoutId id="2147483657" r:id="rId8"/>
    <p:sldLayoutId id="2147483658" r:id="rId9"/>
    <p:sldLayoutId id="2147483660"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comments" Target="../comments/commen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3"/>
        <p:cNvGrpSpPr/>
        <p:nvPr/>
      </p:nvGrpSpPr>
      <p:grpSpPr>
        <a:xfrm>
          <a:off x="0" y="0"/>
          <a:ext cx="0" cy="0"/>
          <a:chOff x="0" y="0"/>
          <a:chExt cx="0" cy="0"/>
        </a:xfrm>
      </p:grpSpPr>
      <p:sp>
        <p:nvSpPr>
          <p:cNvPr id="64" name="Google Shape;64;p13"/>
          <p:cNvSpPr txBox="1">
            <a:spLocks noGrp="1"/>
          </p:cNvSpPr>
          <p:nvPr>
            <p:ph type="ctrTitle" idx="4294967295"/>
          </p:nvPr>
        </p:nvSpPr>
        <p:spPr>
          <a:xfrm>
            <a:off x="311708" y="744575"/>
            <a:ext cx="8520600" cy="2052600"/>
          </a:xfrm>
          <a:prstGeom prst="rect">
            <a:avLst/>
          </a:prstGeom>
          <a:solidFill>
            <a:srgbClr val="1F4690"/>
          </a:solidFill>
        </p:spPr>
        <p:txBody>
          <a:bodyPr spcFirstLastPara="1" wrap="square" lIns="91425" tIns="91425" rIns="91425" bIns="91425" anchor="ctr" anchorCtr="0">
            <a:normAutofit/>
          </a:bodyPr>
          <a:lstStyle/>
          <a:p>
            <a:pPr marL="0" lvl="0" indent="0" algn="ctr" rtl="0">
              <a:spcBef>
                <a:spcPts val="0"/>
              </a:spcBef>
              <a:spcAft>
                <a:spcPts val="0"/>
              </a:spcAft>
              <a:buNone/>
            </a:pPr>
            <a:r>
              <a:rPr lang="en-GB" sz="4000" b="1" dirty="0">
                <a:solidFill>
                  <a:schemeClr val="lt1"/>
                </a:solidFill>
                <a:latin typeface="Calibri"/>
                <a:ea typeface="Calibri"/>
                <a:cs typeface="Calibri"/>
                <a:sym typeface="Calibri"/>
              </a:rPr>
              <a:t>{{</a:t>
            </a:r>
            <a:r>
              <a:rPr lang="en-GB" sz="4000" b="1" dirty="0" err="1">
                <a:solidFill>
                  <a:schemeClr val="lt1"/>
                </a:solidFill>
                <a:latin typeface="Calibri"/>
                <a:ea typeface="Calibri"/>
                <a:cs typeface="Calibri"/>
                <a:sym typeface="Calibri"/>
              </a:rPr>
              <a:t>company_name</a:t>
            </a:r>
            <a:r>
              <a:rPr lang="en-GB" sz="4000" b="1" dirty="0">
                <a:solidFill>
                  <a:schemeClr val="lt1"/>
                </a:solidFill>
                <a:latin typeface="Calibri"/>
                <a:ea typeface="Calibri"/>
                <a:cs typeface="Calibri"/>
                <a:sym typeface="Calibri"/>
              </a:rPr>
              <a:t>}}</a:t>
            </a:r>
            <a:endParaRPr sz="4000" b="1" dirty="0">
              <a:solidFill>
                <a:schemeClr val="lt1"/>
              </a:solidFill>
              <a:latin typeface="Calibri"/>
              <a:ea typeface="Calibri"/>
              <a:cs typeface="Calibri"/>
              <a:sym typeface="Calibri"/>
            </a:endParaRPr>
          </a:p>
        </p:txBody>
      </p:sp>
      <p:sp>
        <p:nvSpPr>
          <p:cNvPr id="65" name="Google Shape;65;p13"/>
          <p:cNvSpPr txBox="1">
            <a:spLocks noGrp="1"/>
          </p:cNvSpPr>
          <p:nvPr>
            <p:ph type="subTitle" idx="4294967295"/>
          </p:nvPr>
        </p:nvSpPr>
        <p:spPr>
          <a:xfrm>
            <a:off x="311700" y="2919175"/>
            <a:ext cx="8520600" cy="792600"/>
          </a:xfrm>
          <a:prstGeom prst="rect">
            <a:avLst/>
          </a:prstGeom>
          <a:solidFill>
            <a:srgbClr val="FFE5B4"/>
          </a:solidFill>
        </p:spPr>
        <p:txBody>
          <a:bodyPr spcFirstLastPara="1" wrap="square" lIns="91425" tIns="91425" rIns="91425" bIns="91425" anchor="ctr" anchorCtr="0">
            <a:normAutofit fontScale="92500" lnSpcReduction="20000"/>
          </a:bodyPr>
          <a:lstStyle/>
          <a:p>
            <a:pPr marL="0" lvl="0" indent="0" algn="ctr" rtl="0">
              <a:lnSpc>
                <a:spcPct val="95000"/>
              </a:lnSpc>
              <a:spcBef>
                <a:spcPts val="0"/>
              </a:spcBef>
              <a:spcAft>
                <a:spcPts val="1200"/>
              </a:spcAft>
              <a:buSzPts val="688"/>
              <a:buNone/>
            </a:pPr>
            <a:r>
              <a:rPr lang="en-GB" sz="1375" b="1" dirty="0">
                <a:solidFill>
                  <a:schemeClr val="dk1"/>
                </a:solidFill>
                <a:latin typeface="Calibri"/>
                <a:ea typeface="Calibri"/>
                <a:cs typeface="Calibri"/>
                <a:sym typeface="Calibri"/>
              </a:rPr>
              <a:t>NSE:{{</a:t>
            </a:r>
            <a:r>
              <a:rPr lang="en-GB" sz="1375" b="1" dirty="0" err="1">
                <a:solidFill>
                  <a:schemeClr val="dk1"/>
                </a:solidFill>
                <a:latin typeface="Calibri"/>
                <a:ea typeface="Calibri"/>
                <a:cs typeface="Calibri"/>
                <a:sym typeface="Calibri"/>
              </a:rPr>
              <a:t>nse_symbol</a:t>
            </a:r>
            <a:r>
              <a:rPr lang="en-GB" sz="1375" b="1" dirty="0">
                <a:solidFill>
                  <a:schemeClr val="dk1"/>
                </a:solidFill>
                <a:latin typeface="Calibri"/>
                <a:ea typeface="Calibri"/>
                <a:cs typeface="Calibri"/>
                <a:sym typeface="Calibri"/>
              </a:rPr>
              <a:t>}} | BOM:{{</a:t>
            </a:r>
            <a:r>
              <a:rPr lang="en-GB" sz="1375" b="1" dirty="0" err="1">
                <a:solidFill>
                  <a:schemeClr val="dk1"/>
                </a:solidFill>
                <a:latin typeface="Calibri"/>
                <a:ea typeface="Calibri"/>
                <a:cs typeface="Calibri"/>
                <a:sym typeface="Calibri"/>
              </a:rPr>
              <a:t>bom_code</a:t>
            </a:r>
            <a:r>
              <a:rPr lang="en-GB" sz="1375" b="1" dirty="0">
                <a:solidFill>
                  <a:schemeClr val="dk1"/>
                </a:solidFill>
                <a:latin typeface="Calibri"/>
                <a:ea typeface="Calibri"/>
                <a:cs typeface="Calibri"/>
                <a:sym typeface="Calibri"/>
              </a:rPr>
              <a:t>}} | Rating: </a:t>
            </a:r>
            <a:r>
              <a:rPr lang="en-GB" sz="1375" b="1">
                <a:solidFill>
                  <a:schemeClr val="dk1"/>
                </a:solidFill>
                <a:latin typeface="Calibri"/>
                <a:ea typeface="Calibri"/>
                <a:cs typeface="Calibri"/>
                <a:sym typeface="Calibri"/>
              </a:rPr>
              <a:t>{{recommendation}}</a:t>
            </a:r>
            <a:endParaRPr lang="en-GB" sz="1375" b="1" dirty="0">
              <a:solidFill>
                <a:schemeClr val="dk1"/>
              </a:solidFill>
              <a:latin typeface="Calibri"/>
              <a:ea typeface="Calibri"/>
              <a:cs typeface="Calibri"/>
              <a:sym typeface="Calibri"/>
            </a:endParaRPr>
          </a:p>
          <a:p>
            <a:pPr marL="0" lvl="0" indent="0" algn="ctr" rtl="0">
              <a:lnSpc>
                <a:spcPct val="95000"/>
              </a:lnSpc>
              <a:spcBef>
                <a:spcPts val="0"/>
              </a:spcBef>
              <a:spcAft>
                <a:spcPts val="1200"/>
              </a:spcAft>
              <a:buSzPts val="688"/>
              <a:buNone/>
            </a:pPr>
            <a:r>
              <a:rPr lang="en-GB" sz="1375" b="1" dirty="0">
                <a:solidFill>
                  <a:schemeClr val="dk1"/>
                </a:solidFill>
                <a:latin typeface="Calibri"/>
                <a:ea typeface="Calibri"/>
                <a:cs typeface="Calibri"/>
                <a:sym typeface="Calibri"/>
              </a:rPr>
              <a:t>Date: {{</a:t>
            </a:r>
            <a:r>
              <a:rPr lang="en-GB" sz="1375" b="1" dirty="0" err="1">
                <a:solidFill>
                  <a:schemeClr val="dk1"/>
                </a:solidFill>
                <a:latin typeface="Calibri"/>
                <a:ea typeface="Calibri"/>
                <a:cs typeface="Calibri"/>
                <a:sym typeface="Calibri"/>
              </a:rPr>
              <a:t>today_date</a:t>
            </a:r>
            <a:r>
              <a:rPr lang="en-GB" sz="1375" b="1" dirty="0">
                <a:solidFill>
                  <a:schemeClr val="dk1"/>
                </a:solidFill>
                <a:latin typeface="Calibri"/>
                <a:ea typeface="Calibri"/>
                <a:cs typeface="Calibri"/>
                <a:sym typeface="Calibri"/>
              </a:rPr>
              <a:t>}}</a:t>
            </a:r>
            <a:endParaRPr sz="1375" b="1" dirty="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9"/>
        <p:cNvGrpSpPr/>
        <p:nvPr/>
      </p:nvGrpSpPr>
      <p:grpSpPr>
        <a:xfrm>
          <a:off x="0" y="0"/>
          <a:ext cx="0" cy="0"/>
          <a:chOff x="0" y="0"/>
          <a:chExt cx="0" cy="0"/>
        </a:xfrm>
      </p:grpSpPr>
      <p:sp>
        <p:nvSpPr>
          <p:cNvPr id="70" name="Google Shape;70;p14"/>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dirty="0"/>
              <a:t>Leader in compliant recycling with multi-metal growth optionality</a:t>
            </a:r>
            <a:endParaRPr dirty="0"/>
          </a:p>
        </p:txBody>
      </p:sp>
      <p:sp>
        <p:nvSpPr>
          <p:cNvPr id="71" name="Google Shape;71;p14"/>
          <p:cNvSpPr txBox="1">
            <a:spLocks noGrp="1"/>
          </p:cNvSpPr>
          <p:nvPr>
            <p:ph type="title" idx="2"/>
          </p:nvPr>
        </p:nvSpPr>
        <p:spPr>
          <a:xfrm>
            <a:off x="55450" y="604650"/>
            <a:ext cx="4454100" cy="4179000"/>
          </a:xfrm>
          <a:prstGeom prst="rect">
            <a:avLst/>
          </a:prstGeom>
        </p:spPr>
        <p:txBody>
          <a:bodyPr spcFirstLastPara="1" wrap="square" lIns="91425" tIns="91425" rIns="91425" bIns="91425" anchor="ctr" anchorCtr="0">
            <a:noAutofit/>
          </a:bodyPr>
          <a:lstStyle/>
          <a:p>
            <a:pPr marL="0" lvl="0" indent="0" algn="just" rtl="0">
              <a:spcBef>
                <a:spcPts val="0"/>
              </a:spcBef>
              <a:spcAft>
                <a:spcPts val="0"/>
              </a:spcAft>
              <a:buNone/>
            </a:pPr>
            <a:r>
              <a:rPr lang="en-GB" sz="1000" b="1" dirty="0"/>
              <a:t>- Market Positioning</a:t>
            </a:r>
            <a:r>
              <a:rPr lang="en-GB" sz="1000" dirty="0"/>
              <a:t>: {{</a:t>
            </a:r>
            <a:r>
              <a:rPr lang="en-GB" sz="1000" dirty="0" err="1"/>
              <a:t>market_positioning</a:t>
            </a:r>
            <a:r>
              <a:rPr lang="en-GB" sz="1000" dirty="0"/>
              <a:t>}}</a:t>
            </a:r>
            <a:endParaRPr sz="1000" dirty="0"/>
          </a:p>
          <a:p>
            <a:pPr marL="0" lvl="0" indent="0" algn="just" rtl="0">
              <a:spcBef>
                <a:spcPts val="0"/>
              </a:spcBef>
              <a:spcAft>
                <a:spcPts val="0"/>
              </a:spcAft>
              <a:buClr>
                <a:schemeClr val="dk1"/>
              </a:buClr>
              <a:buSzPts val="1100"/>
              <a:buFont typeface="Arial"/>
              <a:buNone/>
            </a:pPr>
            <a:r>
              <a:rPr lang="en-GB" sz="1000" b="1" dirty="0"/>
              <a:t>- Financial Performance:</a:t>
            </a:r>
            <a:r>
              <a:rPr lang="en-GB" sz="1000" dirty="0"/>
              <a:t>.{{</a:t>
            </a:r>
            <a:r>
              <a:rPr lang="en-GB" sz="1000" dirty="0" err="1"/>
              <a:t>financial_performance</a:t>
            </a:r>
            <a:r>
              <a:rPr lang="en-GB" sz="1000" dirty="0"/>
              <a:t>}}</a:t>
            </a:r>
            <a:endParaRPr sz="1000" dirty="0"/>
          </a:p>
          <a:p>
            <a:pPr marL="0" lvl="0" indent="0" algn="just" rtl="0">
              <a:spcBef>
                <a:spcPts val="0"/>
              </a:spcBef>
              <a:spcAft>
                <a:spcPts val="0"/>
              </a:spcAft>
              <a:buClr>
                <a:schemeClr val="dk1"/>
              </a:buClr>
              <a:buSzPts val="1100"/>
              <a:buFont typeface="Arial"/>
              <a:buNone/>
            </a:pPr>
            <a:r>
              <a:rPr lang="en-GB" sz="1000" b="1" dirty="0"/>
              <a:t>- Growth &amp; Outlook: {</a:t>
            </a:r>
            <a:r>
              <a:rPr lang="en-GB" sz="1000" dirty="0"/>
              <a:t>{</a:t>
            </a:r>
            <a:r>
              <a:rPr lang="en-GB" sz="1000" dirty="0" err="1"/>
              <a:t>grow_outlook</a:t>
            </a:r>
            <a:r>
              <a:rPr lang="en-GB" sz="1000" dirty="0"/>
              <a:t>}}</a:t>
            </a:r>
            <a:endParaRPr sz="1000" b="1" dirty="0"/>
          </a:p>
          <a:p>
            <a:pPr marL="0" lvl="0" indent="0" algn="just" rtl="0">
              <a:spcBef>
                <a:spcPts val="0"/>
              </a:spcBef>
              <a:spcAft>
                <a:spcPts val="0"/>
              </a:spcAft>
              <a:buClr>
                <a:schemeClr val="dk1"/>
              </a:buClr>
              <a:buSzPts val="1100"/>
              <a:buFont typeface="Arial"/>
              <a:buNone/>
            </a:pPr>
            <a:r>
              <a:rPr lang="en-GB" sz="1000" b="1" dirty="0"/>
              <a:t>- Valuation &amp; Recommendation:</a:t>
            </a:r>
            <a:r>
              <a:rPr lang="en-GB" sz="1000" dirty="0"/>
              <a:t> </a:t>
            </a:r>
            <a:r>
              <a:rPr lang="en-US" sz="1000" dirty="0"/>
              <a:t>{{</a:t>
            </a:r>
            <a:r>
              <a:rPr lang="en-US" sz="1000" dirty="0" err="1"/>
              <a:t>valuation_recommendation</a:t>
            </a:r>
            <a:r>
              <a:rPr lang="en-US" sz="1000" dirty="0"/>
              <a:t>}}</a:t>
            </a:r>
            <a:endParaRPr lang="en-US" sz="1000" b="1" dirty="0"/>
          </a:p>
          <a:p>
            <a:pPr marL="0" lvl="0" indent="0" algn="just" rtl="0">
              <a:spcBef>
                <a:spcPts val="0"/>
              </a:spcBef>
              <a:spcAft>
                <a:spcPts val="0"/>
              </a:spcAft>
              <a:buNone/>
            </a:pPr>
            <a:r>
              <a:rPr lang="en-US" sz="1000" b="1" dirty="0"/>
              <a:t>- Key Risks: </a:t>
            </a:r>
            <a:r>
              <a:rPr lang="en-US" sz="1000" dirty="0"/>
              <a:t>{{</a:t>
            </a:r>
            <a:r>
              <a:rPr lang="en-US" sz="1000" dirty="0" err="1"/>
              <a:t>key_risks</a:t>
            </a:r>
            <a:r>
              <a:rPr lang="en-US" sz="1000" dirty="0"/>
              <a:t>}}</a:t>
            </a:r>
          </a:p>
        </p:txBody>
      </p:sp>
      <p:graphicFrame>
        <p:nvGraphicFramePr>
          <p:cNvPr id="72" name="Google Shape;72;p14"/>
          <p:cNvGraphicFramePr/>
          <p:nvPr/>
        </p:nvGraphicFramePr>
        <p:xfrm>
          <a:off x="4661550" y="1975175"/>
          <a:ext cx="2300450" cy="2795525"/>
        </p:xfrm>
        <a:graphic>
          <a:graphicData uri="http://schemas.openxmlformats.org/drawingml/2006/table">
            <a:tbl>
              <a:tblPr>
                <a:noFill/>
              </a:tblPr>
              <a:tblGrid>
                <a:gridCol w="1150225">
                  <a:extLst>
                    <a:ext uri="{9D8B030D-6E8A-4147-A177-3AD203B41FA5}">
                      <a16:colId xmlns:a16="http://schemas.microsoft.com/office/drawing/2014/main" val="20000"/>
                    </a:ext>
                  </a:extLst>
                </a:gridCol>
                <a:gridCol w="1150225">
                  <a:extLst>
                    <a:ext uri="{9D8B030D-6E8A-4147-A177-3AD203B41FA5}">
                      <a16:colId xmlns:a16="http://schemas.microsoft.com/office/drawing/2014/main" val="20001"/>
                    </a:ext>
                  </a:extLst>
                </a:gridCol>
              </a:tblGrid>
              <a:tr h="572275">
                <a:tc>
                  <a:txBody>
                    <a:bodyPr/>
                    <a:lstStyle/>
                    <a:p>
                      <a:pPr marL="0" lvl="0" indent="0" algn="l" rtl="0">
                        <a:spcBef>
                          <a:spcPts val="0"/>
                        </a:spcBef>
                        <a:spcAft>
                          <a:spcPts val="0"/>
                        </a:spcAft>
                        <a:buNone/>
                      </a:pPr>
                      <a:endParaRPr/>
                    </a:p>
                  </a:txBody>
                  <a:tcPr marL="91425" marR="91425" marT="91425" marB="91425"/>
                </a:tc>
                <a:tc>
                  <a:txBody>
                    <a:bodyPr/>
                    <a:lstStyle/>
                    <a:p>
                      <a:pPr marL="0" lvl="0" indent="0" algn="l" rtl="0">
                        <a:spcBef>
                          <a:spcPts val="0"/>
                        </a:spcBef>
                        <a:spcAft>
                          <a:spcPts val="0"/>
                        </a:spcAft>
                        <a:buNone/>
                      </a:pPr>
                      <a:endParaRPr/>
                    </a:p>
                  </a:txBody>
                  <a:tcPr marL="91425" marR="91425" marT="91425" marB="91425"/>
                </a:tc>
                <a:extLst>
                  <a:ext uri="{0D108BD9-81ED-4DB2-BD59-A6C34878D82A}">
                    <a16:rowId xmlns:a16="http://schemas.microsoft.com/office/drawing/2014/main" val="10000"/>
                  </a:ext>
                </a:extLst>
              </a:tr>
              <a:tr h="550325">
                <a:tc>
                  <a:txBody>
                    <a:bodyPr/>
                    <a:lstStyle/>
                    <a:p>
                      <a:pPr marL="0" lvl="0" indent="0" algn="l" rtl="0">
                        <a:spcBef>
                          <a:spcPts val="0"/>
                        </a:spcBef>
                        <a:spcAft>
                          <a:spcPts val="0"/>
                        </a:spcAft>
                        <a:buNone/>
                      </a:pPr>
                      <a:endParaRPr/>
                    </a:p>
                  </a:txBody>
                  <a:tcPr marL="91425" marR="91425" marT="91425" marB="91425"/>
                </a:tc>
                <a:tc>
                  <a:txBody>
                    <a:bodyPr/>
                    <a:lstStyle/>
                    <a:p>
                      <a:pPr marL="0" lvl="0" indent="0" algn="l" rtl="0">
                        <a:spcBef>
                          <a:spcPts val="0"/>
                        </a:spcBef>
                        <a:spcAft>
                          <a:spcPts val="0"/>
                        </a:spcAft>
                        <a:buNone/>
                      </a:pPr>
                      <a:endParaRPr/>
                    </a:p>
                  </a:txBody>
                  <a:tcPr marL="91425" marR="91425" marT="91425" marB="91425"/>
                </a:tc>
                <a:extLst>
                  <a:ext uri="{0D108BD9-81ED-4DB2-BD59-A6C34878D82A}">
                    <a16:rowId xmlns:a16="http://schemas.microsoft.com/office/drawing/2014/main" val="10001"/>
                  </a:ext>
                </a:extLst>
              </a:tr>
              <a:tr h="572275">
                <a:tc>
                  <a:txBody>
                    <a:bodyPr/>
                    <a:lstStyle/>
                    <a:p>
                      <a:pPr marL="0" lvl="0" indent="0" algn="l" rtl="0">
                        <a:spcBef>
                          <a:spcPts val="0"/>
                        </a:spcBef>
                        <a:spcAft>
                          <a:spcPts val="0"/>
                        </a:spcAft>
                        <a:buNone/>
                      </a:pPr>
                      <a:endParaRPr/>
                    </a:p>
                  </a:txBody>
                  <a:tcPr marL="91425" marR="91425" marT="91425" marB="91425"/>
                </a:tc>
                <a:tc>
                  <a:txBody>
                    <a:bodyPr/>
                    <a:lstStyle/>
                    <a:p>
                      <a:pPr marL="0" lvl="0" indent="0" algn="l" rtl="0">
                        <a:spcBef>
                          <a:spcPts val="0"/>
                        </a:spcBef>
                        <a:spcAft>
                          <a:spcPts val="0"/>
                        </a:spcAft>
                        <a:buNone/>
                      </a:pPr>
                      <a:endParaRPr/>
                    </a:p>
                  </a:txBody>
                  <a:tcPr marL="91425" marR="91425" marT="91425" marB="91425"/>
                </a:tc>
                <a:extLst>
                  <a:ext uri="{0D108BD9-81ED-4DB2-BD59-A6C34878D82A}">
                    <a16:rowId xmlns:a16="http://schemas.microsoft.com/office/drawing/2014/main" val="10002"/>
                  </a:ext>
                </a:extLst>
              </a:tr>
              <a:tr h="550325">
                <a:tc>
                  <a:txBody>
                    <a:bodyPr/>
                    <a:lstStyle/>
                    <a:p>
                      <a:pPr marL="0" lvl="0" indent="0" algn="l" rtl="0">
                        <a:spcBef>
                          <a:spcPts val="0"/>
                        </a:spcBef>
                        <a:spcAft>
                          <a:spcPts val="0"/>
                        </a:spcAft>
                        <a:buNone/>
                      </a:pPr>
                      <a:endParaRPr/>
                    </a:p>
                  </a:txBody>
                  <a:tcPr marL="91425" marR="91425" marT="91425" marB="91425"/>
                </a:tc>
                <a:tc>
                  <a:txBody>
                    <a:bodyPr/>
                    <a:lstStyle/>
                    <a:p>
                      <a:pPr marL="0" lvl="0" indent="0" algn="l" rtl="0">
                        <a:spcBef>
                          <a:spcPts val="0"/>
                        </a:spcBef>
                        <a:spcAft>
                          <a:spcPts val="0"/>
                        </a:spcAft>
                        <a:buNone/>
                      </a:pPr>
                      <a:endParaRPr/>
                    </a:p>
                  </a:txBody>
                  <a:tcPr marL="91425" marR="91425" marT="91425" marB="91425"/>
                </a:tc>
                <a:extLst>
                  <a:ext uri="{0D108BD9-81ED-4DB2-BD59-A6C34878D82A}">
                    <a16:rowId xmlns:a16="http://schemas.microsoft.com/office/drawing/2014/main" val="10003"/>
                  </a:ext>
                </a:extLst>
              </a:tr>
              <a:tr h="550325">
                <a:tc>
                  <a:txBody>
                    <a:bodyPr/>
                    <a:lstStyle/>
                    <a:p>
                      <a:pPr marL="0" lvl="0" indent="0" algn="l" rtl="0">
                        <a:spcBef>
                          <a:spcPts val="0"/>
                        </a:spcBef>
                        <a:spcAft>
                          <a:spcPts val="0"/>
                        </a:spcAft>
                        <a:buNone/>
                      </a:pPr>
                      <a:endParaRPr/>
                    </a:p>
                  </a:txBody>
                  <a:tcPr marL="91425" marR="91425" marT="91425" marB="91425"/>
                </a:tc>
                <a:tc>
                  <a:txBody>
                    <a:bodyPr/>
                    <a:lstStyle/>
                    <a:p>
                      <a:pPr marL="0" lvl="0" indent="0" algn="l" rtl="0">
                        <a:spcBef>
                          <a:spcPts val="0"/>
                        </a:spcBef>
                        <a:spcAft>
                          <a:spcPts val="0"/>
                        </a:spcAft>
                        <a:buNone/>
                      </a:pPr>
                      <a:endParaRPr/>
                    </a:p>
                  </a:txBody>
                  <a:tcPr marL="91425" marR="91425" marT="91425" marB="91425"/>
                </a:tc>
                <a:extLst>
                  <a:ext uri="{0D108BD9-81ED-4DB2-BD59-A6C34878D82A}">
                    <a16:rowId xmlns:a16="http://schemas.microsoft.com/office/drawing/2014/main" val="10004"/>
                  </a:ext>
                </a:extLst>
              </a:tr>
            </a:tbl>
          </a:graphicData>
        </a:graphic>
      </p:graphicFrame>
      <p:sp>
        <p:nvSpPr>
          <p:cNvPr id="73" name="Google Shape;73;p14"/>
          <p:cNvSpPr txBox="1"/>
          <p:nvPr/>
        </p:nvSpPr>
        <p:spPr>
          <a:xfrm>
            <a:off x="4653425" y="604650"/>
            <a:ext cx="4378500" cy="1324200"/>
          </a:xfrm>
          <a:prstGeom prst="rect">
            <a:avLst/>
          </a:prstGeom>
          <a:solidFill>
            <a:srgbClr val="FFE5B4"/>
          </a:solid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1100">
              <a:solidFill>
                <a:schemeClr val="dk2"/>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5"/>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Leader in compliant recycling with multi-metal growth optionality</a:t>
            </a:r>
          </a:p>
        </p:txBody>
      </p:sp>
      <p:sp>
        <p:nvSpPr>
          <p:cNvPr id="81" name="Google Shape;81;p15"/>
          <p:cNvSpPr txBox="1">
            <a:spLocks noGrp="1"/>
          </p:cNvSpPr>
          <p:nvPr>
            <p:ph type="title" idx="2"/>
          </p:nvPr>
        </p:nvSpPr>
        <p:spPr>
          <a:xfrm>
            <a:off x="55450" y="591725"/>
            <a:ext cx="4454100" cy="4179000"/>
          </a:xfrm>
          <a:prstGeom prst="rect">
            <a:avLst/>
          </a:prstGeom>
        </p:spPr>
        <p:txBody>
          <a:bodyPr spcFirstLastPara="1" wrap="square" lIns="91425" tIns="91425" rIns="91425" bIns="91425" anchor="ctr" anchorCtr="0">
            <a:noAutofit/>
          </a:bodyPr>
          <a:lstStyle/>
          <a:p>
            <a:pPr marL="457200" lvl="0" indent="-292100" algn="just" rtl="0">
              <a:lnSpc>
                <a:spcPct val="115000"/>
              </a:lnSpc>
              <a:spcBef>
                <a:spcPts val="1200"/>
              </a:spcBef>
              <a:spcAft>
                <a:spcPts val="0"/>
              </a:spcAft>
              <a:buSzPts val="1000"/>
              <a:buChar char="❏"/>
            </a:pPr>
            <a:r>
              <a:rPr lang="en-IN" sz="1000" dirty="0"/>
              <a:t>{{</a:t>
            </a:r>
            <a:r>
              <a:rPr lang="en-IN" sz="1000" dirty="0" err="1"/>
              <a:t>company_insider</a:t>
            </a:r>
            <a:r>
              <a:rPr lang="en-IN" sz="1000" dirty="0"/>
              <a:t>}}</a:t>
            </a:r>
            <a:endParaRPr sz="1000" dirty="0"/>
          </a:p>
        </p:txBody>
      </p:sp>
      <p:sp>
        <p:nvSpPr>
          <p:cNvPr id="2" name="TextBox 1">
            <a:extLst>
              <a:ext uri="{FF2B5EF4-FFF2-40B4-BE49-F238E27FC236}">
                <a16:creationId xmlns:a16="http://schemas.microsoft.com/office/drawing/2014/main" id="{2343C578-3CC7-028C-0184-4F8F92B81388}"/>
              </a:ext>
            </a:extLst>
          </p:cNvPr>
          <p:cNvSpPr txBox="1"/>
          <p:nvPr/>
        </p:nvSpPr>
        <p:spPr>
          <a:xfrm>
            <a:off x="6016978" y="1072445"/>
            <a:ext cx="1885244" cy="307777"/>
          </a:xfrm>
          <a:prstGeom prst="rect">
            <a:avLst/>
          </a:prstGeom>
          <a:noFill/>
        </p:spPr>
        <p:txBody>
          <a:bodyPr wrap="square" rtlCol="0">
            <a:spAutoFit/>
          </a:bodyPr>
          <a:lstStyle/>
          <a:p>
            <a:r>
              <a:rPr lang="en-IN" dirty="0"/>
              <a:t>{{</a:t>
            </a:r>
            <a:r>
              <a:rPr lang="en-IN" dirty="0" err="1"/>
              <a:t>prize_chart</a:t>
            </a:r>
            <a:r>
              <a:rPr lang="en-IN" dirty="0"/>
              <a:t>}}</a:t>
            </a:r>
          </a:p>
        </p:txBody>
      </p:sp>
      <p:graphicFrame>
        <p:nvGraphicFramePr>
          <p:cNvPr id="4" name="Table 3">
            <a:extLst>
              <a:ext uri="{FF2B5EF4-FFF2-40B4-BE49-F238E27FC236}">
                <a16:creationId xmlns:a16="http://schemas.microsoft.com/office/drawing/2014/main" id="{010EA07D-E885-E5D8-E8E6-D141A56152EA}"/>
              </a:ext>
            </a:extLst>
          </p:cNvPr>
          <p:cNvGraphicFramePr>
            <a:graphicFrameLocks noGrp="1"/>
          </p:cNvGraphicFramePr>
          <p:nvPr>
            <p:extLst>
              <p:ext uri="{D42A27DB-BD31-4B8C-83A1-F6EECF244321}">
                <p14:modId xmlns:p14="http://schemas.microsoft.com/office/powerpoint/2010/main" val="4202596862"/>
              </p:ext>
            </p:extLst>
          </p:nvPr>
        </p:nvGraphicFramePr>
        <p:xfrm>
          <a:off x="4962525" y="1646445"/>
          <a:ext cx="3867150" cy="3124280"/>
        </p:xfrm>
        <a:graphic>
          <a:graphicData uri="http://schemas.openxmlformats.org/drawingml/2006/table">
            <a:tbl>
              <a:tblPr/>
              <a:tblGrid>
                <a:gridCol w="769262">
                  <a:extLst>
                    <a:ext uri="{9D8B030D-6E8A-4147-A177-3AD203B41FA5}">
                      <a16:colId xmlns:a16="http://schemas.microsoft.com/office/drawing/2014/main" val="1069966037"/>
                    </a:ext>
                  </a:extLst>
                </a:gridCol>
                <a:gridCol w="612722">
                  <a:extLst>
                    <a:ext uri="{9D8B030D-6E8A-4147-A177-3AD203B41FA5}">
                      <a16:colId xmlns:a16="http://schemas.microsoft.com/office/drawing/2014/main" val="3993124200"/>
                    </a:ext>
                  </a:extLst>
                </a:gridCol>
                <a:gridCol w="612722">
                  <a:extLst>
                    <a:ext uri="{9D8B030D-6E8A-4147-A177-3AD203B41FA5}">
                      <a16:colId xmlns:a16="http://schemas.microsoft.com/office/drawing/2014/main" val="2304610044"/>
                    </a:ext>
                  </a:extLst>
                </a:gridCol>
                <a:gridCol w="612722">
                  <a:extLst>
                    <a:ext uri="{9D8B030D-6E8A-4147-A177-3AD203B41FA5}">
                      <a16:colId xmlns:a16="http://schemas.microsoft.com/office/drawing/2014/main" val="2954385777"/>
                    </a:ext>
                  </a:extLst>
                </a:gridCol>
                <a:gridCol w="612722">
                  <a:extLst>
                    <a:ext uri="{9D8B030D-6E8A-4147-A177-3AD203B41FA5}">
                      <a16:colId xmlns:a16="http://schemas.microsoft.com/office/drawing/2014/main" val="2937344670"/>
                    </a:ext>
                  </a:extLst>
                </a:gridCol>
                <a:gridCol w="647000">
                  <a:extLst>
                    <a:ext uri="{9D8B030D-6E8A-4147-A177-3AD203B41FA5}">
                      <a16:colId xmlns:a16="http://schemas.microsoft.com/office/drawing/2014/main" val="1580030156"/>
                    </a:ext>
                  </a:extLst>
                </a:gridCol>
              </a:tblGrid>
              <a:tr h="273457">
                <a:tc>
                  <a:txBody>
                    <a:bodyPr/>
                    <a:lstStyle/>
                    <a:p>
                      <a:pPr rtl="0" fontAlgn="t">
                        <a:buNone/>
                      </a:pPr>
                      <a:r>
                        <a:rPr lang="en-IN" sz="600" b="1" i="0" u="none" strike="noStrike">
                          <a:solidFill>
                            <a:schemeClr val="tx1"/>
                          </a:solidFill>
                          <a:effectLst/>
                          <a:latin typeface="Calibri" panose="020F0502020204030204" pitchFamily="34" charset="0"/>
                        </a:rPr>
                        <a:t>Particulars</a:t>
                      </a:r>
                      <a:endParaRPr lang="en-IN">
                        <a:solidFill>
                          <a:schemeClr val="tx1"/>
                        </a:solidFill>
                        <a:effectLst/>
                      </a:endParaRPr>
                    </a:p>
                  </a:txBody>
                  <a:tcPr marL="95250" marR="95250" marT="95250" marB="95250">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solidFill>
                      <a:srgbClr val="1F4690"/>
                    </a:solidFill>
                  </a:tcPr>
                </a:tc>
                <a:tc>
                  <a:txBody>
                    <a:bodyPr/>
                    <a:lstStyle/>
                    <a:p>
                      <a:pPr algn="r" rtl="0" fontAlgn="ctr">
                        <a:buNone/>
                      </a:pPr>
                      <a:r>
                        <a:rPr lang="en-IN" sz="600" b="1" i="0" u="none" strike="noStrike">
                          <a:solidFill>
                            <a:schemeClr val="tx1"/>
                          </a:solidFill>
                          <a:effectLst/>
                          <a:latin typeface="Calibri" panose="020F0502020204030204" pitchFamily="34" charset="0"/>
                        </a:rPr>
                        <a:t>FY24A</a:t>
                      </a:r>
                      <a:endParaRPr lang="en-IN">
                        <a:solidFill>
                          <a:schemeClr val="tx1"/>
                        </a:solidFill>
                        <a:effectLst/>
                      </a:endParaRPr>
                    </a:p>
                  </a:txBody>
                  <a:tcPr marL="95250" marR="95250" marT="95250" marB="95250"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solidFill>
                      <a:srgbClr val="1F4690"/>
                    </a:solidFill>
                  </a:tcPr>
                </a:tc>
                <a:tc>
                  <a:txBody>
                    <a:bodyPr/>
                    <a:lstStyle/>
                    <a:p>
                      <a:pPr algn="r" rtl="0" fontAlgn="ctr">
                        <a:buNone/>
                      </a:pPr>
                      <a:r>
                        <a:rPr lang="en-IN" sz="600" b="1" i="0" u="none" strike="noStrike">
                          <a:solidFill>
                            <a:schemeClr val="tx1"/>
                          </a:solidFill>
                          <a:effectLst/>
                          <a:latin typeface="Calibri" panose="020F0502020204030204" pitchFamily="34" charset="0"/>
                        </a:rPr>
                        <a:t>FY25A</a:t>
                      </a:r>
                      <a:endParaRPr lang="en-IN">
                        <a:solidFill>
                          <a:schemeClr val="tx1"/>
                        </a:solidFill>
                        <a:effectLst/>
                      </a:endParaRPr>
                    </a:p>
                  </a:txBody>
                  <a:tcPr marL="95250" marR="95250" marT="95250" marB="95250"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solidFill>
                      <a:srgbClr val="1F4690"/>
                    </a:solidFill>
                  </a:tcPr>
                </a:tc>
                <a:tc>
                  <a:txBody>
                    <a:bodyPr/>
                    <a:lstStyle/>
                    <a:p>
                      <a:pPr algn="r" rtl="0" fontAlgn="ctr">
                        <a:buNone/>
                      </a:pPr>
                      <a:r>
                        <a:rPr lang="en-IN" sz="600" b="1" i="0" u="none" strike="noStrike">
                          <a:solidFill>
                            <a:schemeClr val="tx1"/>
                          </a:solidFill>
                          <a:effectLst/>
                          <a:latin typeface="Calibri" panose="020F0502020204030204" pitchFamily="34" charset="0"/>
                        </a:rPr>
                        <a:t>FY26E</a:t>
                      </a:r>
                      <a:endParaRPr lang="en-IN">
                        <a:solidFill>
                          <a:schemeClr val="tx1"/>
                        </a:solidFill>
                        <a:effectLst/>
                      </a:endParaRPr>
                    </a:p>
                  </a:txBody>
                  <a:tcPr marL="95250" marR="95250" marT="95250" marB="95250"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solidFill>
                      <a:srgbClr val="1F4690"/>
                    </a:solidFill>
                  </a:tcPr>
                </a:tc>
                <a:tc>
                  <a:txBody>
                    <a:bodyPr/>
                    <a:lstStyle/>
                    <a:p>
                      <a:pPr algn="r" rtl="0" fontAlgn="ctr">
                        <a:buNone/>
                      </a:pPr>
                      <a:r>
                        <a:rPr lang="en-IN" sz="600" b="1" i="0" u="none" strike="noStrike">
                          <a:solidFill>
                            <a:schemeClr val="tx1"/>
                          </a:solidFill>
                          <a:effectLst/>
                          <a:latin typeface="Calibri" panose="020F0502020204030204" pitchFamily="34" charset="0"/>
                        </a:rPr>
                        <a:t>FY27E</a:t>
                      </a:r>
                      <a:endParaRPr lang="en-IN">
                        <a:solidFill>
                          <a:schemeClr val="tx1"/>
                        </a:solidFill>
                        <a:effectLst/>
                      </a:endParaRPr>
                    </a:p>
                  </a:txBody>
                  <a:tcPr marL="95250" marR="95250" marT="95250" marB="95250"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solidFill>
                      <a:srgbClr val="1F4690"/>
                    </a:solidFill>
                  </a:tcPr>
                </a:tc>
                <a:tc>
                  <a:txBody>
                    <a:bodyPr/>
                    <a:lstStyle/>
                    <a:p>
                      <a:pPr algn="r" rtl="0" fontAlgn="ctr">
                        <a:buNone/>
                      </a:pPr>
                      <a:r>
                        <a:rPr lang="en-IN" sz="600" b="1" i="0" u="none" strike="noStrike">
                          <a:solidFill>
                            <a:schemeClr val="tx1"/>
                          </a:solidFill>
                          <a:effectLst/>
                          <a:latin typeface="Calibri" panose="020F0502020204030204" pitchFamily="34" charset="0"/>
                        </a:rPr>
                        <a:t>FY28E</a:t>
                      </a:r>
                      <a:endParaRPr lang="en-IN">
                        <a:solidFill>
                          <a:schemeClr val="tx1"/>
                        </a:solidFill>
                        <a:effectLst/>
                      </a:endParaRPr>
                    </a:p>
                  </a:txBody>
                  <a:tcPr marL="95250" marR="95250" marT="95250" marB="95250"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solidFill>
                      <a:srgbClr val="1F4690"/>
                    </a:solidFill>
                  </a:tcPr>
                </a:tc>
                <a:extLst>
                  <a:ext uri="{0D108BD9-81ED-4DB2-BD59-A6C34878D82A}">
                    <a16:rowId xmlns:a16="http://schemas.microsoft.com/office/drawing/2014/main" val="518340034"/>
                  </a:ext>
                </a:extLst>
              </a:tr>
              <a:tr h="362146">
                <a:tc>
                  <a:txBody>
                    <a:bodyPr/>
                    <a:lstStyle/>
                    <a:p>
                      <a:pPr rtl="0" fontAlgn="t">
                        <a:buNone/>
                      </a:pPr>
                      <a:r>
                        <a:rPr lang="en-IN" sz="600" b="0" i="0" u="none" strike="noStrike">
                          <a:solidFill>
                            <a:schemeClr val="tx1"/>
                          </a:solidFill>
                          <a:effectLst/>
                          <a:latin typeface="Calibri" panose="020F0502020204030204" pitchFamily="34" charset="0"/>
                        </a:rPr>
                        <a:t>Sales</a:t>
                      </a:r>
                      <a:endParaRPr lang="en-IN">
                        <a:solidFill>
                          <a:schemeClr val="tx1"/>
                        </a:solidFill>
                        <a:effectLst/>
                      </a:endParaRPr>
                    </a:p>
                  </a:txBody>
                  <a:tcPr marL="95250" marR="95250" marT="95250" marB="95250">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noFill/>
                  </a:tcPr>
                </a:tc>
                <a:tc>
                  <a:txBody>
                    <a:bodyPr/>
                    <a:lstStyle/>
                    <a:p>
                      <a:pPr algn="r" rtl="0" fontAlgn="ctr">
                        <a:buNone/>
                      </a:pPr>
                      <a:r>
                        <a:rPr lang="en-IN" sz="600" b="0" i="0" u="none" strike="noStrike" dirty="0">
                          <a:solidFill>
                            <a:schemeClr val="tx1"/>
                          </a:solidFill>
                          <a:effectLst/>
                          <a:latin typeface="Calibri" panose="020F0502020204030204" pitchFamily="34" charset="0"/>
                        </a:rPr>
                        <a:t>{{revenue_fy24}}</a:t>
                      </a:r>
                      <a:endParaRPr lang="en-IN" dirty="0">
                        <a:solidFill>
                          <a:schemeClr val="tx1"/>
                        </a:solidFill>
                        <a:effectLst/>
                      </a:endParaRPr>
                    </a:p>
                  </a:txBody>
                  <a:tcPr marL="95250" marR="95250" marT="95250" marB="95250"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noFill/>
                  </a:tcPr>
                </a:tc>
                <a:tc>
                  <a:txBody>
                    <a:bodyPr/>
                    <a:lstStyle/>
                    <a:p>
                      <a:pPr algn="r" rtl="0" fontAlgn="ctr">
                        <a:buNone/>
                      </a:pPr>
                      <a:r>
                        <a:rPr lang="en-IN" sz="600" b="0" i="0" u="none" strike="noStrike" dirty="0">
                          <a:solidFill>
                            <a:schemeClr val="tx1"/>
                          </a:solidFill>
                          <a:effectLst/>
                          <a:latin typeface="Calibri" panose="020F0502020204030204" pitchFamily="34" charset="0"/>
                        </a:rPr>
                        <a:t>{{revenue_fy25}}</a:t>
                      </a:r>
                      <a:endParaRPr lang="en-IN" dirty="0">
                        <a:solidFill>
                          <a:schemeClr val="tx1"/>
                        </a:solidFill>
                        <a:effectLst/>
                      </a:endParaRPr>
                    </a:p>
                  </a:txBody>
                  <a:tcPr marL="95250" marR="95250" marT="95250" marB="95250"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noFill/>
                  </a:tcPr>
                </a:tc>
                <a:tc>
                  <a:txBody>
                    <a:bodyPr/>
                    <a:lstStyle/>
                    <a:p>
                      <a:pPr algn="r" rtl="0" fontAlgn="ctr">
                        <a:buNone/>
                      </a:pPr>
                      <a:r>
                        <a:rPr lang="en-IN" sz="600" b="0" i="0" u="none" strike="noStrike" dirty="0">
                          <a:solidFill>
                            <a:schemeClr val="tx1"/>
                          </a:solidFill>
                          <a:effectLst/>
                          <a:latin typeface="Calibri" panose="020F0502020204030204" pitchFamily="34" charset="0"/>
                        </a:rPr>
                        <a:t>{{revenue_fy26}}</a:t>
                      </a:r>
                      <a:endParaRPr lang="en-IN" dirty="0">
                        <a:solidFill>
                          <a:schemeClr val="tx1"/>
                        </a:solidFill>
                        <a:effectLst/>
                      </a:endParaRPr>
                    </a:p>
                  </a:txBody>
                  <a:tcPr marL="95250" marR="95250" marT="95250" marB="95250"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noFill/>
                  </a:tcPr>
                </a:tc>
                <a:tc>
                  <a:txBody>
                    <a:bodyPr/>
                    <a:lstStyle/>
                    <a:p>
                      <a:pPr algn="r" rtl="0" fontAlgn="ctr">
                        <a:buNone/>
                      </a:pPr>
                      <a:r>
                        <a:rPr lang="en-IN" sz="600" b="0" i="0" u="none" strike="noStrike" dirty="0">
                          <a:solidFill>
                            <a:schemeClr val="tx1"/>
                          </a:solidFill>
                          <a:effectLst/>
                          <a:latin typeface="Calibri" panose="020F0502020204030204" pitchFamily="34" charset="0"/>
                        </a:rPr>
                        <a:t>{{revenue_fy27}}</a:t>
                      </a:r>
                      <a:endParaRPr lang="en-IN" dirty="0">
                        <a:solidFill>
                          <a:schemeClr val="tx1"/>
                        </a:solidFill>
                        <a:effectLst/>
                      </a:endParaRPr>
                    </a:p>
                  </a:txBody>
                  <a:tcPr marL="95250" marR="95250" marT="95250" marB="95250"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noFill/>
                  </a:tcPr>
                </a:tc>
                <a:tc>
                  <a:txBody>
                    <a:bodyPr/>
                    <a:lstStyle/>
                    <a:p>
                      <a:pPr algn="r" rtl="0" fontAlgn="ctr">
                        <a:buNone/>
                      </a:pPr>
                      <a:r>
                        <a:rPr lang="en-IN" sz="600" b="0" i="0" u="none" strike="noStrike" dirty="0">
                          <a:solidFill>
                            <a:schemeClr val="tx1"/>
                          </a:solidFill>
                          <a:effectLst/>
                          <a:latin typeface="Calibri" panose="020F0502020204030204" pitchFamily="34" charset="0"/>
                        </a:rPr>
                        <a:t>{{revenue_fy28}}</a:t>
                      </a:r>
                      <a:endParaRPr lang="en-IN" dirty="0">
                        <a:solidFill>
                          <a:schemeClr val="tx1"/>
                        </a:solidFill>
                        <a:effectLst/>
                      </a:endParaRPr>
                    </a:p>
                  </a:txBody>
                  <a:tcPr marL="95250" marR="95250" marT="95250" marB="95250"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noFill/>
                  </a:tcPr>
                </a:tc>
                <a:extLst>
                  <a:ext uri="{0D108BD9-81ED-4DB2-BD59-A6C34878D82A}">
                    <a16:rowId xmlns:a16="http://schemas.microsoft.com/office/drawing/2014/main" val="2155187740"/>
                  </a:ext>
                </a:extLst>
              </a:tr>
              <a:tr h="335300">
                <a:tc>
                  <a:txBody>
                    <a:bodyPr/>
                    <a:lstStyle/>
                    <a:p>
                      <a:pPr rtl="0" fontAlgn="t">
                        <a:buNone/>
                      </a:pPr>
                      <a:r>
                        <a:rPr lang="en-IN" sz="600" b="0" i="0" u="none" strike="noStrike" dirty="0">
                          <a:solidFill>
                            <a:schemeClr val="tx1"/>
                          </a:solidFill>
                          <a:effectLst/>
                          <a:latin typeface="Calibri" panose="020F0502020204030204" pitchFamily="34" charset="0"/>
                        </a:rPr>
                        <a:t>YoY% growth</a:t>
                      </a:r>
                      <a:endParaRPr lang="en-IN" dirty="0">
                        <a:solidFill>
                          <a:schemeClr val="tx1"/>
                        </a:solidFill>
                        <a:effectLst/>
                      </a:endParaRPr>
                    </a:p>
                  </a:txBody>
                  <a:tcPr marL="95250" marR="95250" marT="95250" marB="95250">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solidFill>
                      <a:srgbClr val="FFE5B4"/>
                    </a:solidFill>
                  </a:tcPr>
                </a:tc>
                <a:tc>
                  <a:txBody>
                    <a:bodyPr/>
                    <a:lstStyle/>
                    <a:p>
                      <a:pPr algn="l" fontAlgn="base">
                        <a:buNone/>
                      </a:pPr>
                      <a:r>
                        <a:rPr lang="en-IN" sz="600" b="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{{sales_growth_fy24}}</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solidFill>
                      <a:srgbClr val="FFE5B4"/>
                    </a:solidFill>
                  </a:tcPr>
                </a:tc>
                <a:tc>
                  <a:txBody>
                    <a:bodyPr/>
                    <a:lstStyle/>
                    <a:p>
                      <a:pPr algn="l" fontAlgn="base">
                        <a:buNone/>
                      </a:pPr>
                      <a:r>
                        <a:rPr lang="en-IN" sz="600" b="0">
                          <a:solidFill>
                            <a:schemeClr val="tx1"/>
                          </a:solidFill>
                          <a:effectLst/>
                          <a:latin typeface="Calibri" panose="020F0502020204030204" pitchFamily="34" charset="0"/>
                          <a:ea typeface="Calibri" panose="020F0502020204030204" pitchFamily="34" charset="0"/>
                          <a:cs typeface="Calibri" panose="020F0502020204030204" pitchFamily="34" charset="0"/>
                        </a:rPr>
                        <a:t>{{sales_growth_fy25}}</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solidFill>
                      <a:srgbClr val="FFE5B4"/>
                    </a:solidFill>
                  </a:tcPr>
                </a:tc>
                <a:tc>
                  <a:txBody>
                    <a:bodyPr/>
                    <a:lstStyle/>
                    <a:p>
                      <a:pPr algn="l" fontAlgn="base">
                        <a:buNone/>
                      </a:pPr>
                      <a:r>
                        <a:rPr lang="en-IN" sz="600" b="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{{sales_growth_fy26}}</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solidFill>
                      <a:srgbClr val="FFE5B4"/>
                    </a:solidFill>
                  </a:tcPr>
                </a:tc>
                <a:tc>
                  <a:txBody>
                    <a:bodyPr/>
                    <a:lstStyle/>
                    <a:p>
                      <a:pPr algn="l" fontAlgn="base">
                        <a:buNone/>
                      </a:pPr>
                      <a:r>
                        <a:rPr lang="en-IN" sz="600" b="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{{sales_growth_fy27}}</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solidFill>
                      <a:srgbClr val="FFE5B4"/>
                    </a:solidFill>
                  </a:tcPr>
                </a:tc>
                <a:tc>
                  <a:txBody>
                    <a:bodyPr/>
                    <a:lstStyle/>
                    <a:p>
                      <a:pPr algn="l" fontAlgn="base">
                        <a:buNone/>
                      </a:pPr>
                      <a:r>
                        <a:rPr lang="en-IN" sz="600" b="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{{sales_growth_fy28}}</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solidFill>
                      <a:srgbClr val="FFE5B4"/>
                    </a:solidFill>
                  </a:tcPr>
                </a:tc>
                <a:extLst>
                  <a:ext uri="{0D108BD9-81ED-4DB2-BD59-A6C34878D82A}">
                    <a16:rowId xmlns:a16="http://schemas.microsoft.com/office/drawing/2014/main" val="1902421968"/>
                  </a:ext>
                </a:extLst>
              </a:tr>
              <a:tr h="273457">
                <a:tc>
                  <a:txBody>
                    <a:bodyPr/>
                    <a:lstStyle/>
                    <a:p>
                      <a:pPr rtl="0" fontAlgn="t">
                        <a:buNone/>
                      </a:pPr>
                      <a:r>
                        <a:rPr lang="en-IN" sz="600" b="0" i="0" u="none" strike="noStrike">
                          <a:solidFill>
                            <a:schemeClr val="tx1"/>
                          </a:solidFill>
                          <a:effectLst/>
                          <a:latin typeface="Calibri" panose="020F0502020204030204" pitchFamily="34" charset="0"/>
                        </a:rPr>
                        <a:t>EBITDA</a:t>
                      </a:r>
                      <a:endParaRPr lang="en-IN">
                        <a:solidFill>
                          <a:schemeClr val="tx1"/>
                        </a:solidFill>
                        <a:effectLst/>
                      </a:endParaRPr>
                    </a:p>
                  </a:txBody>
                  <a:tcPr marL="95250" marR="95250" marT="95250" marB="95250">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noFill/>
                  </a:tcPr>
                </a:tc>
                <a:tc>
                  <a:txBody>
                    <a:bodyPr/>
                    <a:lstStyle/>
                    <a:p>
                      <a:pPr algn="l" fontAlgn="base">
                        <a:buNone/>
                      </a:pPr>
                      <a:r>
                        <a:rPr lang="en-IN" sz="600" b="0">
                          <a:solidFill>
                            <a:schemeClr val="tx1"/>
                          </a:solidFill>
                          <a:effectLst/>
                          <a:latin typeface="Calibri" panose="020F0502020204030204" pitchFamily="34" charset="0"/>
                          <a:ea typeface="Calibri" panose="020F0502020204030204" pitchFamily="34" charset="0"/>
                          <a:cs typeface="Calibri" panose="020F0502020204030204" pitchFamily="34" charset="0"/>
                        </a:rPr>
                        <a:t>{{ebitda_fy24}}</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noFill/>
                  </a:tcPr>
                </a:tc>
                <a:tc>
                  <a:txBody>
                    <a:bodyPr/>
                    <a:lstStyle/>
                    <a:p>
                      <a:pPr algn="l" fontAlgn="base">
                        <a:buNone/>
                      </a:pPr>
                      <a:r>
                        <a:rPr lang="en-IN" sz="600" b="0">
                          <a:solidFill>
                            <a:schemeClr val="tx1"/>
                          </a:solidFill>
                          <a:effectLst/>
                          <a:latin typeface="Calibri" panose="020F0502020204030204" pitchFamily="34" charset="0"/>
                          <a:ea typeface="Calibri" panose="020F0502020204030204" pitchFamily="34" charset="0"/>
                          <a:cs typeface="Calibri" panose="020F0502020204030204" pitchFamily="34" charset="0"/>
                        </a:rPr>
                        <a:t>{{ebitda_fy25}}</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noFill/>
                  </a:tcPr>
                </a:tc>
                <a:tc>
                  <a:txBody>
                    <a:bodyPr/>
                    <a:lstStyle/>
                    <a:p>
                      <a:pPr algn="l" fontAlgn="base">
                        <a:buNone/>
                      </a:pPr>
                      <a:r>
                        <a:rPr lang="en-IN" sz="600" b="0">
                          <a:solidFill>
                            <a:schemeClr val="tx1"/>
                          </a:solidFill>
                          <a:effectLst/>
                          <a:latin typeface="Calibri" panose="020F0502020204030204" pitchFamily="34" charset="0"/>
                          <a:ea typeface="Calibri" panose="020F0502020204030204" pitchFamily="34" charset="0"/>
                          <a:cs typeface="Calibri" panose="020F0502020204030204" pitchFamily="34" charset="0"/>
                        </a:rPr>
                        <a:t>{{ebitda_fy26}}</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noFill/>
                  </a:tcPr>
                </a:tc>
                <a:tc>
                  <a:txBody>
                    <a:bodyPr/>
                    <a:lstStyle/>
                    <a:p>
                      <a:pPr algn="l" fontAlgn="base">
                        <a:buNone/>
                      </a:pPr>
                      <a:r>
                        <a:rPr lang="en-IN" sz="600" b="0">
                          <a:solidFill>
                            <a:schemeClr val="tx1"/>
                          </a:solidFill>
                          <a:effectLst/>
                          <a:latin typeface="Calibri" panose="020F0502020204030204" pitchFamily="34" charset="0"/>
                          <a:ea typeface="Calibri" panose="020F0502020204030204" pitchFamily="34" charset="0"/>
                          <a:cs typeface="Calibri" panose="020F0502020204030204" pitchFamily="34" charset="0"/>
                        </a:rPr>
                        <a:t>{{ebitda_fy27}}</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noFill/>
                  </a:tcPr>
                </a:tc>
                <a:tc>
                  <a:txBody>
                    <a:bodyPr/>
                    <a:lstStyle/>
                    <a:p>
                      <a:pPr algn="l" fontAlgn="base">
                        <a:buNone/>
                      </a:pPr>
                      <a:r>
                        <a:rPr lang="en-IN" sz="600" b="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{{ebitda_fy28}}</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noFill/>
                  </a:tcPr>
                </a:tc>
                <a:extLst>
                  <a:ext uri="{0D108BD9-81ED-4DB2-BD59-A6C34878D82A}">
                    <a16:rowId xmlns:a16="http://schemas.microsoft.com/office/drawing/2014/main" val="954158347"/>
                  </a:ext>
                </a:extLst>
              </a:tr>
              <a:tr h="335300">
                <a:tc>
                  <a:txBody>
                    <a:bodyPr/>
                    <a:lstStyle/>
                    <a:p>
                      <a:pPr rtl="0" fontAlgn="t">
                        <a:buNone/>
                      </a:pPr>
                      <a:r>
                        <a:rPr lang="en-IN" sz="600" b="0" i="0" u="none" strike="noStrike" dirty="0">
                          <a:solidFill>
                            <a:schemeClr val="tx1"/>
                          </a:solidFill>
                          <a:effectLst/>
                          <a:latin typeface="Calibri" panose="020F0502020204030204" pitchFamily="34" charset="0"/>
                        </a:rPr>
                        <a:t>% Margin</a:t>
                      </a:r>
                      <a:endParaRPr lang="en-IN" dirty="0">
                        <a:solidFill>
                          <a:schemeClr val="tx1"/>
                        </a:solidFill>
                        <a:effectLst/>
                      </a:endParaRPr>
                    </a:p>
                  </a:txBody>
                  <a:tcPr marL="95250" marR="95250" marT="95250" marB="95250">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solidFill>
                      <a:srgbClr val="FFE5B4"/>
                    </a:solidFill>
                  </a:tcPr>
                </a:tc>
                <a:tc>
                  <a:txBody>
                    <a:bodyPr/>
                    <a:lstStyle/>
                    <a:p>
                      <a:pPr algn="l" fontAlgn="base">
                        <a:buNone/>
                      </a:pPr>
                      <a:r>
                        <a:rPr lang="en-IN" sz="600" b="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{{ebitda_margin_fy24}}</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solidFill>
                      <a:srgbClr val="FFE5B4"/>
                    </a:solidFill>
                  </a:tcPr>
                </a:tc>
                <a:tc>
                  <a:txBody>
                    <a:bodyPr/>
                    <a:lstStyle/>
                    <a:p>
                      <a:pPr algn="l" fontAlgn="base">
                        <a:buNone/>
                      </a:pPr>
                      <a:r>
                        <a:rPr lang="en-IN" sz="600" b="0">
                          <a:solidFill>
                            <a:schemeClr val="tx1"/>
                          </a:solidFill>
                          <a:effectLst/>
                          <a:latin typeface="Calibri" panose="020F0502020204030204" pitchFamily="34" charset="0"/>
                          <a:ea typeface="Calibri" panose="020F0502020204030204" pitchFamily="34" charset="0"/>
                          <a:cs typeface="Calibri" panose="020F0502020204030204" pitchFamily="34" charset="0"/>
                        </a:rPr>
                        <a:t>{{ebitda_margin_fy25}}</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solidFill>
                      <a:srgbClr val="FFE5B4"/>
                    </a:solidFill>
                  </a:tcPr>
                </a:tc>
                <a:tc>
                  <a:txBody>
                    <a:bodyPr/>
                    <a:lstStyle/>
                    <a:p>
                      <a:pPr algn="l" fontAlgn="base">
                        <a:buNone/>
                      </a:pPr>
                      <a:r>
                        <a:rPr lang="en-IN" sz="600" b="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{{ebitda_margin_fy26}}</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solidFill>
                      <a:srgbClr val="FFE5B4"/>
                    </a:solidFill>
                  </a:tcPr>
                </a:tc>
                <a:tc>
                  <a:txBody>
                    <a:bodyPr/>
                    <a:lstStyle/>
                    <a:p>
                      <a:pPr algn="l" fontAlgn="base">
                        <a:buNone/>
                      </a:pPr>
                      <a:r>
                        <a:rPr lang="en-IN" sz="600" b="0">
                          <a:solidFill>
                            <a:schemeClr val="tx1"/>
                          </a:solidFill>
                          <a:effectLst/>
                          <a:latin typeface="Calibri" panose="020F0502020204030204" pitchFamily="34" charset="0"/>
                          <a:ea typeface="Calibri" panose="020F0502020204030204" pitchFamily="34" charset="0"/>
                          <a:cs typeface="Calibri" panose="020F0502020204030204" pitchFamily="34" charset="0"/>
                        </a:rPr>
                        <a:t>{{ebitda_margin_fy27}}</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solidFill>
                      <a:srgbClr val="FFE5B4"/>
                    </a:solidFill>
                  </a:tcPr>
                </a:tc>
                <a:tc>
                  <a:txBody>
                    <a:bodyPr/>
                    <a:lstStyle/>
                    <a:p>
                      <a:pPr algn="l" fontAlgn="base">
                        <a:buNone/>
                      </a:pPr>
                      <a:r>
                        <a:rPr lang="en-IN" sz="600" b="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{{ebitda_margin_fy28}}</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solidFill>
                      <a:srgbClr val="FFE5B4"/>
                    </a:solidFill>
                  </a:tcPr>
                </a:tc>
                <a:extLst>
                  <a:ext uri="{0D108BD9-81ED-4DB2-BD59-A6C34878D82A}">
                    <a16:rowId xmlns:a16="http://schemas.microsoft.com/office/drawing/2014/main" val="3717934197"/>
                  </a:ext>
                </a:extLst>
              </a:tr>
              <a:tr h="335300">
                <a:tc>
                  <a:txBody>
                    <a:bodyPr/>
                    <a:lstStyle/>
                    <a:p>
                      <a:pPr rtl="0" fontAlgn="t">
                        <a:buNone/>
                      </a:pPr>
                      <a:r>
                        <a:rPr lang="en-IN" sz="600" b="0" i="0" u="none" strike="noStrike" dirty="0">
                          <a:solidFill>
                            <a:schemeClr val="tx1"/>
                          </a:solidFill>
                          <a:effectLst/>
                          <a:latin typeface="Calibri" panose="020F0502020204030204" pitchFamily="34" charset="0"/>
                        </a:rPr>
                        <a:t>YoY% growth</a:t>
                      </a:r>
                      <a:endParaRPr lang="en-IN" dirty="0">
                        <a:solidFill>
                          <a:schemeClr val="tx1"/>
                        </a:solidFill>
                        <a:effectLst/>
                      </a:endParaRPr>
                    </a:p>
                  </a:txBody>
                  <a:tcPr marL="95250" marR="95250" marT="95250" marB="95250">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noFill/>
                  </a:tcPr>
                </a:tc>
                <a:tc>
                  <a:txBody>
                    <a:bodyPr/>
                    <a:lstStyle/>
                    <a:p>
                      <a:pPr algn="l" fontAlgn="base">
                        <a:buNone/>
                      </a:pPr>
                      <a:r>
                        <a:rPr lang="en-IN" sz="600" b="0">
                          <a:solidFill>
                            <a:schemeClr val="tx1"/>
                          </a:solidFill>
                          <a:effectLst/>
                          <a:latin typeface="SF Mono"/>
                        </a:rPr>
                        <a:t>{{ebitda_growth_fy24}}</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noFill/>
                  </a:tcPr>
                </a:tc>
                <a:tc>
                  <a:txBody>
                    <a:bodyPr/>
                    <a:lstStyle/>
                    <a:p>
                      <a:pPr algn="l" fontAlgn="base">
                        <a:buNone/>
                      </a:pPr>
                      <a:r>
                        <a:rPr lang="en-IN" sz="600" b="0">
                          <a:solidFill>
                            <a:schemeClr val="tx1"/>
                          </a:solidFill>
                          <a:effectLst/>
                          <a:latin typeface="SF Mono"/>
                        </a:rPr>
                        <a:t>{{ebitda_growth_fy25}}</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noFill/>
                  </a:tcPr>
                </a:tc>
                <a:tc>
                  <a:txBody>
                    <a:bodyPr/>
                    <a:lstStyle/>
                    <a:p>
                      <a:pPr algn="l" fontAlgn="base">
                        <a:buNone/>
                      </a:pPr>
                      <a:r>
                        <a:rPr lang="en-IN" sz="600" b="0">
                          <a:solidFill>
                            <a:schemeClr val="tx1"/>
                          </a:solidFill>
                          <a:effectLst/>
                          <a:latin typeface="SF Mono"/>
                        </a:rPr>
                        <a:t>{{ebitda_growth_fy26}}</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noFill/>
                  </a:tcPr>
                </a:tc>
                <a:tc>
                  <a:txBody>
                    <a:bodyPr/>
                    <a:lstStyle/>
                    <a:p>
                      <a:pPr algn="l" fontAlgn="base">
                        <a:buNone/>
                      </a:pPr>
                      <a:r>
                        <a:rPr lang="en-IN" sz="600" b="0">
                          <a:solidFill>
                            <a:schemeClr val="tx1"/>
                          </a:solidFill>
                          <a:effectLst/>
                          <a:latin typeface="SF Mono"/>
                        </a:rPr>
                        <a:t>{{ebitda_growth_fy27}}</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noFill/>
                  </a:tcPr>
                </a:tc>
                <a:tc>
                  <a:txBody>
                    <a:bodyPr/>
                    <a:lstStyle/>
                    <a:p>
                      <a:pPr algn="l" fontAlgn="base">
                        <a:buNone/>
                      </a:pPr>
                      <a:r>
                        <a:rPr lang="en-IN" sz="600" b="0" dirty="0">
                          <a:solidFill>
                            <a:schemeClr val="tx1"/>
                          </a:solidFill>
                          <a:effectLst/>
                          <a:latin typeface="SF Mono"/>
                        </a:rPr>
                        <a:t>{{ebitda_growth_fy28}}</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noFill/>
                  </a:tcPr>
                </a:tc>
                <a:extLst>
                  <a:ext uri="{0D108BD9-81ED-4DB2-BD59-A6C34878D82A}">
                    <a16:rowId xmlns:a16="http://schemas.microsoft.com/office/drawing/2014/main" val="1749798590"/>
                  </a:ext>
                </a:extLst>
              </a:tr>
              <a:tr h="273457">
                <a:tc>
                  <a:txBody>
                    <a:bodyPr/>
                    <a:lstStyle/>
                    <a:p>
                      <a:pPr rtl="0" fontAlgn="t">
                        <a:buNone/>
                      </a:pPr>
                      <a:r>
                        <a:rPr lang="en-IN" sz="600" b="0" i="0" u="none" strike="noStrike">
                          <a:solidFill>
                            <a:schemeClr val="tx1"/>
                          </a:solidFill>
                          <a:effectLst/>
                          <a:latin typeface="Calibri" panose="020F0502020204030204" pitchFamily="34" charset="0"/>
                        </a:rPr>
                        <a:t>PAT</a:t>
                      </a:r>
                      <a:endParaRPr lang="en-IN">
                        <a:solidFill>
                          <a:schemeClr val="tx1"/>
                        </a:solidFill>
                        <a:effectLst/>
                      </a:endParaRPr>
                    </a:p>
                  </a:txBody>
                  <a:tcPr marL="95250" marR="95250" marT="95250" marB="95250">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solidFill>
                      <a:srgbClr val="FFE5B4"/>
                    </a:solidFill>
                  </a:tcPr>
                </a:tc>
                <a:tc>
                  <a:txBody>
                    <a:bodyPr/>
                    <a:lstStyle/>
                    <a:p>
                      <a:pPr algn="l" fontAlgn="base">
                        <a:buNone/>
                      </a:pPr>
                      <a:r>
                        <a:rPr lang="en-IN" sz="600" b="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{{pat_fy24}}</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solidFill>
                      <a:srgbClr val="FFE5B4"/>
                    </a:solidFill>
                  </a:tcPr>
                </a:tc>
                <a:tc>
                  <a:txBody>
                    <a:bodyPr/>
                    <a:lstStyle/>
                    <a:p>
                      <a:pPr algn="l" fontAlgn="base">
                        <a:buNone/>
                      </a:pPr>
                      <a:r>
                        <a:rPr lang="en-IN" sz="600" b="0">
                          <a:solidFill>
                            <a:schemeClr val="tx1"/>
                          </a:solidFill>
                          <a:effectLst/>
                          <a:latin typeface="Calibri" panose="020F0502020204030204" pitchFamily="34" charset="0"/>
                          <a:ea typeface="Calibri" panose="020F0502020204030204" pitchFamily="34" charset="0"/>
                          <a:cs typeface="Calibri" panose="020F0502020204030204" pitchFamily="34" charset="0"/>
                        </a:rPr>
                        <a:t>{{pat_fy25}}</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solidFill>
                      <a:srgbClr val="FFE5B4"/>
                    </a:solidFill>
                  </a:tcPr>
                </a:tc>
                <a:tc>
                  <a:txBody>
                    <a:bodyPr/>
                    <a:lstStyle/>
                    <a:p>
                      <a:pPr algn="l" fontAlgn="base">
                        <a:buNone/>
                      </a:pPr>
                      <a:r>
                        <a:rPr lang="en-IN" sz="600" b="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{{pat_fy26}}</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solidFill>
                      <a:srgbClr val="FFE5B4"/>
                    </a:solidFill>
                  </a:tcPr>
                </a:tc>
                <a:tc>
                  <a:txBody>
                    <a:bodyPr/>
                    <a:lstStyle/>
                    <a:p>
                      <a:pPr algn="l" fontAlgn="base">
                        <a:buNone/>
                      </a:pPr>
                      <a:r>
                        <a:rPr lang="en-IN" sz="600" b="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{{pat_fy27}}</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solidFill>
                      <a:srgbClr val="FFE5B4"/>
                    </a:solidFill>
                  </a:tcPr>
                </a:tc>
                <a:tc>
                  <a:txBody>
                    <a:bodyPr/>
                    <a:lstStyle/>
                    <a:p>
                      <a:pPr algn="l" fontAlgn="base">
                        <a:buNone/>
                      </a:pPr>
                      <a:r>
                        <a:rPr lang="en-IN" sz="600" b="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{{pat_fy28}}</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solidFill>
                      <a:srgbClr val="FFE5B4"/>
                    </a:solidFill>
                  </a:tcPr>
                </a:tc>
                <a:extLst>
                  <a:ext uri="{0D108BD9-81ED-4DB2-BD59-A6C34878D82A}">
                    <a16:rowId xmlns:a16="http://schemas.microsoft.com/office/drawing/2014/main" val="1169337383"/>
                  </a:ext>
                </a:extLst>
              </a:tr>
              <a:tr h="335300">
                <a:tc>
                  <a:txBody>
                    <a:bodyPr/>
                    <a:lstStyle/>
                    <a:p>
                      <a:pPr rtl="0" fontAlgn="t">
                        <a:buNone/>
                      </a:pPr>
                      <a:r>
                        <a:rPr lang="en-IN" sz="600" b="0" i="0" u="none" strike="noStrike">
                          <a:solidFill>
                            <a:schemeClr val="tx1"/>
                          </a:solidFill>
                          <a:effectLst/>
                          <a:latin typeface="Calibri" panose="020F0502020204030204" pitchFamily="34" charset="0"/>
                        </a:rPr>
                        <a:t>YoY% growth</a:t>
                      </a:r>
                      <a:endParaRPr lang="en-IN">
                        <a:solidFill>
                          <a:schemeClr val="tx1"/>
                        </a:solidFill>
                        <a:effectLst/>
                      </a:endParaRPr>
                    </a:p>
                  </a:txBody>
                  <a:tcPr marL="95250" marR="95250" marT="95250" marB="95250">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noFill/>
                  </a:tcPr>
                </a:tc>
                <a:tc>
                  <a:txBody>
                    <a:bodyPr/>
                    <a:lstStyle/>
                    <a:p>
                      <a:pPr algn="l" fontAlgn="base">
                        <a:buNone/>
                      </a:pPr>
                      <a:r>
                        <a:rPr lang="en-IN" sz="600" b="0" dirty="0">
                          <a:solidFill>
                            <a:schemeClr val="tx1"/>
                          </a:solidFill>
                          <a:effectLst/>
                          <a:latin typeface="SF Mono"/>
                        </a:rPr>
                        <a:t>{{pat_growth_fy24}}</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noFill/>
                  </a:tcPr>
                </a:tc>
                <a:tc>
                  <a:txBody>
                    <a:bodyPr/>
                    <a:lstStyle/>
                    <a:p>
                      <a:pPr algn="l" fontAlgn="base">
                        <a:buNone/>
                      </a:pPr>
                      <a:r>
                        <a:rPr lang="en-IN" sz="600" b="0">
                          <a:solidFill>
                            <a:schemeClr val="tx1"/>
                          </a:solidFill>
                          <a:effectLst/>
                          <a:latin typeface="SF Mono"/>
                        </a:rPr>
                        <a:t>{{pat_growth_fy25}}</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noFill/>
                  </a:tcPr>
                </a:tc>
                <a:tc>
                  <a:txBody>
                    <a:bodyPr/>
                    <a:lstStyle/>
                    <a:p>
                      <a:pPr algn="l" fontAlgn="base">
                        <a:buNone/>
                      </a:pPr>
                      <a:r>
                        <a:rPr lang="en-IN" sz="600" b="0" dirty="0">
                          <a:solidFill>
                            <a:schemeClr val="tx1"/>
                          </a:solidFill>
                          <a:effectLst/>
                          <a:latin typeface="SF Mono"/>
                        </a:rPr>
                        <a:t>{{pat_growth_fy26}}</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noFill/>
                  </a:tcPr>
                </a:tc>
                <a:tc>
                  <a:txBody>
                    <a:bodyPr/>
                    <a:lstStyle/>
                    <a:p>
                      <a:pPr algn="l" fontAlgn="base">
                        <a:buNone/>
                      </a:pPr>
                      <a:r>
                        <a:rPr lang="en-IN" sz="600" b="0" dirty="0">
                          <a:solidFill>
                            <a:schemeClr val="tx1"/>
                          </a:solidFill>
                          <a:effectLst/>
                          <a:latin typeface="SF Mono"/>
                        </a:rPr>
                        <a:t>{{pat_growth_fy27}}</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noFill/>
                  </a:tcPr>
                </a:tc>
                <a:tc>
                  <a:txBody>
                    <a:bodyPr/>
                    <a:lstStyle/>
                    <a:p>
                      <a:pPr algn="l" fontAlgn="base">
                        <a:buNone/>
                      </a:pPr>
                      <a:r>
                        <a:rPr lang="en-IN" sz="600" b="0" dirty="0">
                          <a:solidFill>
                            <a:schemeClr val="tx1"/>
                          </a:solidFill>
                          <a:effectLst/>
                          <a:latin typeface="SF Mono"/>
                        </a:rPr>
                        <a:t>{{pat_growth_fy28}}</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noFill/>
                  </a:tcPr>
                </a:tc>
                <a:extLst>
                  <a:ext uri="{0D108BD9-81ED-4DB2-BD59-A6C34878D82A}">
                    <a16:rowId xmlns:a16="http://schemas.microsoft.com/office/drawing/2014/main" val="800111829"/>
                  </a:ext>
                </a:extLst>
              </a:tr>
              <a:tr h="273457">
                <a:tc>
                  <a:txBody>
                    <a:bodyPr/>
                    <a:lstStyle/>
                    <a:p>
                      <a:pPr rtl="0" fontAlgn="t">
                        <a:buNone/>
                      </a:pPr>
                      <a:r>
                        <a:rPr lang="en-IN" sz="600" b="0" i="0" u="none" strike="noStrike">
                          <a:solidFill>
                            <a:schemeClr val="tx1"/>
                          </a:solidFill>
                          <a:effectLst/>
                          <a:latin typeface="Calibri" panose="020F0502020204030204" pitchFamily="34" charset="0"/>
                        </a:rPr>
                        <a:t>P/E</a:t>
                      </a:r>
                      <a:endParaRPr lang="en-IN">
                        <a:solidFill>
                          <a:schemeClr val="tx1"/>
                        </a:solidFill>
                        <a:effectLst/>
                      </a:endParaRPr>
                    </a:p>
                  </a:txBody>
                  <a:tcPr marL="95250" marR="95250" marT="95250" marB="95250">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solidFill>
                      <a:srgbClr val="FFE5B4"/>
                    </a:solidFill>
                  </a:tcPr>
                </a:tc>
                <a:tc>
                  <a:txBody>
                    <a:bodyPr/>
                    <a:lstStyle/>
                    <a:p>
                      <a:pPr algn="l" fontAlgn="base">
                        <a:buNone/>
                      </a:pPr>
                      <a:r>
                        <a:rPr lang="en-IN" sz="600" b="0">
                          <a:solidFill>
                            <a:schemeClr val="tx1"/>
                          </a:solidFill>
                          <a:effectLst/>
                          <a:latin typeface="SF Mono"/>
                        </a:rPr>
                        <a:t>{{pe_fy24}}</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solidFill>
                      <a:srgbClr val="FFE5B4"/>
                    </a:solidFill>
                  </a:tcPr>
                </a:tc>
                <a:tc>
                  <a:txBody>
                    <a:bodyPr/>
                    <a:lstStyle/>
                    <a:p>
                      <a:pPr algn="l" fontAlgn="base">
                        <a:buNone/>
                      </a:pPr>
                      <a:r>
                        <a:rPr lang="en-IN" sz="600" b="0">
                          <a:solidFill>
                            <a:schemeClr val="tx1"/>
                          </a:solidFill>
                          <a:effectLst/>
                          <a:latin typeface="SF Mono"/>
                        </a:rPr>
                        <a:t>{{pe_fy25}}</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solidFill>
                      <a:srgbClr val="FFE5B4"/>
                    </a:solidFill>
                  </a:tcPr>
                </a:tc>
                <a:tc>
                  <a:txBody>
                    <a:bodyPr/>
                    <a:lstStyle/>
                    <a:p>
                      <a:pPr algn="l" fontAlgn="base">
                        <a:buNone/>
                      </a:pPr>
                      <a:r>
                        <a:rPr lang="en-IN" sz="600" b="0">
                          <a:solidFill>
                            <a:schemeClr val="tx1"/>
                          </a:solidFill>
                          <a:effectLst/>
                          <a:latin typeface="SF Mono"/>
                        </a:rPr>
                        <a:t>{{pe_fy26}}</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solidFill>
                      <a:srgbClr val="FFE5B4"/>
                    </a:solidFill>
                  </a:tcPr>
                </a:tc>
                <a:tc>
                  <a:txBody>
                    <a:bodyPr/>
                    <a:lstStyle/>
                    <a:p>
                      <a:pPr algn="l" fontAlgn="base">
                        <a:buNone/>
                      </a:pPr>
                      <a:r>
                        <a:rPr lang="en-IN" sz="600" b="0">
                          <a:solidFill>
                            <a:schemeClr val="tx1"/>
                          </a:solidFill>
                          <a:effectLst/>
                          <a:latin typeface="SF Mono"/>
                        </a:rPr>
                        <a:t>{{pe_fy27}}</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solidFill>
                      <a:srgbClr val="FFE5B4"/>
                    </a:solidFill>
                  </a:tcPr>
                </a:tc>
                <a:tc>
                  <a:txBody>
                    <a:bodyPr/>
                    <a:lstStyle/>
                    <a:p>
                      <a:pPr algn="l" fontAlgn="base">
                        <a:buNone/>
                      </a:pPr>
                      <a:r>
                        <a:rPr lang="en-IN" sz="600" b="0" dirty="0">
                          <a:solidFill>
                            <a:schemeClr val="tx1"/>
                          </a:solidFill>
                          <a:effectLst/>
                          <a:latin typeface="SF Mono"/>
                        </a:rPr>
                        <a:t>{{pe_fy28}}</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solidFill>
                      <a:srgbClr val="FFE5B4"/>
                    </a:solidFill>
                  </a:tcPr>
                </a:tc>
                <a:extLst>
                  <a:ext uri="{0D108BD9-81ED-4DB2-BD59-A6C34878D82A}">
                    <a16:rowId xmlns:a16="http://schemas.microsoft.com/office/drawing/2014/main" val="2083340940"/>
                  </a:ext>
                </a:extLst>
              </a:tr>
              <a:tr h="273457">
                <a:tc>
                  <a:txBody>
                    <a:bodyPr/>
                    <a:lstStyle/>
                    <a:p>
                      <a:pPr rtl="0" fontAlgn="t">
                        <a:buNone/>
                      </a:pPr>
                      <a:r>
                        <a:rPr lang="en-IN" sz="600" b="0" i="0" u="none" strike="noStrike">
                          <a:solidFill>
                            <a:schemeClr val="tx1"/>
                          </a:solidFill>
                          <a:effectLst/>
                          <a:latin typeface="Calibri" panose="020F0502020204030204" pitchFamily="34" charset="0"/>
                        </a:rPr>
                        <a:t>P/B</a:t>
                      </a:r>
                      <a:endParaRPr lang="en-IN">
                        <a:solidFill>
                          <a:schemeClr val="tx1"/>
                        </a:solidFill>
                        <a:effectLst/>
                      </a:endParaRPr>
                    </a:p>
                  </a:txBody>
                  <a:tcPr marL="95250" marR="95250" marT="95250" marB="95250">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noFill/>
                  </a:tcPr>
                </a:tc>
                <a:tc>
                  <a:txBody>
                    <a:bodyPr/>
                    <a:lstStyle/>
                    <a:p>
                      <a:pPr algn="l" fontAlgn="base">
                        <a:buNone/>
                      </a:pPr>
                      <a:r>
                        <a:rPr lang="en-IN" sz="600" b="0">
                          <a:solidFill>
                            <a:schemeClr val="tx1"/>
                          </a:solidFill>
                          <a:effectLst/>
                          <a:latin typeface="SF Mono"/>
                        </a:rPr>
                        <a:t>{{pe_fy24}}</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noFill/>
                  </a:tcPr>
                </a:tc>
                <a:tc>
                  <a:txBody>
                    <a:bodyPr/>
                    <a:lstStyle/>
                    <a:p>
                      <a:pPr algn="l" fontAlgn="base">
                        <a:buNone/>
                      </a:pPr>
                      <a:r>
                        <a:rPr lang="en-IN" sz="600" b="0">
                          <a:solidFill>
                            <a:schemeClr val="tx1"/>
                          </a:solidFill>
                          <a:effectLst/>
                          <a:latin typeface="SF Mono"/>
                        </a:rPr>
                        <a:t>{{pe_fy25}}</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noFill/>
                  </a:tcPr>
                </a:tc>
                <a:tc>
                  <a:txBody>
                    <a:bodyPr/>
                    <a:lstStyle/>
                    <a:p>
                      <a:pPr algn="l" fontAlgn="base">
                        <a:buNone/>
                      </a:pPr>
                      <a:r>
                        <a:rPr lang="en-IN" sz="600" b="0">
                          <a:solidFill>
                            <a:schemeClr val="tx1"/>
                          </a:solidFill>
                          <a:effectLst/>
                          <a:latin typeface="SF Mono"/>
                        </a:rPr>
                        <a:t>{{pe_fy26}}</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noFill/>
                  </a:tcPr>
                </a:tc>
                <a:tc>
                  <a:txBody>
                    <a:bodyPr/>
                    <a:lstStyle/>
                    <a:p>
                      <a:pPr algn="l" fontAlgn="base">
                        <a:buNone/>
                      </a:pPr>
                      <a:r>
                        <a:rPr lang="en-IN" sz="600" b="0">
                          <a:solidFill>
                            <a:schemeClr val="tx1"/>
                          </a:solidFill>
                          <a:effectLst/>
                          <a:latin typeface="SF Mono"/>
                        </a:rPr>
                        <a:t>{{pe_fy27}}</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noFill/>
                  </a:tcPr>
                </a:tc>
                <a:tc>
                  <a:txBody>
                    <a:bodyPr/>
                    <a:lstStyle/>
                    <a:p>
                      <a:pPr algn="l" fontAlgn="base">
                        <a:buNone/>
                      </a:pPr>
                      <a:r>
                        <a:rPr lang="en-IN" sz="600" b="0" dirty="0">
                          <a:solidFill>
                            <a:schemeClr val="tx1"/>
                          </a:solidFill>
                          <a:effectLst/>
                          <a:latin typeface="SF Mono"/>
                        </a:rPr>
                        <a:t>{{pe_fy28}}</a:t>
                      </a:r>
                    </a:p>
                  </a:txBody>
                  <a:tcPr anchor="ctr">
                    <a:lnL w="9525" cap="flat" cmpd="sng" algn="ctr">
                      <a:solidFill>
                        <a:srgbClr val="9E9E9E"/>
                      </a:solidFill>
                      <a:prstDash val="solid"/>
                      <a:round/>
                      <a:headEnd type="none" w="med" len="med"/>
                      <a:tailEnd type="none" w="med" len="med"/>
                    </a:lnL>
                    <a:lnR w="9525" cap="flat" cmpd="sng" algn="ctr">
                      <a:solidFill>
                        <a:srgbClr val="9E9E9E"/>
                      </a:solidFill>
                      <a:prstDash val="solid"/>
                      <a:round/>
                      <a:headEnd type="none" w="med" len="med"/>
                      <a:tailEnd type="none" w="med" len="med"/>
                    </a:lnR>
                    <a:lnT w="9525" cap="flat" cmpd="sng" algn="ctr">
                      <a:solidFill>
                        <a:srgbClr val="9E9E9E"/>
                      </a:solidFill>
                      <a:prstDash val="solid"/>
                      <a:round/>
                      <a:headEnd type="none" w="med" len="med"/>
                      <a:tailEnd type="none" w="med" len="med"/>
                    </a:lnT>
                    <a:lnB w="9525" cap="flat" cmpd="sng" algn="ctr">
                      <a:solidFill>
                        <a:srgbClr val="9E9E9E"/>
                      </a:solidFill>
                      <a:prstDash val="solid"/>
                      <a:round/>
                      <a:headEnd type="none" w="med" len="med"/>
                      <a:tailEnd type="none" w="med" len="med"/>
                    </a:lnB>
                    <a:noFill/>
                  </a:tcPr>
                </a:tc>
                <a:extLst>
                  <a:ext uri="{0D108BD9-81ED-4DB2-BD59-A6C34878D82A}">
                    <a16:rowId xmlns:a16="http://schemas.microsoft.com/office/drawing/2014/main" val="2302457328"/>
                  </a:ext>
                </a:extLst>
              </a:tr>
            </a:tbl>
          </a:graphicData>
        </a:graphic>
      </p:graphicFrame>
      <p:sp>
        <p:nvSpPr>
          <p:cNvPr id="5" name="Rectangle 1">
            <a:extLst>
              <a:ext uri="{FF2B5EF4-FFF2-40B4-BE49-F238E27FC236}">
                <a16:creationId xmlns:a16="http://schemas.microsoft.com/office/drawing/2014/main" id="{929B1D0D-74F2-EE08-7405-386A10478C29}"/>
              </a:ext>
            </a:extLst>
          </p:cNvPr>
          <p:cNvSpPr>
            <a:spLocks noChangeArrowheads="1"/>
          </p:cNvSpPr>
          <p:nvPr/>
        </p:nvSpPr>
        <p:spPr bwMode="auto">
          <a:xfrm>
            <a:off x="2371725" y="1450975"/>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IN"/>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18"/>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dirty="0"/>
              <a:t>Company Background</a:t>
            </a:r>
            <a:endParaRPr dirty="0"/>
          </a:p>
        </p:txBody>
      </p:sp>
      <p:sp>
        <p:nvSpPr>
          <p:cNvPr id="103" name="Google Shape;103;p18"/>
          <p:cNvSpPr txBox="1"/>
          <p:nvPr/>
        </p:nvSpPr>
        <p:spPr>
          <a:xfrm>
            <a:off x="0" y="54360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1" algn="just"/>
            <a:r>
              <a:rPr lang="en-US" sz="1000" dirty="0">
                <a:solidFill>
                  <a:schemeClr val="dk1"/>
                </a:solidFill>
                <a:latin typeface="Calibri"/>
                <a:ea typeface="Calibri"/>
                <a:cs typeface="Calibri"/>
                <a:sym typeface="Calibri"/>
              </a:rPr>
              <a:t> {{</a:t>
            </a:r>
            <a:r>
              <a:rPr lang="en-US" sz="1000" dirty="0" err="1">
                <a:solidFill>
                  <a:schemeClr val="dk1"/>
                </a:solidFill>
                <a:latin typeface="Calibri"/>
                <a:ea typeface="Calibri"/>
                <a:cs typeface="Calibri"/>
                <a:sym typeface="Calibri"/>
              </a:rPr>
              <a:t>company_background</a:t>
            </a:r>
            <a:r>
              <a:rPr lang="en-US" sz="1000" dirty="0">
                <a:solidFill>
                  <a:schemeClr val="dk1"/>
                </a:solidFill>
                <a:latin typeface="Calibri"/>
                <a:ea typeface="Calibri"/>
                <a:cs typeface="Calibri"/>
                <a:sym typeface="Calibri"/>
              </a:rPr>
              <a:t>}}</a:t>
            </a: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sz="1000" dirty="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FAD0D60-5275-84AE-A01D-5C293117907D}"/>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789E8541-3656-D6AE-7758-C57E83AB0178}"/>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Business Model Explanation</a:t>
            </a:r>
            <a:endParaRPr dirty="0"/>
          </a:p>
        </p:txBody>
      </p:sp>
      <p:sp>
        <p:nvSpPr>
          <p:cNvPr id="103" name="Google Shape;103;p18">
            <a:extLst>
              <a:ext uri="{FF2B5EF4-FFF2-40B4-BE49-F238E27FC236}">
                <a16:creationId xmlns:a16="http://schemas.microsoft.com/office/drawing/2014/main" id="{0B022806-FF18-A70B-0096-6E7E4CF88860}"/>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business_model</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9963114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F690E7C3-0D46-8142-577A-0C5753B9DE32}"/>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A7E19E58-FD14-45C9-C665-CC1CD4B6B258}"/>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Management Analysis</a:t>
            </a:r>
            <a:endParaRPr dirty="0"/>
          </a:p>
        </p:txBody>
      </p:sp>
      <p:sp>
        <p:nvSpPr>
          <p:cNvPr id="103" name="Google Shape;103;p18">
            <a:extLst>
              <a:ext uri="{FF2B5EF4-FFF2-40B4-BE49-F238E27FC236}">
                <a16:creationId xmlns:a16="http://schemas.microsoft.com/office/drawing/2014/main" id="{6BF73CCD-0EE9-D178-E0EE-DBE8BACE316B}"/>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management_analysis</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8842382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83028637-C7E8-1027-CF6F-11A001994C95}"/>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3C72DCED-094C-9F6B-1B28-0C9FAC247A12}"/>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dirty="0"/>
              <a:t>Industry Overview</a:t>
            </a:r>
            <a:endParaRPr dirty="0"/>
          </a:p>
        </p:txBody>
      </p:sp>
      <p:sp>
        <p:nvSpPr>
          <p:cNvPr id="103" name="Google Shape;103;p18">
            <a:extLst>
              <a:ext uri="{FF2B5EF4-FFF2-40B4-BE49-F238E27FC236}">
                <a16:creationId xmlns:a16="http://schemas.microsoft.com/office/drawing/2014/main" id="{3EF6F868-E6FA-528A-EB17-E7AA64837568}"/>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industry_overview</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771932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B9AD7384-8D9A-4E27-361F-1541B231D334}"/>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282A215E-AAE7-F4C1-216D-6AD0C7EB9D7D}"/>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dirty="0"/>
              <a:t>Key Industry Tailwinds</a:t>
            </a:r>
            <a:endParaRPr dirty="0"/>
          </a:p>
        </p:txBody>
      </p:sp>
      <p:sp>
        <p:nvSpPr>
          <p:cNvPr id="103" name="Google Shape;103;p18">
            <a:extLst>
              <a:ext uri="{FF2B5EF4-FFF2-40B4-BE49-F238E27FC236}">
                <a16:creationId xmlns:a16="http://schemas.microsoft.com/office/drawing/2014/main" id="{7E730C0C-A0CB-D1A8-865F-26DAB5B55E5C}"/>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industry_tailwinds</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811773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EB4D1E24-8E50-6B9E-737F-93AE4CF63957}"/>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A2F583F2-F833-28A7-9673-BBE9AD5961BA}"/>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Demand drivers</a:t>
            </a:r>
            <a:endParaRPr dirty="0"/>
          </a:p>
        </p:txBody>
      </p:sp>
      <p:sp>
        <p:nvSpPr>
          <p:cNvPr id="103" name="Google Shape;103;p18">
            <a:extLst>
              <a:ext uri="{FF2B5EF4-FFF2-40B4-BE49-F238E27FC236}">
                <a16:creationId xmlns:a16="http://schemas.microsoft.com/office/drawing/2014/main" id="{00A4DE28-F00E-19A8-D0C7-CB03E6163359}"/>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demand_drivers</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9618135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5369FFD1-328D-C386-CF68-92179F159FCF}"/>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CF2746A6-609C-ED62-DBA0-F63389FE81BD}"/>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Industry Risks</a:t>
            </a:r>
            <a:endParaRPr dirty="0"/>
          </a:p>
        </p:txBody>
      </p:sp>
      <p:sp>
        <p:nvSpPr>
          <p:cNvPr id="103" name="Google Shape;103;p18">
            <a:extLst>
              <a:ext uri="{FF2B5EF4-FFF2-40B4-BE49-F238E27FC236}">
                <a16:creationId xmlns:a16="http://schemas.microsoft.com/office/drawing/2014/main" id="{4F3CD53B-0D34-3E85-C664-97E2B3F3E2AB}"/>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industry_risk</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IN"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0230988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9"/>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a:t>Financials and Ratio Analysis</a:t>
            </a:r>
            <a:endParaRPr/>
          </a:p>
        </p:txBody>
      </p:sp>
      <p:sp>
        <p:nvSpPr>
          <p:cNvPr id="3" name="Title 2">
            <a:extLst>
              <a:ext uri="{FF2B5EF4-FFF2-40B4-BE49-F238E27FC236}">
                <a16:creationId xmlns:a16="http://schemas.microsoft.com/office/drawing/2014/main" id="{F9E735C5-A5DA-5348-B44B-71E3B9F63E9A}"/>
              </a:ext>
            </a:extLst>
          </p:cNvPr>
          <p:cNvSpPr>
            <a:spLocks noGrp="1"/>
          </p:cNvSpPr>
          <p:nvPr>
            <p:ph type="title"/>
          </p:nvPr>
        </p:nvSpPr>
        <p:spPr/>
        <p:txBody>
          <a:bodyPr/>
          <a:lstStyle/>
          <a:p>
            <a:endParaRPr lang="en-IN" dirty="0"/>
          </a:p>
        </p:txBody>
      </p:sp>
      <p:sp>
        <p:nvSpPr>
          <p:cNvPr id="5" name="Title 4">
            <a:extLst>
              <a:ext uri="{FF2B5EF4-FFF2-40B4-BE49-F238E27FC236}">
                <a16:creationId xmlns:a16="http://schemas.microsoft.com/office/drawing/2014/main" id="{78C8FD2B-7D8D-BFE6-9940-30B1DA00CBCF}"/>
              </a:ext>
            </a:extLst>
          </p:cNvPr>
          <p:cNvSpPr>
            <a:spLocks noGrp="1"/>
          </p:cNvSpPr>
          <p:nvPr>
            <p:ph type="title"/>
          </p:nvPr>
        </p:nvSpPr>
        <p:spPr/>
        <p:txBody>
          <a:bodyPr/>
          <a:lstStyle/>
          <a:p>
            <a:endParaRPr lang="en-IN" dirty="0"/>
          </a:p>
        </p:txBody>
      </p:sp>
      <p:sp>
        <p:nvSpPr>
          <p:cNvPr id="7" name="Title 6">
            <a:extLst>
              <a:ext uri="{FF2B5EF4-FFF2-40B4-BE49-F238E27FC236}">
                <a16:creationId xmlns:a16="http://schemas.microsoft.com/office/drawing/2014/main" id="{CEF2C673-0B9A-CDB6-EE2A-5CFAECCEA9F2}"/>
              </a:ext>
            </a:extLst>
          </p:cNvPr>
          <p:cNvSpPr>
            <a:spLocks noGrp="1"/>
          </p:cNvSpPr>
          <p:nvPr>
            <p:ph type="title"/>
          </p:nvPr>
        </p:nvSpPr>
        <p:spPr/>
        <p:txBody>
          <a:bodyPr/>
          <a:lstStyle/>
          <a:p>
            <a:endParaRPr lang="en-IN" dirty="0"/>
          </a:p>
        </p:txBody>
      </p:sp>
      <p:sp>
        <p:nvSpPr>
          <p:cNvPr id="9" name="Title 8">
            <a:extLst>
              <a:ext uri="{FF2B5EF4-FFF2-40B4-BE49-F238E27FC236}">
                <a16:creationId xmlns:a16="http://schemas.microsoft.com/office/drawing/2014/main" id="{090568D9-445C-CF1D-D517-A1B6B9682E50}"/>
              </a:ext>
            </a:extLst>
          </p:cNvPr>
          <p:cNvSpPr>
            <a:spLocks noGrp="1"/>
          </p:cNvSpPr>
          <p:nvPr>
            <p:ph type="title"/>
          </p:nvPr>
        </p:nvSpPr>
        <p:spPr/>
        <p:txBody>
          <a:bodyPr/>
          <a:lstStyle/>
          <a:p>
            <a:r>
              <a:rPr lang="en-IN" dirty="0"/>
              <a:t>Summary in Tables</a:t>
            </a:r>
          </a:p>
        </p:txBody>
      </p:sp>
      <p:sp>
        <p:nvSpPr>
          <p:cNvPr id="10" name="TextBox 9">
            <a:extLst>
              <a:ext uri="{FF2B5EF4-FFF2-40B4-BE49-F238E27FC236}">
                <a16:creationId xmlns:a16="http://schemas.microsoft.com/office/drawing/2014/main" id="{54263664-1DF1-772C-4528-73246E37C87E}"/>
              </a:ext>
            </a:extLst>
          </p:cNvPr>
          <p:cNvSpPr txBox="1"/>
          <p:nvPr/>
        </p:nvSpPr>
        <p:spPr>
          <a:xfrm>
            <a:off x="575733" y="1241778"/>
            <a:ext cx="1645002" cy="307777"/>
          </a:xfrm>
          <a:prstGeom prst="rect">
            <a:avLst/>
          </a:prstGeom>
          <a:noFill/>
        </p:spPr>
        <p:txBody>
          <a:bodyPr wrap="none" rtlCol="0">
            <a:spAutoFit/>
          </a:bodyPr>
          <a:lstStyle/>
          <a:p>
            <a:r>
              <a:rPr lang="en-IN" dirty="0"/>
              <a:t>{{</a:t>
            </a:r>
            <a:r>
              <a:rPr lang="en-IN" dirty="0" err="1"/>
              <a:t>summary_table</a:t>
            </a:r>
            <a:r>
              <a:rPr lang="en-IN" dirty="0"/>
              <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8" name="Google Shape;118;p20"/>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a:t>Summary in charts!</a:t>
            </a:r>
            <a:endParaRPr/>
          </a:p>
        </p:txBody>
      </p:sp>
      <p:sp>
        <p:nvSpPr>
          <p:cNvPr id="2" name="TextBox 1">
            <a:extLst>
              <a:ext uri="{FF2B5EF4-FFF2-40B4-BE49-F238E27FC236}">
                <a16:creationId xmlns:a16="http://schemas.microsoft.com/office/drawing/2014/main" id="{A9D075EE-B486-8649-E192-9DEE2DDCE6A3}"/>
              </a:ext>
            </a:extLst>
          </p:cNvPr>
          <p:cNvSpPr txBox="1"/>
          <p:nvPr/>
        </p:nvSpPr>
        <p:spPr>
          <a:xfrm>
            <a:off x="2562578" y="1636889"/>
            <a:ext cx="1495922" cy="307777"/>
          </a:xfrm>
          <a:prstGeom prst="rect">
            <a:avLst/>
          </a:prstGeom>
          <a:noFill/>
        </p:spPr>
        <p:txBody>
          <a:bodyPr wrap="none" rtlCol="0">
            <a:spAutoFit/>
          </a:bodyPr>
          <a:lstStyle/>
          <a:p>
            <a:r>
              <a:rPr lang="en-IN" dirty="0"/>
              <a:t>{{</a:t>
            </a:r>
            <a:r>
              <a:rPr lang="en-IN"/>
              <a:t>chart_custom}}</a:t>
            </a:r>
            <a:endParaRPr lang="en-IN"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22"/>
        <p:cNvGrpSpPr/>
        <p:nvPr/>
      </p:nvGrpSpPr>
      <p:grpSpPr>
        <a:xfrm>
          <a:off x="0" y="0"/>
          <a:ext cx="0" cy="0"/>
          <a:chOff x="0" y="0"/>
          <a:chExt cx="0" cy="0"/>
        </a:xfrm>
      </p:grpSpPr>
      <p:sp>
        <p:nvSpPr>
          <p:cNvPr id="123" name="Google Shape;123;p21"/>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a:t>Disclosure and Disclaimers</a:t>
            </a:r>
            <a:endParaRPr/>
          </a:p>
        </p:txBody>
      </p:sp>
      <p:sp>
        <p:nvSpPr>
          <p:cNvPr id="124" name="Google Shape;124;p21"/>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marR="1198245" lvl="0" indent="0" algn="just" rtl="0">
              <a:spcBef>
                <a:spcPts val="590"/>
              </a:spcBef>
              <a:spcAft>
                <a:spcPts val="0"/>
              </a:spcAft>
              <a:buNone/>
            </a:pPr>
            <a:r>
              <a:rPr lang="en-GB" sz="1000" b="1">
                <a:solidFill>
                  <a:srgbClr val="1F3864"/>
                </a:solidFill>
                <a:latin typeface="Calibri"/>
                <a:ea typeface="Calibri"/>
                <a:cs typeface="Calibri"/>
                <a:sym typeface="Calibri"/>
              </a:rPr>
              <a:t>About Us: </a:t>
            </a:r>
            <a:r>
              <a:rPr lang="en-GB" sz="1000">
                <a:solidFill>
                  <a:schemeClr val="dk1"/>
                </a:solidFill>
                <a:latin typeface="Calibri"/>
                <a:ea typeface="Calibri"/>
                <a:cs typeface="Calibri"/>
                <a:sym typeface="Calibri"/>
              </a:rPr>
              <a:t>Research Analyst is registered with SEBI as Research Analyst with Registration No. INH000009807. The firm got its registration on June 13, 2022, and is engaged in research services.</a:t>
            </a:r>
            <a:endParaRPr sz="1000">
              <a:solidFill>
                <a:schemeClr val="dk1"/>
              </a:solidFill>
              <a:latin typeface="Calibri"/>
              <a:ea typeface="Calibri"/>
              <a:cs typeface="Calibri"/>
              <a:sym typeface="Calibri"/>
            </a:endParaRPr>
          </a:p>
          <a:p>
            <a:pPr marL="200660" marR="306070" lvl="0" indent="0" algn="just" rtl="0">
              <a:spcBef>
                <a:spcPts val="0"/>
              </a:spcBef>
              <a:spcAft>
                <a:spcPts val="0"/>
              </a:spcAft>
              <a:buNone/>
            </a:pPr>
            <a:r>
              <a:rPr lang="en-GB" sz="1000" b="1">
                <a:solidFill>
                  <a:srgbClr val="1F3864"/>
                </a:solidFill>
                <a:latin typeface="Calibri"/>
                <a:ea typeface="Calibri"/>
                <a:cs typeface="Calibri"/>
                <a:sym typeface="Calibri"/>
              </a:rPr>
              <a:t>Disciplinary history: </a:t>
            </a:r>
            <a:r>
              <a:rPr lang="en-GB" sz="1000">
                <a:solidFill>
                  <a:schemeClr val="dk1"/>
                </a:solidFill>
                <a:latin typeface="Calibri"/>
                <a:ea typeface="Calibri"/>
                <a:cs typeface="Calibri"/>
                <a:sym typeface="Calibri"/>
              </a:rPr>
              <a:t>No penalties / directions have been issued by SEBI under the SEBI Act or Regulations made there under. There are no pending material litigations or legal proceedings, findings of inspections or investigations for which action has been taken or initiated by any regulatory authority.</a:t>
            </a:r>
            <a:endParaRPr sz="1000">
              <a:solidFill>
                <a:schemeClr val="dk1"/>
              </a:solidFill>
              <a:latin typeface="Calibri"/>
              <a:ea typeface="Calibri"/>
              <a:cs typeface="Calibri"/>
              <a:sym typeface="Calibri"/>
            </a:endParaRPr>
          </a:p>
          <a:p>
            <a:pPr marL="200660" lvl="0" indent="0" algn="just" rtl="0">
              <a:spcBef>
                <a:spcPts val="5"/>
              </a:spcBef>
              <a:spcAft>
                <a:spcPts val="0"/>
              </a:spcAft>
              <a:buNone/>
            </a:pPr>
            <a:r>
              <a:rPr lang="en-GB" sz="1000" b="1">
                <a:solidFill>
                  <a:srgbClr val="1F3864"/>
                </a:solidFill>
                <a:latin typeface="Calibri"/>
                <a:ea typeface="Calibri"/>
                <a:cs typeface="Calibri"/>
                <a:sym typeface="Calibri"/>
              </a:rPr>
              <a:t>Details of its associates: </a:t>
            </a:r>
            <a:r>
              <a:rPr lang="en-GB" sz="1000">
                <a:solidFill>
                  <a:schemeClr val="dk1"/>
                </a:solidFill>
                <a:latin typeface="Calibri"/>
                <a:ea typeface="Calibri"/>
                <a:cs typeface="Calibri"/>
                <a:sym typeface="Calibri"/>
              </a:rPr>
              <a:t>No associates</a:t>
            </a:r>
            <a:endParaRPr sz="1000">
              <a:solidFill>
                <a:schemeClr val="dk1"/>
              </a:solidFill>
              <a:latin typeface="Calibri"/>
              <a:ea typeface="Calibri"/>
              <a:cs typeface="Calibri"/>
              <a:sym typeface="Calibri"/>
            </a:endParaRPr>
          </a:p>
          <a:p>
            <a:pPr marL="200660" lvl="0" indent="0" algn="just" rtl="0">
              <a:spcBef>
                <a:spcPts val="0"/>
              </a:spcBef>
              <a:spcAft>
                <a:spcPts val="0"/>
              </a:spcAft>
              <a:buNone/>
            </a:pPr>
            <a:r>
              <a:rPr lang="en-GB" sz="1000" b="1">
                <a:solidFill>
                  <a:srgbClr val="1F3864"/>
                </a:solidFill>
                <a:latin typeface="Calibri"/>
                <a:ea typeface="Calibri"/>
                <a:cs typeface="Calibri"/>
                <a:sym typeface="Calibri"/>
              </a:rPr>
              <a:t>Disclosures with respect to Research and Recommendations Services</a:t>
            </a:r>
            <a:endParaRPr sz="1000" b="1">
              <a:solidFill>
                <a:schemeClr val="dk1"/>
              </a:solidFill>
              <a:latin typeface="Calibri"/>
              <a:ea typeface="Calibri"/>
              <a:cs typeface="Calibri"/>
              <a:sym typeface="Calibri"/>
            </a:endParaRPr>
          </a:p>
          <a:p>
            <a:pPr marL="200660" marR="343535" lvl="0" indent="0" algn="just" rtl="0">
              <a:spcBef>
                <a:spcPts val="5"/>
              </a:spcBef>
              <a:spcAft>
                <a:spcPts val="0"/>
              </a:spcAft>
              <a:buNone/>
            </a:pPr>
            <a:r>
              <a:rPr lang="en-GB" sz="1000">
                <a:solidFill>
                  <a:schemeClr val="dk1"/>
                </a:solidFill>
                <a:latin typeface="Calibri"/>
                <a:ea typeface="Calibri"/>
                <a:cs typeface="Calibri"/>
                <a:sym typeface="Calibri"/>
              </a:rPr>
              <a:t>·Research Analyst may have financial interest or actual / beneficial ownership in the securities recommended in its personal portfolio. Details of the same may be referred through the disclosures made at the time of recommendation.</a:t>
            </a:r>
            <a:endParaRPr sz="1000">
              <a:solidFill>
                <a:schemeClr val="dk1"/>
              </a:solidFill>
              <a:latin typeface="Calibri"/>
              <a:ea typeface="Calibri"/>
              <a:cs typeface="Calibri"/>
              <a:sym typeface="Calibri"/>
            </a:endParaRPr>
          </a:p>
          <a:p>
            <a:pPr marL="200660" marR="305435" lvl="0" indent="0" algn="just" rtl="0">
              <a:lnSpc>
                <a:spcPct val="98750"/>
              </a:lnSpc>
              <a:spcBef>
                <a:spcPts val="10"/>
              </a:spcBef>
              <a:spcAft>
                <a:spcPts val="0"/>
              </a:spcAft>
              <a:buNone/>
            </a:pPr>
            <a:r>
              <a:rPr lang="en-GB" sz="1000">
                <a:solidFill>
                  <a:schemeClr val="dk1"/>
                </a:solidFill>
                <a:latin typeface="Calibri"/>
                <a:ea typeface="Calibri"/>
                <a:cs typeface="Calibri"/>
                <a:sym typeface="Calibri"/>
              </a:rPr>
              <a:t>·There are no actual or potential conflicts of interest arising from any connection to or association with any issuer of products/ securities, including any material information or facts that might compromise its objectivity independence in the carrying on of Research Analyst services. Such conflict of interest shall be disclosed to the client as and when they arise.</a:t>
            </a:r>
            <a:endParaRPr sz="1000">
              <a:solidFill>
                <a:schemeClr val="dk1"/>
              </a:solidFill>
              <a:latin typeface="Calibri"/>
              <a:ea typeface="Calibri"/>
              <a:cs typeface="Calibri"/>
              <a:sym typeface="Calibri"/>
            </a:endParaRPr>
          </a:p>
          <a:p>
            <a:pPr marL="200660" lvl="0" indent="0" algn="just" rtl="0">
              <a:spcBef>
                <a:spcPts val="10"/>
              </a:spcBef>
              <a:spcAft>
                <a:spcPts val="0"/>
              </a:spcAft>
              <a:buNone/>
            </a:pPr>
            <a:r>
              <a:rPr lang="en-GB" sz="1000">
                <a:solidFill>
                  <a:schemeClr val="dk1"/>
                </a:solidFill>
                <a:latin typeface="Calibri"/>
                <a:ea typeface="Calibri"/>
                <a:cs typeface="Calibri"/>
                <a:sym typeface="Calibri"/>
              </a:rPr>
              <a:t>·Research Analyst or its employee or its associates have not received any compensation from the company in past 12 months.</a:t>
            </a:r>
            <a:endParaRPr sz="1000">
              <a:solidFill>
                <a:schemeClr val="dk1"/>
              </a:solidFill>
              <a:latin typeface="Calibri"/>
              <a:ea typeface="Calibri"/>
              <a:cs typeface="Calibri"/>
              <a:sym typeface="Calibri"/>
            </a:endParaRPr>
          </a:p>
          <a:p>
            <a:pPr marL="200660" marR="241300" lvl="0" indent="0" algn="just" rtl="0">
              <a:spcBef>
                <a:spcPts val="0"/>
              </a:spcBef>
              <a:spcAft>
                <a:spcPts val="0"/>
              </a:spcAft>
              <a:buNone/>
            </a:pPr>
            <a:r>
              <a:rPr lang="en-GB" sz="1000">
                <a:solidFill>
                  <a:schemeClr val="dk1"/>
                </a:solidFill>
                <a:latin typeface="Calibri"/>
                <a:ea typeface="Calibri"/>
                <a:cs typeface="Calibri"/>
                <a:sym typeface="Calibri"/>
              </a:rPr>
              <a:t>·Research Analyst or its employee or its associates have not managed or co-managed the public offering of Subject company in past 12 months.</a:t>
            </a:r>
            <a:endParaRPr sz="1000">
              <a:solidFill>
                <a:schemeClr val="dk1"/>
              </a:solidFill>
              <a:latin typeface="Calibri"/>
              <a:ea typeface="Calibri"/>
              <a:cs typeface="Calibri"/>
              <a:sym typeface="Calibri"/>
            </a:endParaRPr>
          </a:p>
          <a:p>
            <a:pPr marL="200660" lvl="0" indent="0" algn="just" rtl="0">
              <a:spcBef>
                <a:spcPts val="5"/>
              </a:spcBef>
              <a:spcAft>
                <a:spcPts val="0"/>
              </a:spcAft>
              <a:buNone/>
            </a:pPr>
            <a:r>
              <a:rPr lang="en-GB" sz="1000">
                <a:solidFill>
                  <a:schemeClr val="dk1"/>
                </a:solidFill>
                <a:latin typeface="Calibri"/>
                <a:ea typeface="Calibri"/>
                <a:cs typeface="Calibri"/>
                <a:sym typeface="Calibri"/>
              </a:rPr>
              <a:t>·Research Analyst or its employee or its associates have not received any compensation for investment banking or merchant banking of brokerage services from the subject company in past 12 months.</a:t>
            </a:r>
            <a:endParaRPr sz="100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a:solidFill>
                  <a:schemeClr val="dk1"/>
                </a:solidFill>
                <a:latin typeface="Calibri"/>
                <a:ea typeface="Calibri"/>
                <a:cs typeface="Calibri"/>
                <a:sym typeface="Calibri"/>
              </a:rPr>
              <a:t>·Research Analyst or its employee or its associates have not received any compensation for products or services other than above from the subject company in past 12 months.</a:t>
            </a:r>
            <a:endParaRPr sz="100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a:solidFill>
                  <a:schemeClr val="dk1"/>
                </a:solidFill>
                <a:latin typeface="Calibri"/>
                <a:ea typeface="Calibri"/>
                <a:cs typeface="Calibri"/>
                <a:sym typeface="Calibri"/>
              </a:rPr>
              <a:t>·Research Analyst or its employee or its associates have not received any compensation or other benefits from the Subject Company or 3rd party in connection with the research report/ recommendation.</a:t>
            </a:r>
            <a:endParaRPr sz="100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a:solidFill>
                  <a:schemeClr val="dk1"/>
                </a:solidFill>
                <a:latin typeface="Calibri"/>
                <a:ea typeface="Calibri"/>
                <a:cs typeface="Calibri"/>
                <a:sym typeface="Calibri"/>
              </a:rPr>
              <a:t>·The subject company was not a client of Research Analyst or its employee or its associates during twelve months preceding the date of distribution of the research report and recommendation services provided.</a:t>
            </a:r>
            <a:endParaRPr sz="100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a:solidFill>
                  <a:schemeClr val="dk1"/>
                </a:solidFill>
                <a:latin typeface="Calibri"/>
                <a:ea typeface="Calibri"/>
                <a:cs typeface="Calibri"/>
                <a:sym typeface="Calibri"/>
              </a:rPr>
              <a:t>·Research Analysts or its employee or its associates has not served as an officer, director, or employee of the subject company</a:t>
            </a:r>
            <a:endParaRPr sz="100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a:solidFill>
                  <a:schemeClr val="dk1"/>
                </a:solidFill>
                <a:latin typeface="Calibri"/>
                <a:ea typeface="Calibri"/>
                <a:cs typeface="Calibri"/>
                <a:sym typeface="Calibri"/>
              </a:rPr>
              <a:t>·Registration granted by SEBI, membership of BASL and certification from NISM in no way guarantee performance of the Intermediary or provide any assurance of returns to investors.</a:t>
            </a:r>
            <a:endParaRPr sz="1000">
              <a:solidFill>
                <a:schemeClr val="dk1"/>
              </a:solidFill>
              <a:latin typeface="Calibri"/>
              <a:ea typeface="Calibri"/>
              <a:cs typeface="Calibri"/>
              <a:sym typeface="Calibri"/>
            </a:endParaRPr>
          </a:p>
          <a:p>
            <a:pPr marL="200660" lvl="0" indent="0" algn="just" rtl="0">
              <a:spcBef>
                <a:spcPts val="0"/>
              </a:spcBef>
              <a:spcAft>
                <a:spcPts val="0"/>
              </a:spcAft>
              <a:buNone/>
            </a:pPr>
            <a:r>
              <a:rPr lang="en-GB" sz="1000">
                <a:solidFill>
                  <a:schemeClr val="dk1"/>
                </a:solidFill>
                <a:latin typeface="Calibri"/>
                <a:ea typeface="Calibri"/>
                <a:cs typeface="Calibri"/>
                <a:sym typeface="Calibri"/>
              </a:rPr>
              <a:t>·Investment in securities market are subject to market risks. Read all the related documents carefully before investing</a:t>
            </a:r>
            <a:endParaRPr sz="1000">
              <a:solidFill>
                <a:schemeClr val="dk1"/>
              </a:solidFill>
              <a:latin typeface="Calibri"/>
              <a:ea typeface="Calibri"/>
              <a:cs typeface="Calibri"/>
              <a:sym typeface="Calibri"/>
            </a:endParaRPr>
          </a:p>
          <a:p>
            <a:pPr marL="200660" lvl="0" indent="0" algn="just" rtl="0">
              <a:spcBef>
                <a:spcPts val="0"/>
              </a:spcBef>
              <a:spcAft>
                <a:spcPts val="0"/>
              </a:spcAft>
              <a:buNone/>
            </a:pPr>
            <a:endParaRPr sz="1000">
              <a:solidFill>
                <a:schemeClr val="dk1"/>
              </a:solidFill>
              <a:latin typeface="Calibri"/>
              <a:ea typeface="Calibri"/>
              <a:cs typeface="Calibri"/>
              <a:sym typeface="Calibri"/>
            </a:endParaRPr>
          </a:p>
          <a:p>
            <a:pPr marL="200660" lvl="0" indent="0" algn="just" rtl="0">
              <a:spcBef>
                <a:spcPts val="0"/>
              </a:spcBef>
              <a:spcAft>
                <a:spcPts val="0"/>
              </a:spcAft>
              <a:buNone/>
            </a:pPr>
            <a:endParaRPr sz="1000">
              <a:solidFill>
                <a:schemeClr val="dk1"/>
              </a:solidFill>
              <a:latin typeface="Calibri"/>
              <a:ea typeface="Calibri"/>
              <a:cs typeface="Calibri"/>
              <a:sym typeface="Calibri"/>
            </a:endParaRPr>
          </a:p>
        </p:txBody>
      </p:sp>
      <p:pic>
        <p:nvPicPr>
          <p:cNvPr id="125" name="Google Shape;125;p21" descr="A picture containing text, whiteboard&#10;&#10;Description automatically generated"/>
          <p:cNvPicPr preferRelativeResize="0"/>
          <p:nvPr/>
        </p:nvPicPr>
        <p:blipFill>
          <a:blip r:embed="rId3">
            <a:alphaModFix/>
          </a:blip>
          <a:stretch>
            <a:fillRect/>
          </a:stretch>
        </p:blipFill>
        <p:spPr>
          <a:xfrm>
            <a:off x="7927191" y="4243438"/>
            <a:ext cx="855125" cy="491875"/>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734</TotalTime>
  <Words>920</Words>
  <Application>Microsoft Office PowerPoint</Application>
  <PresentationFormat>On-screen Show (16:9)</PresentationFormat>
  <Paragraphs>275</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SF Mono</vt:lpstr>
      <vt:lpstr>Simple Light</vt:lpstr>
      <vt:lpstr>{{company_name}}</vt:lpstr>
      <vt:lpstr>Leader in compliant recycling with multi-metal growth optionality</vt:lpstr>
      <vt:lpstr>Leader in compliant recycling with multi-metal growth optionality</vt:lpstr>
      <vt:lpstr>Company Background</vt:lpstr>
      <vt:lpstr>Business Model Explanation</vt:lpstr>
      <vt:lpstr>Management Analysis</vt:lpstr>
      <vt:lpstr>Industry Overview</vt:lpstr>
      <vt:lpstr>Key Industry Tailwinds</vt:lpstr>
      <vt:lpstr>Demand drivers</vt:lpstr>
      <vt:lpstr>Industry Risks</vt:lpstr>
      <vt:lpstr>Financials and Ratio Analysis</vt:lpstr>
      <vt:lpstr>Summary in charts!</vt:lpstr>
      <vt:lpstr>Disclosure and Disclaimers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Kishankumar Yadav</dc:creator>
  <cp:lastModifiedBy>Kishankumar Yadav</cp:lastModifiedBy>
  <cp:revision>28</cp:revision>
  <dcterms:modified xsi:type="dcterms:W3CDTF">2026-02-16T10:22:26Z</dcterms:modified>
</cp:coreProperties>
</file>